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17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notesSlides/notesSlide18.xml" ContentType="application/vnd.openxmlformats-officedocument.presentationml.notesSlid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notesSlides/notesSlide19.xml" ContentType="application/vnd.openxmlformats-officedocument.presentationml.notesSlid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8" r:id="rId1"/>
  </p:sldMasterIdLst>
  <p:notesMasterIdLst>
    <p:notesMasterId r:id="rId4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99" r:id="rId13"/>
    <p:sldId id="268" r:id="rId14"/>
    <p:sldId id="269" r:id="rId15"/>
    <p:sldId id="270" r:id="rId16"/>
    <p:sldId id="271" r:id="rId17"/>
    <p:sldId id="295" r:id="rId18"/>
    <p:sldId id="273" r:id="rId19"/>
    <p:sldId id="293" r:id="rId20"/>
    <p:sldId id="275" r:id="rId21"/>
    <p:sldId id="276" r:id="rId22"/>
    <p:sldId id="279" r:id="rId23"/>
    <p:sldId id="277" r:id="rId24"/>
    <p:sldId id="297" r:id="rId25"/>
    <p:sldId id="280" r:id="rId26"/>
    <p:sldId id="281" r:id="rId27"/>
    <p:sldId id="282" r:id="rId28"/>
    <p:sldId id="283" r:id="rId29"/>
    <p:sldId id="294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6" r:id="rId39"/>
    <p:sldId id="292" r:id="rId40"/>
    <p:sldId id="267" r:id="rId41"/>
    <p:sldId id="278" r:id="rId42"/>
    <p:sldId id="298" r:id="rId43"/>
  </p:sldIdLst>
  <p:sldSz cx="9144000" cy="5143500" type="screen16x9"/>
  <p:notesSz cx="6858000" cy="9144000"/>
  <p:embeddedFontLst>
    <p:embeddedFont>
      <p:font typeface="Arimo" panose="020B0604020202020204" charset="0"/>
      <p:regular r:id="rId45"/>
      <p:bold r:id="rId46"/>
      <p:italic r:id="rId47"/>
      <p:boldItalic r:id="rId48"/>
    </p:embeddedFont>
    <p:embeddedFont>
      <p:font typeface="Calibri" panose="020F0502020204030204" pitchFamily="34" charset="0"/>
      <p:regular r:id="rId49"/>
      <p:bold r:id="rId50"/>
      <p:italic r:id="rId51"/>
      <p:boldItalic r:id="rId52"/>
    </p:embeddedFont>
    <p:embeddedFont>
      <p:font typeface="Cambria Math" panose="02040503050406030204" pitchFamily="18" charset="0"/>
      <p:regular r:id="rId53"/>
    </p:embeddedFont>
    <p:embeddedFont>
      <p:font typeface="Segoe UI Symbol" panose="020B0502040204020203" pitchFamily="34" charset="0"/>
      <p:regular r:id="rId5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55" roundtripDataSignature="AMtx7mg62Xh1VkR1Zct6W75C3u2NvQBJZ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F9CCCC"/>
    <a:srgbClr val="F5E7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525947D-79E6-44B2-B12A-532D9E6C3FB6}">
  <a:tblStyle styleId="{2525947D-79E6-44B2-B12A-532D9E6C3FB6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5E7E7"/>
          </a:solidFill>
        </a:fill>
      </a:tcStyle>
    </a:wholeTbl>
    <a:band1H>
      <a:tcTxStyle/>
      <a:tcStyle>
        <a:tcBdr/>
        <a:fill>
          <a:solidFill>
            <a:srgbClr val="EBCBCB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EBCBCB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3431" autoAdjust="0"/>
  </p:normalViewPr>
  <p:slideViewPr>
    <p:cSldViewPr snapToGrid="0" showGuides="1">
      <p:cViewPr varScale="1">
        <p:scale>
          <a:sx n="121" d="100"/>
          <a:sy n="121" d="100"/>
        </p:scale>
        <p:origin x="123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font" Target="fonts/font3.fntdata"/><Relationship Id="rId50" Type="http://schemas.openxmlformats.org/officeDocument/2006/relationships/font" Target="fonts/font6.fntdata"/><Relationship Id="rId55" Type="http://customschemas.google.com/relationships/presentationmetadata" Target="meta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font" Target="fonts/font1.fntdata"/><Relationship Id="rId53" Type="http://schemas.openxmlformats.org/officeDocument/2006/relationships/font" Target="fonts/font9.fntdata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font" Target="fonts/font4.fntdata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font" Target="fonts/font7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2.fntdata"/><Relationship Id="rId59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5.fntdata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52" Type="http://schemas.openxmlformats.org/officeDocument/2006/relationships/font" Target="fonts/font8.fntdata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Junaid%20MP\Pictures\thesis\experiment%20on%20charts\result_final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Junaid%20MP\Pictures\thesis\experiment%20on%20charts\result_final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Junaid%20MP\Pictures\thesis\experiment%20on%20charts\result_final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Junaid%20MP\Pictures\thesis\experiment%20on%20charts\result_final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Junaid%20MP\Pictures\thesis\experiment%20on%20charts\result_final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Junaid%20MP\Pictures\thesis\experiment%20on%20charts\result_final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Junaid%20MP\Pictures\thesis\experiment%20on%20charts\result_final.xlsx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Junaid%20MP\Pictures\thesis\experiment%20on%20charts\result_final.xlsx" TargetMode="External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strRef>
          <c:f>Sheet2!$C$13</c:f>
          <c:strCache>
            <c:ptCount val="1"/>
            <c:pt idx="0">
              <c:v>W₃₂A₃₂I₃₂0₃₂ → W₁₆A₁₆I₃₂0₃₂</c:v>
            </c:pt>
          </c:strCache>
        </c:strRef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NL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Sheet2!$C$16</c:f>
              <c:strCache>
                <c:ptCount val="1"/>
                <c:pt idx="0">
                  <c:v>Change in accuracy (%)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6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NL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Sheet2!$A$17:$B$22</c:f>
              <c:multiLvlStrCache>
                <c:ptCount val="6"/>
                <c:lvl>
                  <c:pt idx="0">
                    <c:v>ResNet50</c:v>
                  </c:pt>
                  <c:pt idx="1">
                    <c:v>MobileNet</c:v>
                  </c:pt>
                  <c:pt idx="2">
                    <c:v>InceptionV3</c:v>
                  </c:pt>
                  <c:pt idx="3">
                    <c:v>ResNet50</c:v>
                  </c:pt>
                  <c:pt idx="4">
                    <c:v>MobileNet</c:v>
                  </c:pt>
                  <c:pt idx="5">
                    <c:v>InceptionV3</c:v>
                  </c:pt>
                </c:lvl>
                <c:lvl>
                  <c:pt idx="0">
                    <c:v>Oxford</c:v>
                  </c:pt>
                  <c:pt idx="3">
                    <c:v>cifar10</c:v>
                  </c:pt>
                </c:lvl>
              </c:multiLvlStrCache>
            </c:multiLvlStrRef>
          </c:cat>
          <c:val>
            <c:numRef>
              <c:f>Sheet2!$C$17:$C$22</c:f>
              <c:numCache>
                <c:formatCode>0.00</c:formatCode>
                <c:ptCount val="6"/>
                <c:pt idx="0">
                  <c:v>0</c:v>
                </c:pt>
                <c:pt idx="1">
                  <c:v>8.1621548088698495E-2</c:v>
                </c:pt>
                <c:pt idx="2">
                  <c:v>4.9850448654039779E-2</c:v>
                </c:pt>
                <c:pt idx="3">
                  <c:v>1.1116051578469215E-2</c:v>
                </c:pt>
                <c:pt idx="4">
                  <c:v>3.2041012495996085E-2</c:v>
                </c:pt>
                <c:pt idx="5">
                  <c:v>1.0774701002037394E-2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25D-429F-8959-BCE369E47C64}"/>
            </c:ext>
          </c:extLst>
        </c:ser>
        <c:ser>
          <c:idx val="1"/>
          <c:order val="1"/>
          <c:tx>
            <c:strRef>
              <c:f>Sheet2!$D$16</c:f>
              <c:strCache>
                <c:ptCount val="1"/>
                <c:pt idx="0">
                  <c:v>Model  compression (%)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6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NL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Sheet2!$A$17:$B$22</c:f>
              <c:multiLvlStrCache>
                <c:ptCount val="6"/>
                <c:lvl>
                  <c:pt idx="0">
                    <c:v>ResNet50</c:v>
                  </c:pt>
                  <c:pt idx="1">
                    <c:v>MobileNet</c:v>
                  </c:pt>
                  <c:pt idx="2">
                    <c:v>InceptionV3</c:v>
                  </c:pt>
                  <c:pt idx="3">
                    <c:v>ResNet50</c:v>
                  </c:pt>
                  <c:pt idx="4">
                    <c:v>MobileNet</c:v>
                  </c:pt>
                  <c:pt idx="5">
                    <c:v>InceptionV3</c:v>
                  </c:pt>
                </c:lvl>
                <c:lvl>
                  <c:pt idx="0">
                    <c:v>Oxford</c:v>
                  </c:pt>
                  <c:pt idx="3">
                    <c:v>cifar10</c:v>
                  </c:pt>
                </c:lvl>
              </c:multiLvlStrCache>
            </c:multiLvlStrRef>
          </c:cat>
          <c:val>
            <c:numRef>
              <c:f>Sheet2!$D$17:$D$22</c:f>
              <c:numCache>
                <c:formatCode>0.00</c:formatCode>
                <c:ptCount val="6"/>
                <c:pt idx="0">
                  <c:v>74.943566591422112</c:v>
                </c:pt>
                <c:pt idx="1">
                  <c:v>74.842767295597483</c:v>
                </c:pt>
                <c:pt idx="2">
                  <c:v>75.210084033613441</c:v>
                </c:pt>
                <c:pt idx="3">
                  <c:v>74.943566591422112</c:v>
                </c:pt>
                <c:pt idx="4">
                  <c:v>74.842767295597483</c:v>
                </c:pt>
                <c:pt idx="5">
                  <c:v>75.210084033613441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25D-429F-8959-BCE369E47C64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482143568"/>
        <c:axId val="482142320"/>
      </c:barChart>
      <c:catAx>
        <c:axId val="48214356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NL"/>
          </a:p>
        </c:txPr>
        <c:crossAx val="482142320"/>
        <c:crosses val="autoZero"/>
        <c:auto val="1"/>
        <c:lblAlgn val="ctr"/>
        <c:lblOffset val="100"/>
        <c:noMultiLvlLbl val="0"/>
      </c:catAx>
      <c:valAx>
        <c:axId val="482142320"/>
        <c:scaling>
          <c:orientation val="minMax"/>
          <c:max val="100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200" b="1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200" b="1"/>
                  <a:t>Percentage(%)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200" b="1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NL"/>
            </a:p>
          </c:txPr>
        </c:title>
        <c:numFmt formatCode="0.00" sourceLinked="1"/>
        <c:majorTickMark val="out"/>
        <c:minorTickMark val="none"/>
        <c:tickLblPos val="nextTo"/>
        <c:spPr>
          <a:noFill/>
          <a:ln>
            <a:solidFill>
              <a:schemeClr val="accent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NL"/>
          </a:p>
        </c:txPr>
        <c:crossAx val="482143568"/>
        <c:crosses val="autoZero"/>
        <c:crossBetween val="between"/>
        <c:majorUnit val="10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NL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NL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'exp3 (3)'!$C$15</c:f>
              <c:strCache>
                <c:ptCount val="1"/>
                <c:pt idx="0">
                  <c:v>W₈A₈I₃₂0₃₂ 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5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NL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'exp3 (3)'!$A$16:$B$21</c:f>
              <c:multiLvlStrCache>
                <c:ptCount val="6"/>
                <c:lvl>
                  <c:pt idx="0">
                    <c:v>ResNet50</c:v>
                  </c:pt>
                  <c:pt idx="1">
                    <c:v>MobileNet</c:v>
                  </c:pt>
                  <c:pt idx="2">
                    <c:v>InceptionV3</c:v>
                  </c:pt>
                  <c:pt idx="3">
                    <c:v>ResNet50</c:v>
                  </c:pt>
                  <c:pt idx="4">
                    <c:v>MobileNet</c:v>
                  </c:pt>
                  <c:pt idx="5">
                    <c:v>InceptionV3</c:v>
                  </c:pt>
                </c:lvl>
                <c:lvl>
                  <c:pt idx="0">
                    <c:v>Oxford</c:v>
                  </c:pt>
                  <c:pt idx="3">
                    <c:v>cifar10</c:v>
                  </c:pt>
                </c:lvl>
              </c:multiLvlStrCache>
            </c:multiLvlStrRef>
          </c:cat>
          <c:val>
            <c:numRef>
              <c:f>'exp3 (3)'!$C$16:$C$21</c:f>
              <c:numCache>
                <c:formatCode>0.00</c:formatCode>
                <c:ptCount val="6"/>
                <c:pt idx="0">
                  <c:v>0.1652551125800566</c:v>
                </c:pt>
                <c:pt idx="1">
                  <c:v>0.14880952380952303</c:v>
                </c:pt>
                <c:pt idx="2">
                  <c:v>0.26385224274406199</c:v>
                </c:pt>
                <c:pt idx="3">
                  <c:v>0.23150700033073307</c:v>
                </c:pt>
                <c:pt idx="4">
                  <c:v>5.3344713538885265E-2</c:v>
                </c:pt>
                <c:pt idx="5">
                  <c:v>1.1234692731159551E-2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0AB-4156-8E20-52C65E3A7D39}"/>
            </c:ext>
          </c:extLst>
        </c:ser>
        <c:ser>
          <c:idx val="1"/>
          <c:order val="1"/>
          <c:tx>
            <c:strRef>
              <c:f>'exp3 (3)'!$D$15</c:f>
              <c:strCache>
                <c:ptCount val="1"/>
                <c:pt idx="0">
                  <c:v>W₈A₈I₃₂0₈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5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NL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'exp3 (3)'!$A$16:$B$21</c:f>
              <c:multiLvlStrCache>
                <c:ptCount val="6"/>
                <c:lvl>
                  <c:pt idx="0">
                    <c:v>ResNet50</c:v>
                  </c:pt>
                  <c:pt idx="1">
                    <c:v>MobileNet</c:v>
                  </c:pt>
                  <c:pt idx="2">
                    <c:v>InceptionV3</c:v>
                  </c:pt>
                  <c:pt idx="3">
                    <c:v>ResNet50</c:v>
                  </c:pt>
                  <c:pt idx="4">
                    <c:v>MobileNet</c:v>
                  </c:pt>
                  <c:pt idx="5">
                    <c:v>InceptionV3</c:v>
                  </c:pt>
                </c:lvl>
                <c:lvl>
                  <c:pt idx="0">
                    <c:v>Oxford</c:v>
                  </c:pt>
                  <c:pt idx="3">
                    <c:v>cifar10</c:v>
                  </c:pt>
                </c:lvl>
              </c:multiLvlStrCache>
            </c:multiLvlStrRef>
          </c:cat>
          <c:val>
            <c:numRef>
              <c:f>'exp3 (3)'!$D$16:$D$21</c:f>
              <c:numCache>
                <c:formatCode>0.00</c:formatCode>
                <c:ptCount val="6"/>
                <c:pt idx="0">
                  <c:v>0.39248089237760325</c:v>
                </c:pt>
                <c:pt idx="1">
                  <c:v>0</c:v>
                </c:pt>
                <c:pt idx="2">
                  <c:v>0.33581194531062741</c:v>
                </c:pt>
                <c:pt idx="3">
                  <c:v>2.204828574577888E-2</c:v>
                </c:pt>
                <c:pt idx="4">
                  <c:v>0.16003414061665577</c:v>
                </c:pt>
                <c:pt idx="5">
                  <c:v>5.6173463655765817E-2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0AB-4156-8E20-52C65E3A7D39}"/>
            </c:ext>
          </c:extLst>
        </c:ser>
        <c:ser>
          <c:idx val="2"/>
          <c:order val="2"/>
          <c:tx>
            <c:strRef>
              <c:f>'exp3 (3)'!$E$15</c:f>
              <c:strCache>
                <c:ptCount val="1"/>
                <c:pt idx="0">
                  <c:v>W₈A₈I₈0₃₂ 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dLbl>
              <c:idx val="2"/>
              <c:layout>
                <c:manualLayout>
                  <c:x val="-2.2733432830700086E-3"/>
                  <c:y val="3.7556458897922314E-3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F0AB-4156-8E20-52C65E3A7D39}"/>
                </c:ext>
              </c:extLst>
            </c:dLbl>
            <c:numFmt formatCode="#,##0.0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5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NL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'exp3 (3)'!$A$16:$B$21</c:f>
              <c:multiLvlStrCache>
                <c:ptCount val="6"/>
                <c:lvl>
                  <c:pt idx="0">
                    <c:v>ResNet50</c:v>
                  </c:pt>
                  <c:pt idx="1">
                    <c:v>MobileNet</c:v>
                  </c:pt>
                  <c:pt idx="2">
                    <c:v>InceptionV3</c:v>
                  </c:pt>
                  <c:pt idx="3">
                    <c:v>ResNet50</c:v>
                  </c:pt>
                  <c:pt idx="4">
                    <c:v>MobileNet</c:v>
                  </c:pt>
                  <c:pt idx="5">
                    <c:v>InceptionV3</c:v>
                  </c:pt>
                </c:lvl>
                <c:lvl>
                  <c:pt idx="0">
                    <c:v>Oxford</c:v>
                  </c:pt>
                  <c:pt idx="3">
                    <c:v>cifar10</c:v>
                  </c:pt>
                </c:lvl>
              </c:multiLvlStrCache>
            </c:multiLvlStrRef>
          </c:cat>
          <c:val>
            <c:numRef>
              <c:f>'exp3 (3)'!$E$16:$E$21</c:f>
              <c:numCache>
                <c:formatCode>0.00</c:formatCode>
                <c:ptCount val="6"/>
                <c:pt idx="0">
                  <c:v>95.042346622598643</c:v>
                </c:pt>
                <c:pt idx="1">
                  <c:v>96.198593073593074</c:v>
                </c:pt>
                <c:pt idx="2">
                  <c:v>93.71551930918686</c:v>
                </c:pt>
                <c:pt idx="3">
                  <c:v>88.843567412633661</c:v>
                </c:pt>
                <c:pt idx="4">
                  <c:v>89.33105729222234</c:v>
                </c:pt>
                <c:pt idx="5">
                  <c:v>88.7653072688462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F0AB-4156-8E20-52C65E3A7D39}"/>
            </c:ext>
          </c:extLst>
        </c:ser>
        <c:ser>
          <c:idx val="3"/>
          <c:order val="3"/>
          <c:tx>
            <c:strRef>
              <c:f>'exp3 (3)'!$F$15</c:f>
              <c:strCache>
                <c:ptCount val="1"/>
                <c:pt idx="0">
                  <c:v>W₈A₈I₈0₈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numFmt formatCode="#,##0.0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5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NL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'exp3 (3)'!$A$16:$B$21</c:f>
              <c:multiLvlStrCache>
                <c:ptCount val="6"/>
                <c:lvl>
                  <c:pt idx="0">
                    <c:v>ResNet50</c:v>
                  </c:pt>
                  <c:pt idx="1">
                    <c:v>MobileNet</c:v>
                  </c:pt>
                  <c:pt idx="2">
                    <c:v>InceptionV3</c:v>
                  </c:pt>
                  <c:pt idx="3">
                    <c:v>ResNet50</c:v>
                  </c:pt>
                  <c:pt idx="4">
                    <c:v>MobileNet</c:v>
                  </c:pt>
                  <c:pt idx="5">
                    <c:v>InceptionV3</c:v>
                  </c:pt>
                </c:lvl>
                <c:lvl>
                  <c:pt idx="0">
                    <c:v>Oxford</c:v>
                  </c:pt>
                  <c:pt idx="3">
                    <c:v>cifar10</c:v>
                  </c:pt>
                </c:lvl>
              </c:multiLvlStrCache>
            </c:multiLvlStrRef>
          </c:cat>
          <c:val>
            <c:numRef>
              <c:f>'exp3 (3)'!$F$16:$F$21</c:f>
              <c:numCache>
                <c:formatCode>0.00</c:formatCode>
                <c:ptCount val="6"/>
                <c:pt idx="0">
                  <c:v>95.050525881625077</c:v>
                </c:pt>
                <c:pt idx="1">
                  <c:v>96.2042415237066</c:v>
                </c:pt>
                <c:pt idx="2">
                  <c:v>93.732057416267949</c:v>
                </c:pt>
                <c:pt idx="3">
                  <c:v>88.869335679718432</c:v>
                </c:pt>
                <c:pt idx="4">
                  <c:v>89.336745574749415</c:v>
                </c:pt>
                <c:pt idx="5">
                  <c:v>88.764044943820224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F0AB-4156-8E20-52C65E3A7D3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5"/>
        <c:overlap val="-100"/>
        <c:axId val="960856800"/>
        <c:axId val="960859296"/>
      </c:barChart>
      <c:catAx>
        <c:axId val="96085680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b" anchorCtr="0"/>
          <a:lstStyle/>
          <a:p>
            <a:pPr>
              <a:defRPr sz="8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NL"/>
          </a:p>
        </c:txPr>
        <c:crossAx val="960859296"/>
        <c:crossesAt val="-1"/>
        <c:auto val="1"/>
        <c:lblAlgn val="ctr"/>
        <c:lblOffset val="100"/>
        <c:noMultiLvlLbl val="0"/>
      </c:catAx>
      <c:valAx>
        <c:axId val="960859296"/>
        <c:scaling>
          <c:orientation val="minMax"/>
          <c:max val="100"/>
          <c:min val="0"/>
        </c:scaling>
        <c:delete val="0"/>
        <c:axPos val="l"/>
        <c:title>
          <c:tx>
            <c:strRef>
              <c:f>'exp3 (3)'!$A$13</c:f>
              <c:strCache>
                <c:ptCount val="1"/>
                <c:pt idx="0">
                  <c:v>Change in accuracy (%)</c:v>
                </c:pt>
              </c:strCache>
            </c:strRef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1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NL"/>
            </a:p>
          </c:txPr>
        </c:title>
        <c:numFmt formatCode="0.00" sourceLinked="1"/>
        <c:majorTickMark val="out"/>
        <c:minorTickMark val="none"/>
        <c:tickLblPos val="nextTo"/>
        <c:spPr>
          <a:noFill/>
          <a:ln>
            <a:solidFill>
              <a:schemeClr val="accent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NL"/>
          </a:p>
        </c:txPr>
        <c:crossAx val="96085680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NL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NL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6623760683760683"/>
          <c:y val="6.5515873015873013E-2"/>
          <c:w val="0.80391196581196578"/>
          <c:h val="0.62821428571428573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'exp5'!$C$15</c:f>
              <c:strCache>
                <c:ptCount val="1"/>
                <c:pt idx="0">
                  <c:v>W₈A₈I₃₂0₃₂ 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6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NL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'exp5'!$A$16:$B$21</c:f>
              <c:multiLvlStrCache>
                <c:ptCount val="6"/>
                <c:lvl>
                  <c:pt idx="0">
                    <c:v>ResNet50</c:v>
                  </c:pt>
                  <c:pt idx="1">
                    <c:v>MobileNet</c:v>
                  </c:pt>
                  <c:pt idx="2">
                    <c:v>InceptionV3</c:v>
                  </c:pt>
                  <c:pt idx="3">
                    <c:v>ResNet50</c:v>
                  </c:pt>
                  <c:pt idx="4">
                    <c:v>MobileNet</c:v>
                  </c:pt>
                  <c:pt idx="5">
                    <c:v>InceptionV3</c:v>
                  </c:pt>
                </c:lvl>
                <c:lvl>
                  <c:pt idx="0">
                    <c:v>Oxford</c:v>
                  </c:pt>
                  <c:pt idx="3">
                    <c:v>cifar10</c:v>
                  </c:pt>
                </c:lvl>
              </c:multiLvlStrCache>
            </c:multiLvlStrRef>
          </c:cat>
          <c:val>
            <c:numRef>
              <c:f>'exp5'!$C$16:$C$21</c:f>
              <c:numCache>
                <c:formatCode>0.00</c:formatCode>
                <c:ptCount val="6"/>
                <c:pt idx="0">
                  <c:v>0</c:v>
                </c:pt>
                <c:pt idx="1">
                  <c:v>0</c:v>
                </c:pt>
                <c:pt idx="2">
                  <c:v>4.9850448654039779E-2</c:v>
                </c:pt>
                <c:pt idx="3">
                  <c:v>0</c:v>
                </c:pt>
                <c:pt idx="4">
                  <c:v>2.1360674997340845E-2</c:v>
                </c:pt>
                <c:pt idx="5">
                  <c:v>2.1549402004090099E-2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6F0-412D-8426-82D9A34E817A}"/>
            </c:ext>
          </c:extLst>
        </c:ser>
        <c:ser>
          <c:idx val="1"/>
          <c:order val="1"/>
          <c:tx>
            <c:strRef>
              <c:f>'exp5'!$D$15</c:f>
              <c:strCache>
                <c:ptCount val="1"/>
                <c:pt idx="0">
                  <c:v>W₈A₈I₃₂0₈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6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NL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'exp5'!$A$16:$B$21</c:f>
              <c:multiLvlStrCache>
                <c:ptCount val="6"/>
                <c:lvl>
                  <c:pt idx="0">
                    <c:v>ResNet50</c:v>
                  </c:pt>
                  <c:pt idx="1">
                    <c:v>MobileNet</c:v>
                  </c:pt>
                  <c:pt idx="2">
                    <c:v>InceptionV3</c:v>
                  </c:pt>
                  <c:pt idx="3">
                    <c:v>ResNet50</c:v>
                  </c:pt>
                  <c:pt idx="4">
                    <c:v>MobileNet</c:v>
                  </c:pt>
                  <c:pt idx="5">
                    <c:v>InceptionV3</c:v>
                  </c:pt>
                </c:lvl>
                <c:lvl>
                  <c:pt idx="0">
                    <c:v>Oxford</c:v>
                  </c:pt>
                  <c:pt idx="3">
                    <c:v>cifar10</c:v>
                  </c:pt>
                </c:lvl>
              </c:multiLvlStrCache>
            </c:multiLvlStrRef>
          </c:cat>
          <c:val>
            <c:numRef>
              <c:f>'exp5'!$D$16:$D$21</c:f>
              <c:numCache>
                <c:formatCode>0.00</c:formatCode>
                <c:ptCount val="6"/>
                <c:pt idx="0">
                  <c:v>14.973772055317122</c:v>
                </c:pt>
                <c:pt idx="1">
                  <c:v>0.70738675010204077</c:v>
                </c:pt>
                <c:pt idx="2">
                  <c:v>1.0468594217348</c:v>
                </c:pt>
                <c:pt idx="3">
                  <c:v>71.098265895953759</c:v>
                </c:pt>
                <c:pt idx="4">
                  <c:v>0.56605788742924401</c:v>
                </c:pt>
                <c:pt idx="5">
                  <c:v>68.322379053981251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6F0-412D-8426-82D9A34E817A}"/>
            </c:ext>
          </c:extLst>
        </c:ser>
        <c:ser>
          <c:idx val="2"/>
          <c:order val="2"/>
          <c:tx>
            <c:strRef>
              <c:f>'exp5'!$E$15</c:f>
              <c:strCache>
                <c:ptCount val="1"/>
                <c:pt idx="0">
                  <c:v>W₈A₈I₈0₃₂ 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-1.6282051282051332E-2"/>
                  <c:y val="0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D6F0-412D-8426-82D9A34E817A}"/>
                </c:ext>
              </c:extLst>
            </c:dLbl>
            <c:dLbl>
              <c:idx val="1"/>
              <c:layout>
                <c:manualLayout>
                  <c:x val="-8.1410256410256402E-3"/>
                  <c:y val="0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D6F0-412D-8426-82D9A34E817A}"/>
                </c:ext>
              </c:extLst>
            </c:dLbl>
            <c:dLbl>
              <c:idx val="2"/>
              <c:layout>
                <c:manualLayout>
                  <c:x val="-2.2733432830700086E-3"/>
                  <c:y val="3.7556458897922314E-3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D6F0-412D-8426-82D9A34E817A}"/>
                </c:ext>
              </c:extLst>
            </c:dLbl>
            <c:dLbl>
              <c:idx val="3"/>
              <c:layout>
                <c:manualLayout>
                  <c:x val="-8.1410256410256402E-3"/>
                  <c:y val="-5.0396825396825393E-3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D6F0-412D-8426-82D9A34E817A}"/>
                </c:ext>
              </c:extLst>
            </c:dLbl>
            <c:dLbl>
              <c:idx val="4"/>
              <c:layout>
                <c:manualLayout>
                  <c:x val="-8.1410256410257408E-3"/>
                  <c:y val="0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D6F0-412D-8426-82D9A34E817A}"/>
                </c:ext>
              </c:extLst>
            </c:dLbl>
            <c:numFmt formatCode="#,##0.0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6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NL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'exp5'!$A$16:$B$21</c:f>
              <c:multiLvlStrCache>
                <c:ptCount val="6"/>
                <c:lvl>
                  <c:pt idx="0">
                    <c:v>ResNet50</c:v>
                  </c:pt>
                  <c:pt idx="1">
                    <c:v>MobileNet</c:v>
                  </c:pt>
                  <c:pt idx="2">
                    <c:v>InceptionV3</c:v>
                  </c:pt>
                  <c:pt idx="3">
                    <c:v>ResNet50</c:v>
                  </c:pt>
                  <c:pt idx="4">
                    <c:v>MobileNet</c:v>
                  </c:pt>
                  <c:pt idx="5">
                    <c:v>InceptionV3</c:v>
                  </c:pt>
                </c:lvl>
                <c:lvl>
                  <c:pt idx="0">
                    <c:v>Oxford</c:v>
                  </c:pt>
                  <c:pt idx="3">
                    <c:v>cifar10</c:v>
                  </c:pt>
                </c:lvl>
              </c:multiLvlStrCache>
            </c:multiLvlStrRef>
          </c:cat>
          <c:val>
            <c:numRef>
              <c:f>'exp5'!$E$16:$E$21</c:f>
              <c:numCache>
                <c:formatCode>0.00</c:formatCode>
                <c:ptCount val="6"/>
                <c:pt idx="0">
                  <c:v>93.490701001430622</c:v>
                </c:pt>
                <c:pt idx="1">
                  <c:v>96.286219561964344</c:v>
                </c:pt>
                <c:pt idx="2">
                  <c:v>95.463609172482549</c:v>
                </c:pt>
                <c:pt idx="3">
                  <c:v>88.883948421520671</c:v>
                </c:pt>
                <c:pt idx="4">
                  <c:v>89.768236676278974</c:v>
                </c:pt>
                <c:pt idx="5">
                  <c:v>89.225298997952805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D6F0-412D-8426-82D9A34E817A}"/>
            </c:ext>
          </c:extLst>
        </c:ser>
        <c:ser>
          <c:idx val="3"/>
          <c:order val="3"/>
          <c:tx>
            <c:strRef>
              <c:f>'exp5'!$F$15</c:f>
              <c:strCache>
                <c:ptCount val="1"/>
                <c:pt idx="0">
                  <c:v>W₈A₈I₈0₈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dLbl>
              <c:idx val="2"/>
              <c:layout>
                <c:manualLayout>
                  <c:x val="8.1410256410255413E-3"/>
                  <c:y val="0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D6F0-412D-8426-82D9A34E817A}"/>
                </c:ext>
              </c:extLst>
            </c:dLbl>
            <c:dLbl>
              <c:idx val="5"/>
              <c:layout>
                <c:manualLayout>
                  <c:x val="8.1410256410256402E-3"/>
                  <c:y val="-1.5119047619047624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5.3635683760683762E-2"/>
                      <c:h val="6.7153968253968258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9-D6F0-412D-8426-82D9A34E817A}"/>
                </c:ext>
              </c:extLst>
            </c:dLbl>
            <c:numFmt formatCode="#,##0.0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6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NL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multiLvlStrRef>
              <c:f>'exp5'!$A$16:$B$21</c:f>
              <c:multiLvlStrCache>
                <c:ptCount val="6"/>
                <c:lvl>
                  <c:pt idx="0">
                    <c:v>ResNet50</c:v>
                  </c:pt>
                  <c:pt idx="1">
                    <c:v>MobileNet</c:v>
                  </c:pt>
                  <c:pt idx="2">
                    <c:v>InceptionV3</c:v>
                  </c:pt>
                  <c:pt idx="3">
                    <c:v>ResNet50</c:v>
                  </c:pt>
                  <c:pt idx="4">
                    <c:v>MobileNet</c:v>
                  </c:pt>
                  <c:pt idx="5">
                    <c:v>InceptionV3</c:v>
                  </c:pt>
                </c:lvl>
                <c:lvl>
                  <c:pt idx="0">
                    <c:v>Oxford</c:v>
                  </c:pt>
                  <c:pt idx="3">
                    <c:v>cifar10</c:v>
                  </c:pt>
                </c:lvl>
              </c:multiLvlStrCache>
            </c:multiLvlStrRef>
          </c:cat>
          <c:val>
            <c:numRef>
              <c:f>'exp5'!$F$16:$F$21</c:f>
              <c:numCache>
                <c:formatCode>0.00</c:formatCode>
                <c:ptCount val="6"/>
                <c:pt idx="0">
                  <c:v>93.490701001430622</c:v>
                </c:pt>
                <c:pt idx="1">
                  <c:v>96.286219561964344</c:v>
                </c:pt>
                <c:pt idx="2">
                  <c:v>95.465869456900847</c:v>
                </c:pt>
                <c:pt idx="3">
                  <c:v>88.883948421520671</c:v>
                </c:pt>
                <c:pt idx="4">
                  <c:v>89.770421783235449</c:v>
                </c:pt>
                <c:pt idx="5">
                  <c:v>89.227620381342248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D6F0-412D-8426-82D9A34E817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5"/>
        <c:overlap val="-100"/>
        <c:axId val="960856800"/>
        <c:axId val="960859296"/>
      </c:barChart>
      <c:catAx>
        <c:axId val="96085680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NL"/>
          </a:p>
        </c:txPr>
        <c:crossAx val="960859296"/>
        <c:crossesAt val="-1"/>
        <c:auto val="1"/>
        <c:lblAlgn val="ctr"/>
        <c:lblOffset val="100"/>
        <c:noMultiLvlLbl val="0"/>
      </c:catAx>
      <c:valAx>
        <c:axId val="960859296"/>
        <c:scaling>
          <c:orientation val="minMax"/>
          <c:max val="100"/>
          <c:min val="0"/>
        </c:scaling>
        <c:delete val="0"/>
        <c:axPos val="l"/>
        <c:title>
          <c:tx>
            <c:strRef>
              <c:f>'exp5'!$A$13</c:f>
              <c:strCache>
                <c:ptCount val="1"/>
                <c:pt idx="0">
                  <c:v>Change in accuracy (%)</c:v>
                </c:pt>
              </c:strCache>
            </c:strRef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1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NL"/>
            </a:p>
          </c:txPr>
        </c:title>
        <c:numFmt formatCode="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NL"/>
          </a:p>
        </c:txPr>
        <c:crossAx val="96085680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7.1768307343736876E-2"/>
          <c:y val="0.88550105279215285"/>
          <c:w val="0.85646316309692117"/>
          <c:h val="7.9274902405820732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NL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b="1"/>
      </a:pPr>
      <a:endParaRPr lang="en-NL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1"/>
          <c:order val="0"/>
          <c:tx>
            <c:strRef>
              <c:f>'exp3'!$D$16</c:f>
              <c:strCache>
                <c:ptCount val="1"/>
                <c:pt idx="0">
                  <c:v>Model  compression (%)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6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NL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'exp3'!$A$17:$B$22</c:f>
              <c:multiLvlStrCache>
                <c:ptCount val="6"/>
                <c:lvl>
                  <c:pt idx="0">
                    <c:v>ResNet50</c:v>
                  </c:pt>
                  <c:pt idx="1">
                    <c:v>MobileNet</c:v>
                  </c:pt>
                  <c:pt idx="2">
                    <c:v>InceptionV3</c:v>
                  </c:pt>
                  <c:pt idx="3">
                    <c:v>ResNet50</c:v>
                  </c:pt>
                  <c:pt idx="4">
                    <c:v>MobileNet</c:v>
                  </c:pt>
                  <c:pt idx="5">
                    <c:v>InceptionV3</c:v>
                  </c:pt>
                </c:lvl>
                <c:lvl>
                  <c:pt idx="0">
                    <c:v>Oxford</c:v>
                  </c:pt>
                  <c:pt idx="3">
                    <c:v>cifar10</c:v>
                  </c:pt>
                </c:lvl>
              </c:multiLvlStrCache>
            </c:multiLvlStrRef>
          </c:cat>
          <c:val>
            <c:numRef>
              <c:f>'exp3'!$D$17:$D$22</c:f>
              <c:numCache>
                <c:formatCode>0.00</c:formatCode>
                <c:ptCount val="6"/>
                <c:pt idx="0">
                  <c:v>87.358916478555301</c:v>
                </c:pt>
                <c:pt idx="1">
                  <c:v>87.421383647798748</c:v>
                </c:pt>
                <c:pt idx="2">
                  <c:v>87.394957983193279</c:v>
                </c:pt>
                <c:pt idx="3">
                  <c:v>87.358916478555301</c:v>
                </c:pt>
                <c:pt idx="4">
                  <c:v>87.421383647798748</c:v>
                </c:pt>
                <c:pt idx="5">
                  <c:v>87.394957983193279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A1A-4DBA-8E8B-829E8B45CC68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96"/>
        <c:axId val="542169280"/>
        <c:axId val="542168864"/>
      </c:barChart>
      <c:catAx>
        <c:axId val="54216928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NL"/>
          </a:p>
        </c:txPr>
        <c:crossAx val="542168864"/>
        <c:crosses val="autoZero"/>
        <c:auto val="1"/>
        <c:lblAlgn val="ctr"/>
        <c:lblOffset val="100"/>
        <c:noMultiLvlLbl val="0"/>
      </c:catAx>
      <c:valAx>
        <c:axId val="542168864"/>
        <c:scaling>
          <c:orientation val="minMax"/>
          <c:max val="100"/>
          <c:min val="0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1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000" b="1" dirty="0"/>
                  <a:t>Model compression (%)</a:t>
                </a:r>
              </a:p>
            </c:rich>
          </c:tx>
          <c:layout>
            <c:manualLayout>
              <c:xMode val="edge"/>
              <c:yMode val="edge"/>
              <c:x val="2.2252807664778097E-2"/>
              <c:y val="5.7548697375416888E-2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1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NL"/>
            </a:p>
          </c:txPr>
        </c:title>
        <c:numFmt formatCode="0.00" sourceLinked="1"/>
        <c:majorTickMark val="out"/>
        <c:minorTickMark val="none"/>
        <c:tickLblPos val="nextTo"/>
        <c:spPr>
          <a:noFill/>
          <a:ln>
            <a:solidFill>
              <a:schemeClr val="accent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6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NL"/>
          </a:p>
        </c:txPr>
        <c:crossAx val="54216928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0"/>
        <c:delete val="1"/>
      </c:legendEntry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NL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NL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1582638888888889"/>
          <c:y val="5.8796296296296298E-2"/>
          <c:w val="0.77711805555555558"/>
          <c:h val="0.7007472222222221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Qkeras!$B$3</c:f>
              <c:strCache>
                <c:ptCount val="1"/>
                <c:pt idx="0">
                  <c:v>ResNet50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6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NL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Qkeras!$C$1:$F$2</c:f>
              <c:multiLvlStrCache>
                <c:ptCount val="4"/>
                <c:lvl>
                  <c:pt idx="0">
                    <c:v>32-bit</c:v>
                  </c:pt>
                  <c:pt idx="1">
                    <c:v>16-bit</c:v>
                  </c:pt>
                  <c:pt idx="2">
                    <c:v>8-bit</c:v>
                  </c:pt>
                  <c:pt idx="3">
                    <c:v>8-bit</c:v>
                  </c:pt>
                </c:lvl>
                <c:lvl>
                  <c:pt idx="0">
                    <c:v>Quantized_bits</c:v>
                  </c:pt>
                  <c:pt idx="3">
                    <c:v>Quantized_po2</c:v>
                  </c:pt>
                </c:lvl>
              </c:multiLvlStrCache>
            </c:multiLvlStrRef>
          </c:cat>
          <c:val>
            <c:numRef>
              <c:f>Qkeras!$C$3:$F$3</c:f>
              <c:numCache>
                <c:formatCode>General</c:formatCode>
                <c:ptCount val="4"/>
                <c:pt idx="0">
                  <c:v>94.16</c:v>
                </c:pt>
                <c:pt idx="1">
                  <c:v>94.45</c:v>
                </c:pt>
                <c:pt idx="2">
                  <c:v>94.56</c:v>
                </c:pt>
                <c:pt idx="3">
                  <c:v>94.52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0E7-4569-88BE-BEA39B10B3A8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558441919"/>
        <c:axId val="558443999"/>
      </c:barChart>
      <c:catAx>
        <c:axId val="55844191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NL"/>
          </a:p>
        </c:txPr>
        <c:crossAx val="558443999"/>
        <c:crosses val="autoZero"/>
        <c:auto val="1"/>
        <c:lblAlgn val="ctr"/>
        <c:lblOffset val="100"/>
        <c:noMultiLvlLbl val="0"/>
      </c:catAx>
      <c:valAx>
        <c:axId val="558443999"/>
        <c:scaling>
          <c:orientation val="minMax"/>
          <c:max val="100"/>
          <c:min val="0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200" b="1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200"/>
                  <a:t>Change in accuracy(%)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200" b="1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NL"/>
            </a:p>
          </c:txPr>
        </c:title>
        <c:numFmt formatCode="General" sourceLinked="1"/>
        <c:majorTickMark val="out"/>
        <c:minorTickMark val="none"/>
        <c:tickLblPos val="nextTo"/>
        <c:spPr>
          <a:noFill/>
          <a:ln>
            <a:solidFill>
              <a:schemeClr val="accent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NL"/>
          </a:p>
        </c:txPr>
        <c:crossAx val="55844191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b="1"/>
      </a:pPr>
      <a:endParaRPr lang="en-NL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Squant1!$C$15</c:f>
              <c:strCache>
                <c:ptCount val="1"/>
                <c:pt idx="0">
                  <c:v>8-bit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6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NL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Squant1!$A$16:$B$21</c:f>
              <c:multiLvlStrCache>
                <c:ptCount val="6"/>
                <c:lvl>
                  <c:pt idx="0">
                    <c:v>ResNet50</c:v>
                  </c:pt>
                  <c:pt idx="1">
                    <c:v>MobileNet</c:v>
                  </c:pt>
                  <c:pt idx="2">
                    <c:v>InceptionV3</c:v>
                  </c:pt>
                  <c:pt idx="3">
                    <c:v>ResNet50</c:v>
                  </c:pt>
                  <c:pt idx="4">
                    <c:v>MobileNet</c:v>
                  </c:pt>
                  <c:pt idx="5">
                    <c:v>InceptionV3</c:v>
                  </c:pt>
                </c:lvl>
                <c:lvl>
                  <c:pt idx="0">
                    <c:v>Oxford</c:v>
                  </c:pt>
                  <c:pt idx="3">
                    <c:v>cifar10</c:v>
                  </c:pt>
                </c:lvl>
              </c:multiLvlStrCache>
            </c:multiLvlStrRef>
          </c:cat>
          <c:val>
            <c:numRef>
              <c:f>Squant1!$C$16:$C$21</c:f>
              <c:numCache>
                <c:formatCode>0.00</c:formatCode>
                <c:ptCount val="6"/>
                <c:pt idx="0">
                  <c:v>30.474133497891604</c:v>
                </c:pt>
                <c:pt idx="1">
                  <c:v>0.16664930736382752</c:v>
                </c:pt>
                <c:pt idx="2">
                  <c:v>4.1854138327933714E-2</c:v>
                </c:pt>
                <c:pt idx="3">
                  <c:v>41.9031903190319</c:v>
                </c:pt>
                <c:pt idx="4">
                  <c:v>0.93148670180169757</c:v>
                </c:pt>
                <c:pt idx="5">
                  <c:v>8.8057237204180849E-2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9F4-4108-B29A-8D795FE69D53}"/>
            </c:ext>
          </c:extLst>
        </c:ser>
        <c:ser>
          <c:idx val="1"/>
          <c:order val="1"/>
          <c:tx>
            <c:strRef>
              <c:f>Squant1!$D$15</c:f>
              <c:strCache>
                <c:ptCount val="1"/>
                <c:pt idx="0">
                  <c:v>6-bit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6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NL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Squant1!$A$16:$B$21</c:f>
              <c:multiLvlStrCache>
                <c:ptCount val="6"/>
                <c:lvl>
                  <c:pt idx="0">
                    <c:v>ResNet50</c:v>
                  </c:pt>
                  <c:pt idx="1">
                    <c:v>MobileNet</c:v>
                  </c:pt>
                  <c:pt idx="2">
                    <c:v>InceptionV3</c:v>
                  </c:pt>
                  <c:pt idx="3">
                    <c:v>ResNet50</c:v>
                  </c:pt>
                  <c:pt idx="4">
                    <c:v>MobileNet</c:v>
                  </c:pt>
                  <c:pt idx="5">
                    <c:v>InceptionV3</c:v>
                  </c:pt>
                </c:lvl>
                <c:lvl>
                  <c:pt idx="0">
                    <c:v>Oxford</c:v>
                  </c:pt>
                  <c:pt idx="3">
                    <c:v>cifar10</c:v>
                  </c:pt>
                </c:lvl>
              </c:multiLvlStrCache>
            </c:multiLvlStrRef>
          </c:cat>
          <c:val>
            <c:numRef>
              <c:f>Squant1!$D$16:$D$21</c:f>
              <c:numCache>
                <c:formatCode>0.00</c:formatCode>
                <c:ptCount val="6"/>
                <c:pt idx="0">
                  <c:v>32.644245603208894</c:v>
                </c:pt>
                <c:pt idx="1">
                  <c:v>0.94781793563171635</c:v>
                </c:pt>
                <c:pt idx="2">
                  <c:v>6.4873914408287003</c:v>
                </c:pt>
                <c:pt idx="3">
                  <c:v>44.103410341034106</c:v>
                </c:pt>
                <c:pt idx="4">
                  <c:v>2.2796911386199281</c:v>
                </c:pt>
                <c:pt idx="5">
                  <c:v>2.674738580077042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9F4-4108-B29A-8D795FE69D53}"/>
            </c:ext>
          </c:extLst>
        </c:ser>
        <c:ser>
          <c:idx val="2"/>
          <c:order val="2"/>
          <c:tx>
            <c:strRef>
              <c:f>Squant1!$E$15</c:f>
              <c:strCache>
                <c:ptCount val="1"/>
                <c:pt idx="0">
                  <c:v>4-bit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dLbl>
              <c:idx val="2"/>
              <c:layout>
                <c:manualLayout>
                  <c:x val="-2.2733432830700086E-3"/>
                  <c:y val="3.7556458897922314E-3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49F4-4108-B29A-8D795FE69D53}"/>
                </c:ext>
              </c:extLst>
            </c:dLbl>
            <c:numFmt formatCode="#,##0.0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6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NL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Squant1!$A$16:$B$21</c:f>
              <c:multiLvlStrCache>
                <c:ptCount val="6"/>
                <c:lvl>
                  <c:pt idx="0">
                    <c:v>ResNet50</c:v>
                  </c:pt>
                  <c:pt idx="1">
                    <c:v>MobileNet</c:v>
                  </c:pt>
                  <c:pt idx="2">
                    <c:v>InceptionV3</c:v>
                  </c:pt>
                  <c:pt idx="3">
                    <c:v>ResNet50</c:v>
                  </c:pt>
                  <c:pt idx="4">
                    <c:v>MobileNet</c:v>
                  </c:pt>
                  <c:pt idx="5">
                    <c:v>InceptionV3</c:v>
                  </c:pt>
                </c:lvl>
                <c:lvl>
                  <c:pt idx="0">
                    <c:v>Oxford</c:v>
                  </c:pt>
                  <c:pt idx="3">
                    <c:v>cifar10</c:v>
                  </c:pt>
                </c:lvl>
              </c:multiLvlStrCache>
            </c:multiLvlStrRef>
          </c:cat>
          <c:val>
            <c:numRef>
              <c:f>Squant1!$E$16:$E$21</c:f>
              <c:numCache>
                <c:formatCode>0.00</c:formatCode>
                <c:ptCount val="6"/>
                <c:pt idx="0">
                  <c:v>48.534402962048759</c:v>
                </c:pt>
                <c:pt idx="1">
                  <c:v>8.7699198000208334</c:v>
                </c:pt>
                <c:pt idx="2">
                  <c:v>26.713403787799507</c:v>
                </c:pt>
                <c:pt idx="3">
                  <c:v>83.784378437843785</c:v>
                </c:pt>
                <c:pt idx="4">
                  <c:v>31.597009437431055</c:v>
                </c:pt>
                <c:pt idx="5">
                  <c:v>33.813979086406157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49F4-4108-B29A-8D795FE69D5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5"/>
        <c:overlap val="-100"/>
        <c:axId val="960856800"/>
        <c:axId val="960859296"/>
      </c:barChart>
      <c:catAx>
        <c:axId val="96085680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b" anchorCtr="0"/>
          <a:lstStyle/>
          <a:p>
            <a:pPr>
              <a:defRPr sz="8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NL"/>
          </a:p>
        </c:txPr>
        <c:crossAx val="960859296"/>
        <c:crossesAt val="-1"/>
        <c:auto val="1"/>
        <c:lblAlgn val="ctr"/>
        <c:lblOffset val="100"/>
        <c:noMultiLvlLbl val="0"/>
      </c:catAx>
      <c:valAx>
        <c:axId val="960859296"/>
        <c:scaling>
          <c:orientation val="minMax"/>
          <c:max val="100"/>
          <c:min val="0"/>
        </c:scaling>
        <c:delete val="0"/>
        <c:axPos val="l"/>
        <c:title>
          <c:tx>
            <c:strRef>
              <c:f>Squant1!$A$13</c:f>
              <c:strCache>
                <c:ptCount val="1"/>
                <c:pt idx="0">
                  <c:v>Change in accuracy (%)</c:v>
                </c:pt>
              </c:strCache>
            </c:strRef>
          </c:tx>
          <c:layout>
            <c:manualLayout>
              <c:xMode val="edge"/>
              <c:yMode val="edge"/>
              <c:x val="2.8950672613028441E-2"/>
              <c:y val="1.8121317006870388E-2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100" b="1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NL"/>
            </a:p>
          </c:txPr>
        </c:title>
        <c:numFmt formatCode="0.00" sourceLinked="1"/>
        <c:majorTickMark val="out"/>
        <c:minorTickMark val="none"/>
        <c:tickLblPos val="nextTo"/>
        <c:spPr>
          <a:noFill/>
          <a:ln>
            <a:solidFill>
              <a:srgbClr val="911212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NL"/>
          </a:p>
        </c:txPr>
        <c:crossAx val="96085680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NL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NL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2854081196581196"/>
          <c:y val="3.1549232158988257E-2"/>
          <c:w val="0.85577307692307703"/>
          <c:h val="0.67610952380952383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'Squant1 (2)'!$C$15</c:f>
              <c:strCache>
                <c:ptCount val="1"/>
                <c:pt idx="0">
                  <c:v>8-bit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6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NL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'Squant1 (2)'!$A$16:$B$21</c:f>
              <c:multiLvlStrCache>
                <c:ptCount val="6"/>
                <c:lvl>
                  <c:pt idx="0">
                    <c:v>ResNet50</c:v>
                  </c:pt>
                  <c:pt idx="1">
                    <c:v>MobileNet</c:v>
                  </c:pt>
                  <c:pt idx="2">
                    <c:v>InceptionV3</c:v>
                  </c:pt>
                  <c:pt idx="3">
                    <c:v>ResNet50</c:v>
                  </c:pt>
                  <c:pt idx="4">
                    <c:v>MobileNet</c:v>
                  </c:pt>
                  <c:pt idx="5">
                    <c:v>InceptionV3</c:v>
                  </c:pt>
                </c:lvl>
                <c:lvl>
                  <c:pt idx="0">
                    <c:v>Oxford</c:v>
                  </c:pt>
                  <c:pt idx="3">
                    <c:v>cifar10</c:v>
                  </c:pt>
                </c:lvl>
              </c:multiLvlStrCache>
            </c:multiLvlStrRef>
          </c:cat>
          <c:val>
            <c:numRef>
              <c:f>'Squant1 (2)'!$C$16:$C$21</c:f>
              <c:numCache>
                <c:formatCode>0.00</c:formatCode>
                <c:ptCount val="6"/>
                <c:pt idx="0">
                  <c:v>6.1709348966370745E-2</c:v>
                </c:pt>
                <c:pt idx="1">
                  <c:v>0.10415581710239404</c:v>
                </c:pt>
                <c:pt idx="2">
                  <c:v>8.3708276655852565E-2</c:v>
                </c:pt>
                <c:pt idx="3">
                  <c:v>3.3003300330034249E-2</c:v>
                </c:pt>
                <c:pt idx="4">
                  <c:v>0.4657433509008575</c:v>
                </c:pt>
                <c:pt idx="5">
                  <c:v>0.27517886626307103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E77-4353-BB25-3FB73D8DAA6E}"/>
            </c:ext>
          </c:extLst>
        </c:ser>
        <c:ser>
          <c:idx val="1"/>
          <c:order val="1"/>
          <c:tx>
            <c:strRef>
              <c:f>'Squant1 (2)'!$D$15</c:f>
              <c:strCache>
                <c:ptCount val="1"/>
                <c:pt idx="0">
                  <c:v>6-bit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6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NL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'Squant1 (2)'!$A$16:$B$21</c:f>
              <c:multiLvlStrCache>
                <c:ptCount val="6"/>
                <c:lvl>
                  <c:pt idx="0">
                    <c:v>ResNet50</c:v>
                  </c:pt>
                  <c:pt idx="1">
                    <c:v>MobileNet</c:v>
                  </c:pt>
                  <c:pt idx="2">
                    <c:v>InceptionV3</c:v>
                  </c:pt>
                  <c:pt idx="3">
                    <c:v>ResNet50</c:v>
                  </c:pt>
                  <c:pt idx="4">
                    <c:v>MobileNet</c:v>
                  </c:pt>
                  <c:pt idx="5">
                    <c:v>InceptionV3</c:v>
                  </c:pt>
                </c:lvl>
                <c:lvl>
                  <c:pt idx="0">
                    <c:v>Oxford</c:v>
                  </c:pt>
                  <c:pt idx="3">
                    <c:v>cifar10</c:v>
                  </c:pt>
                </c:lvl>
              </c:multiLvlStrCache>
            </c:multiLvlStrRef>
          </c:cat>
          <c:val>
            <c:numRef>
              <c:f>'Squant1 (2)'!$D$16:$D$21</c:f>
              <c:numCache>
                <c:formatCode>0.00</c:formatCode>
                <c:ptCount val="6"/>
                <c:pt idx="0">
                  <c:v>0.57595392368610743</c:v>
                </c:pt>
                <c:pt idx="1">
                  <c:v>0.51036350380169682</c:v>
                </c:pt>
                <c:pt idx="2">
                  <c:v>4.1435596944647841</c:v>
                </c:pt>
                <c:pt idx="3">
                  <c:v>0.14301430143015365</c:v>
                </c:pt>
                <c:pt idx="4">
                  <c:v>2.242921926706702</c:v>
                </c:pt>
                <c:pt idx="5">
                  <c:v>1.5410016510731883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E77-4353-BB25-3FB73D8DAA6E}"/>
            </c:ext>
          </c:extLst>
        </c:ser>
        <c:ser>
          <c:idx val="2"/>
          <c:order val="2"/>
          <c:tx>
            <c:strRef>
              <c:f>'Squant1 (2)'!$E$15</c:f>
              <c:strCache>
                <c:ptCount val="1"/>
                <c:pt idx="0">
                  <c:v>4-bit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dLbl>
              <c:idx val="2"/>
              <c:layout>
                <c:manualLayout>
                  <c:x val="-2.2733432830700086E-3"/>
                  <c:y val="3.7556458897922314E-3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EE77-4353-BB25-3FB73D8DAA6E}"/>
                </c:ext>
              </c:extLst>
            </c:dLbl>
            <c:numFmt formatCode="#,##0.0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6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NL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'Squant1 (2)'!$A$16:$B$21</c:f>
              <c:multiLvlStrCache>
                <c:ptCount val="6"/>
                <c:lvl>
                  <c:pt idx="0">
                    <c:v>ResNet50</c:v>
                  </c:pt>
                  <c:pt idx="1">
                    <c:v>MobileNet</c:v>
                  </c:pt>
                  <c:pt idx="2">
                    <c:v>InceptionV3</c:v>
                  </c:pt>
                  <c:pt idx="3">
                    <c:v>ResNet50</c:v>
                  </c:pt>
                  <c:pt idx="4">
                    <c:v>MobileNet</c:v>
                  </c:pt>
                  <c:pt idx="5">
                    <c:v>InceptionV3</c:v>
                  </c:pt>
                </c:lvl>
                <c:lvl>
                  <c:pt idx="0">
                    <c:v>Oxford</c:v>
                  </c:pt>
                  <c:pt idx="3">
                    <c:v>cifar10</c:v>
                  </c:pt>
                </c:lvl>
              </c:multiLvlStrCache>
            </c:multiLvlStrRef>
          </c:cat>
          <c:val>
            <c:numRef>
              <c:f>'Squant1 (2)'!$E$16:$E$21</c:f>
              <c:numCache>
                <c:formatCode>0.00</c:formatCode>
                <c:ptCount val="6"/>
                <c:pt idx="0">
                  <c:v>1.1621927388666149</c:v>
                </c:pt>
                <c:pt idx="1">
                  <c:v>4.0204145401520668</c:v>
                </c:pt>
                <c:pt idx="2">
                  <c:v>13.382860730354707</c:v>
                </c:pt>
                <c:pt idx="3">
                  <c:v>4.2684268426842786</c:v>
                </c:pt>
                <c:pt idx="4">
                  <c:v>24.194141438901827</c:v>
                </c:pt>
                <c:pt idx="5">
                  <c:v>11.876719867914137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EE77-4353-BB25-3FB73D8DAA6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5"/>
        <c:overlap val="-100"/>
        <c:axId val="960856800"/>
        <c:axId val="960859296"/>
      </c:barChart>
      <c:catAx>
        <c:axId val="96085680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NL"/>
          </a:p>
        </c:txPr>
        <c:crossAx val="960859296"/>
        <c:crossesAt val="-1"/>
        <c:auto val="1"/>
        <c:lblAlgn val="ctr"/>
        <c:lblOffset val="100"/>
        <c:noMultiLvlLbl val="0"/>
      </c:catAx>
      <c:valAx>
        <c:axId val="960859296"/>
        <c:scaling>
          <c:orientation val="minMax"/>
          <c:max val="100"/>
          <c:min val="0"/>
        </c:scaling>
        <c:delete val="0"/>
        <c:axPos val="l"/>
        <c:title>
          <c:tx>
            <c:strRef>
              <c:f>'Squant1 (2)'!$A$13</c:f>
              <c:strCache>
                <c:ptCount val="1"/>
                <c:pt idx="0">
                  <c:v>Change in accuracy (%)</c:v>
                </c:pt>
              </c:strCache>
            </c:strRef>
          </c:tx>
          <c:layout>
            <c:manualLayout>
              <c:xMode val="edge"/>
              <c:yMode val="edge"/>
              <c:x val="6.024096385542169E-3"/>
              <c:y val="2.3543734673552716E-3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100" b="1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NL"/>
            </a:p>
          </c:txPr>
        </c:title>
        <c:numFmt formatCode="0.00" sourceLinked="1"/>
        <c:majorTickMark val="out"/>
        <c:minorTickMark val="none"/>
        <c:tickLblPos val="nextTo"/>
        <c:spPr>
          <a:noFill/>
          <a:ln>
            <a:solidFill>
              <a:schemeClr val="accent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NL"/>
          </a:p>
        </c:txPr>
        <c:crossAx val="96085680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17185761505661071"/>
          <c:y val="0.89371394051703201"/>
          <c:w val="0.65628476988677864"/>
          <c:h val="0.10628605948296799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NL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b="1"/>
      </a:pPr>
      <a:endParaRPr lang="en-NL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Object1!$B$3</c:f>
              <c:strCache>
                <c:ptCount val="1"/>
                <c:pt idx="0">
                  <c:v>Change in accuracy(%)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6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NL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Object1!$C$2:$D$2</c:f>
              <c:strCache>
                <c:ptCount val="2"/>
                <c:pt idx="0">
                  <c:v>16-bit</c:v>
                </c:pt>
                <c:pt idx="1">
                  <c:v>8-bit</c:v>
                </c:pt>
              </c:strCache>
            </c:strRef>
          </c:cat>
          <c:val>
            <c:numRef>
              <c:f>Object1!$C$3:$D$3</c:f>
              <c:numCache>
                <c:formatCode>General</c:formatCode>
                <c:ptCount val="2"/>
                <c:pt idx="0">
                  <c:v>1.54</c:v>
                </c:pt>
                <c:pt idx="1">
                  <c:v>99.83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094-4831-BDA8-F9F298EABA24}"/>
            </c:ext>
          </c:extLst>
        </c:ser>
        <c:ser>
          <c:idx val="1"/>
          <c:order val="1"/>
          <c:tx>
            <c:strRef>
              <c:f>Object1!$B$4</c:f>
              <c:strCache>
                <c:ptCount val="1"/>
                <c:pt idx="0">
                  <c:v>Model compression(%)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6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NL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Object1!$C$2:$D$2</c:f>
              <c:strCache>
                <c:ptCount val="2"/>
                <c:pt idx="0">
                  <c:v>16-bit</c:v>
                </c:pt>
                <c:pt idx="1">
                  <c:v>8-bit</c:v>
                </c:pt>
              </c:strCache>
            </c:strRef>
          </c:cat>
          <c:val>
            <c:numRef>
              <c:f>Object1!$C$4:$D$4</c:f>
              <c:numCache>
                <c:formatCode>General</c:formatCode>
                <c:ptCount val="2"/>
                <c:pt idx="0">
                  <c:v>77.2</c:v>
                </c:pt>
                <c:pt idx="1">
                  <c:v>85.2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094-4831-BDA8-F9F298EABA24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594821759"/>
        <c:axId val="594819679"/>
      </c:barChart>
      <c:catAx>
        <c:axId val="59482175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NL"/>
          </a:p>
        </c:txPr>
        <c:crossAx val="594819679"/>
        <c:crosses val="autoZero"/>
        <c:auto val="1"/>
        <c:lblAlgn val="ctr"/>
        <c:lblOffset val="100"/>
        <c:noMultiLvlLbl val="0"/>
      </c:catAx>
      <c:valAx>
        <c:axId val="594819679"/>
        <c:scaling>
          <c:orientation val="minMax"/>
          <c:max val="100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1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Percentange(%)</a:t>
                </a:r>
              </a:p>
            </c:rich>
          </c:tx>
          <c:layout>
            <c:manualLayout>
              <c:xMode val="edge"/>
              <c:yMode val="edge"/>
              <c:x val="3.248899836673854E-2"/>
              <c:y val="6.562382122565219E-2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1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NL"/>
            </a:p>
          </c:txPr>
        </c:title>
        <c:numFmt formatCode="General" sourceLinked="1"/>
        <c:majorTickMark val="out"/>
        <c:minorTickMark val="none"/>
        <c:tickLblPos val="nextTo"/>
        <c:spPr>
          <a:noFill/>
          <a:ln>
            <a:solidFill>
              <a:schemeClr val="accent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NL"/>
          </a:p>
        </c:txPr>
        <c:crossAx val="59482175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NL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b="1"/>
      </a:pPr>
      <a:endParaRPr lang="en-NL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9" name="Google Shape;139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Hi, I am </a:t>
            </a:r>
            <a:r>
              <a:rPr lang="en-US" dirty="0" err="1"/>
              <a:t>junaid</a:t>
            </a:r>
            <a:r>
              <a:rPr lang="en-US" dirty="0"/>
              <a:t>. I am presenting my thesis titled "Evaluation of quantization methods for NNs deployment";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thank you for being in my presentation and allowing me to present my thesis online.</a:t>
            </a:r>
            <a:endParaRPr dirty="0"/>
          </a:p>
        </p:txBody>
      </p:sp>
      <p:sp>
        <p:nvSpPr>
          <p:cNvPr id="140" name="Google Shape;140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Let me give a quick overview about this presentation.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First we will discuss the context of this thesis and explain the thesis objective.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And then some background information about this thesis.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This thesis experiment driven hence experiment </a:t>
            </a:r>
            <a:r>
              <a:rPr lang="en-US" dirty="0" err="1"/>
              <a:t>pplan</a:t>
            </a:r>
            <a:r>
              <a:rPr lang="en-US" dirty="0"/>
              <a:t> and results are discussed.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The conclusion with some recommendations and Future work is explained.</a:t>
            </a:r>
            <a:endParaRPr dirty="0"/>
          </a:p>
        </p:txBody>
      </p:sp>
      <p:sp>
        <p:nvSpPr>
          <p:cNvPr id="149" name="Google Shape;14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7" name="Google Shape;157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Machine learning is becoming an indispensable part of everyday life.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It has applications in different fields like Healthcare, autonomous vehicles, home automation, smartphones and security.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NNs are a specific type of machine-learning approach which is used in these applications.</a:t>
            </a:r>
            <a:endParaRPr dirty="0"/>
          </a:p>
        </p:txBody>
      </p:sp>
      <p:sp>
        <p:nvSpPr>
          <p:cNvPr id="158" name="Google Shape;158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0" name="Google Shape;190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NNs are computing systems made up of several layers of interconnected nodes.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Where a NN consist of input layer, hidden layers and output layer.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And each node in a NN can be defined as  this, ---- these nodes consists of weights, biases and activation function</a:t>
            </a:r>
            <a:endParaRPr dirty="0"/>
          </a:p>
        </p:txBody>
      </p:sp>
      <p:sp>
        <p:nvSpPr>
          <p:cNvPr id="191" name="Google Shape;191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Let us assume we have a NN for any given </a:t>
            </a:r>
            <a:r>
              <a:rPr lang="en-US" dirty="0" err="1"/>
              <a:t>applicationIt</a:t>
            </a:r>
            <a:r>
              <a:rPr lang="en-US" dirty="0"/>
              <a:t> can be deployed in two ways: in cloud and edge devices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Cloud systems are scalable in terms of computation. In comparison, edge devices are resource constrained.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NNs can be very big. In such cases reducing the size of the NNs are key to successful deployment in edge devices.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The size reduction can be reduced by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(1)Building SOTA architectures that are small in size,   Example: efficient det, squeeze net and </a:t>
            </a:r>
            <a:r>
              <a:rPr lang="en-US" dirty="0" err="1"/>
              <a:t>densenet</a:t>
            </a:r>
            <a:r>
              <a:rPr lang="en-US" dirty="0"/>
              <a:t> or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(2) reducing the size of existing NN’s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There are three methods, knowledge distillation, pruning and quantization– and these three methods can be in combination,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 in this work, we use quantization in isolation</a:t>
            </a:r>
            <a:endParaRPr dirty="0"/>
          </a:p>
        </p:txBody>
      </p:sp>
      <p:sp>
        <p:nvSpPr>
          <p:cNvPr id="214" name="Google Shape;21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This thesis is done at NXP Semiconductors, a company which designs and manufactures semiconductors for various applications.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NXP now have customers who require to deploy NN in their </a:t>
            </a:r>
            <a:r>
              <a:rPr lang="en-US" dirty="0" err="1"/>
              <a:t>chips.For</a:t>
            </a:r>
            <a:r>
              <a:rPr lang="en-US" dirty="0"/>
              <a:t> efficient deployment of NN, quantization is needed.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Several SOTA methods exist in the literature, and many frameworks for quantization.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Some of the concerns are listed </a:t>
            </a:r>
            <a:r>
              <a:rPr lang="en-US" dirty="0" err="1"/>
              <a:t>here.The</a:t>
            </a:r>
            <a:r>
              <a:rPr lang="en-US" dirty="0"/>
              <a:t> methods are tested on pre-trained models or not tested on many architectures and datasets. Or these concepts are yet to be implemented in a  framework or don't support saving or development.</a:t>
            </a:r>
            <a:endParaRPr dirty="0"/>
          </a:p>
        </p:txBody>
      </p:sp>
      <p:sp>
        <p:nvSpPr>
          <p:cNvPr id="240" name="Google Shape;240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3" name="Google Shape;283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n-US" dirty="0"/>
              <a:t>Before we dive deep into how these objectives are reached Let us have a brief explanation of some background information about quantization.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84" name="Google Shape;284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2" name="Google Shape;292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Quantization is the mathematical function which maps values from a large set into a smaller set.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For example, here table 1: values of precision of 32 bits float are quantized to values of 8-bit integer precision.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All the values of table 1 are quantized with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Each set of values have a unique set of quantization parameters: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Using these quantization parameters the original values of table 2 can be retrieved. This is termed dequantization and is shown in table 3.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</a:pPr>
            <a:r>
              <a:rPr lang="en-US" sz="9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</a:t>
            </a:r>
            <a:r>
              <a:rPr lang="en-US" sz="900" i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Table1=Table3: </a:t>
            </a:r>
            <a:r>
              <a:rPr lang="en-US" sz="9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Ideal case of quantization</a:t>
            </a:r>
            <a:endParaRPr lang="en-US" dirty="0"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</a:pPr>
            <a:r>
              <a:rPr lang="en-US" sz="9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</a:t>
            </a:r>
            <a:r>
              <a:rPr lang="en-US" sz="900" i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Table1≠Table3</a:t>
            </a:r>
            <a:r>
              <a:rPr lang="en-US" sz="9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Due to error introduced during quantization.</a:t>
            </a:r>
            <a:endParaRPr lang="en-US" sz="900" i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This error is called quantization error and is mainly due to clipping function and rounding operation in quantization</a:t>
            </a:r>
            <a:endParaRPr dirty="0"/>
          </a:p>
        </p:txBody>
      </p:sp>
      <p:sp>
        <p:nvSpPr>
          <p:cNvPr id="293" name="Google Shape;293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1" name="Google Shape;321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22" name="Google Shape;322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52" name="Google Shape;352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In this work two types of rounding operations are used round to nearest and SQuant hessian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Rounding operations round the values. Let us take example 3,14, a value to be rounded.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Using round to nearest, the values are rounded to the nearest integer value 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i.e</a:t>
            </a:r>
            <a:r>
              <a:rPr lang="en-US" dirty="0"/>
              <a:t> 3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While using </a:t>
            </a:r>
            <a:r>
              <a:rPr lang="en-US" dirty="0" err="1"/>
              <a:t>Squant</a:t>
            </a:r>
            <a:r>
              <a:rPr lang="en-US" dirty="0"/>
              <a:t> hessian, the value is rounded to the nearest smallest or largest integer value i.e., either to 3 or 4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Which is solved by using a minimization problem</a:t>
            </a:r>
            <a:endParaRPr dirty="0"/>
          </a:p>
        </p:txBody>
      </p:sp>
      <p:sp>
        <p:nvSpPr>
          <p:cNvPr id="353" name="Google Shape;353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3" name="Google Shape;373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Quantization is NN is done by reducing the precision of weights biases and output of activation layers to smaller precisions.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For example, in this work: 32-bit precision model quantization to 8 bits, means the model parameters and outputs of activation layers are quantized to 8 –bits.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There are several ways quantization can be applied.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In this work, each layer is quantized separately and with in each layer weights, biases and outputs of activations are also quantized separately.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Each set of values quantized its own quantization parameters.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Quantization in NN effect the accuracy, inference time and model size.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The accuracy may be dropped due to the quantization errors.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The inference time has a penalty due to the dequantization during inference.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and the size of the model is reduced</a:t>
            </a:r>
            <a:endParaRPr dirty="0"/>
          </a:p>
        </p:txBody>
      </p:sp>
      <p:sp>
        <p:nvSpPr>
          <p:cNvPr id="374" name="Google Shape;374;p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02" name="Google Shape;402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Quantization can be of three types based on how quantization is applied to NN.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QAT, PTQ and DFQ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All the methods have the case of quantization parameters updated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the model parameters are updated for QAT and DFQ no in case of PTQ.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The model is only retrained in the case of QAT, and this requires labelled data,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PTQ uses </a:t>
            </a:r>
            <a:r>
              <a:rPr lang="en-US" dirty="0" err="1"/>
              <a:t>unlabelled</a:t>
            </a:r>
            <a:r>
              <a:rPr lang="en-US" dirty="0"/>
              <a:t> data for quantization,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and DFQ uses no data at all for quantization</a:t>
            </a:r>
            <a:endParaRPr dirty="0"/>
          </a:p>
        </p:txBody>
      </p:sp>
      <p:sp>
        <p:nvSpPr>
          <p:cNvPr id="403" name="Google Shape;403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5631635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25" name="Google Shape;425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The frameworks TensorFlow Lite, Qkeras and SQuant are investigated in this work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 </a:t>
            </a:r>
            <a:r>
              <a:rPr lang="en-US" dirty="0" err="1"/>
              <a:t>Tensorflow</a:t>
            </a:r>
            <a:r>
              <a:rPr lang="en-US" dirty="0"/>
              <a:t> Lite uses model with Keras layers and supports both PTQ and QAT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dirty="0"/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Qkeras uses models with Qkeras layers and supports only QATS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dirty="0"/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Quant uses </a:t>
            </a:r>
            <a:r>
              <a:rPr lang="en-US" dirty="0" err="1"/>
              <a:t>Pytorch</a:t>
            </a:r>
            <a:r>
              <a:rPr lang="en-US" dirty="0"/>
              <a:t> layers and only supports DFQ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The table shows the quantization capabilities of each framework.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dirty="0"/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The SQuant framework does not support the quantization of biases.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dirty="0"/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 err="1"/>
              <a:t>Tensorflow</a:t>
            </a:r>
            <a:r>
              <a:rPr lang="en-US" dirty="0"/>
              <a:t> Lite only supports 16 and 8-bit quantization, while Qkeras and </a:t>
            </a:r>
            <a:r>
              <a:rPr lang="en-US" dirty="0" err="1"/>
              <a:t>Squant</a:t>
            </a:r>
            <a:r>
              <a:rPr lang="en-US" dirty="0"/>
              <a:t> support 16,8 and &lt; 8-bit quantization.</a:t>
            </a:r>
            <a:endParaRPr dirty="0"/>
          </a:p>
        </p:txBody>
      </p:sp>
      <p:sp>
        <p:nvSpPr>
          <p:cNvPr id="426" name="Google Shape;426;p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36" name="Google Shape;436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This work only investigates the use-</a:t>
            </a:r>
            <a:r>
              <a:rPr lang="en-US" dirty="0" err="1"/>
              <a:t>casesof</a:t>
            </a:r>
            <a:r>
              <a:rPr lang="en-US" dirty="0"/>
              <a:t> NN,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 image classification and object detection.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A summary of architectures and datasets used is shown here.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dirty="0"/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Architectures </a:t>
            </a:r>
            <a:r>
              <a:rPr lang="en-US" dirty="0" err="1"/>
              <a:t>Mobilenet</a:t>
            </a:r>
            <a:r>
              <a:rPr lang="en-US" dirty="0"/>
              <a:t>, resnet50 and inceptionv3 are trained for datasets cifar10 and oxford </a:t>
            </a:r>
            <a:r>
              <a:rPr lang="en-US" dirty="0" err="1"/>
              <a:t>iiit</a:t>
            </a:r>
            <a:r>
              <a:rPr lang="en-US" dirty="0"/>
              <a:t> pet dataset, </a:t>
            </a:r>
          </a:p>
          <a:p>
            <a:pPr marL="628650" lvl="1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the metric of evaluation used is Accuracy.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dirty="0"/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Architectures efficient det lite 0, </a:t>
            </a:r>
            <a:r>
              <a:rPr lang="en-US" dirty="0" err="1"/>
              <a:t>ssd_mobilenet</a:t>
            </a:r>
            <a:r>
              <a:rPr lang="en-US" dirty="0"/>
              <a:t>, </a:t>
            </a:r>
            <a:r>
              <a:rPr lang="en-US" dirty="0" err="1"/>
              <a:t>centernet</a:t>
            </a:r>
            <a:r>
              <a:rPr lang="en-US" dirty="0"/>
              <a:t> and </a:t>
            </a:r>
            <a:r>
              <a:rPr lang="en-US" dirty="0" err="1"/>
              <a:t>retinanet</a:t>
            </a:r>
            <a:r>
              <a:rPr lang="en-US" dirty="0"/>
              <a:t> models are trained for pascal-</a:t>
            </a:r>
            <a:r>
              <a:rPr lang="en-US" dirty="0" err="1"/>
              <a:t>voc</a:t>
            </a:r>
            <a:r>
              <a:rPr lang="en-US" dirty="0"/>
              <a:t> dataset,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 	the evaluation metric used in Mean Average precision.</a:t>
            </a:r>
            <a:endParaRPr dirty="0"/>
          </a:p>
        </p:txBody>
      </p:sp>
      <p:sp>
        <p:nvSpPr>
          <p:cNvPr id="437" name="Google Shape;437;p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49" name="Google Shape;449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The image classification experiments have 4 objectives</a:t>
            </a:r>
            <a:endParaRPr dirty="0"/>
          </a:p>
        </p:txBody>
      </p:sp>
      <p:sp>
        <p:nvSpPr>
          <p:cNvPr id="450" name="Google Shape;450;p1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15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Objective -1: 16-bit quantization using </a:t>
            </a:r>
            <a:r>
              <a:rPr lang="en-US" dirty="0" err="1"/>
              <a:t>tensorflow</a:t>
            </a:r>
            <a:r>
              <a:rPr lang="en-US" dirty="0"/>
              <a:t> lite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For QAT method: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Even though we provide 16-bit quantization to </a:t>
            </a:r>
            <a:r>
              <a:rPr lang="en-US" dirty="0" err="1"/>
              <a:t>tensorflow</a:t>
            </a:r>
            <a:r>
              <a:rPr lang="en-US" dirty="0"/>
              <a:t> lite, the resultant models are at 8 bit precision,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so we conclude that to the best of our knowledge Qat at 16-bit is not available in </a:t>
            </a:r>
            <a:r>
              <a:rPr lang="en-US" dirty="0" err="1"/>
              <a:t>Tensorflow</a:t>
            </a:r>
            <a:r>
              <a:rPr lang="en-US" dirty="0"/>
              <a:t> Lite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While for 16 bit quantization using PTQ if we quantize all the layers except the input and output layer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We get a model compression around 75% and change in accuracy of &lt;1%</a:t>
            </a:r>
            <a:endParaRPr dirty="0"/>
          </a:p>
        </p:txBody>
      </p:sp>
      <p:sp>
        <p:nvSpPr>
          <p:cNvPr id="458" name="Google Shape;458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Objective 2: 8-bit quantization using QAT, When we quantize all layers with 8 bit precision we get change in accuracy very high while simply keeping the input layers not quantized </a:t>
            </a:r>
            <a:r>
              <a:rPr lang="en-US" dirty="0" err="1"/>
              <a:t>prodices</a:t>
            </a:r>
            <a:r>
              <a:rPr lang="en-US" dirty="0"/>
              <a:t> a change in accuracy of &lt;1%.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All the models give a model compression around 85%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Simillar</a:t>
            </a:r>
            <a:r>
              <a:rPr lang="en-US" dirty="0"/>
              <a:t> </a:t>
            </a:r>
            <a:r>
              <a:rPr lang="en-US" dirty="0" err="1"/>
              <a:t>experimetns</a:t>
            </a:r>
            <a:r>
              <a:rPr lang="en-US" dirty="0"/>
              <a:t> are conducted for PTQ in </a:t>
            </a:r>
            <a:r>
              <a:rPr lang="en-US" dirty="0" err="1"/>
              <a:t>tensorflow</a:t>
            </a:r>
            <a:r>
              <a:rPr lang="en-US" dirty="0"/>
              <a:t> lite to resulting the change accuracy &lt;1% only in case of quantizing all the layers expect the input layer</a:t>
            </a:r>
            <a:endParaRPr dirty="0"/>
          </a:p>
        </p:txBody>
      </p:sp>
      <p:sp>
        <p:nvSpPr>
          <p:cNvPr id="471" name="Google Shape;471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2567377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85" name="Google Shape;485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Objective 3 : 32,26 and8 – bit quantization shows &gt;95% change in accuracy leading with two different mapping functions for resnet50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As other models couldn't be converted due to errors.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And the large in error accuracy might be due to conversion of TensorFlow model to Qkeras models</a:t>
            </a:r>
            <a:endParaRPr dirty="0"/>
          </a:p>
        </p:txBody>
      </p:sp>
      <p:sp>
        <p:nvSpPr>
          <p:cNvPr id="486" name="Google Shape;486;p1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18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96" name="Google Shape;496;p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Objective 5 :8,6,4 bit quantization using </a:t>
            </a:r>
            <a:r>
              <a:rPr lang="en-US" dirty="0" err="1"/>
              <a:t>Squant</a:t>
            </a: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This graph shows a change in accuracy of &lt;1% for 8 –bit quantization expect for resnet50 at input precision of 8 bits.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While all the model shows change in accuracy of &lt;1%, &lt;5% and &lt;25% for 8,6 and 4 –bit while quantizing all the layers expect the input layer.</a:t>
            </a:r>
          </a:p>
        </p:txBody>
      </p:sp>
      <p:sp>
        <p:nvSpPr>
          <p:cNvPr id="497" name="Google Shape;497;p1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9807547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14" name="Google Shape;514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For object detection there is only one objective,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	 16 and 8 bit quantization using TensorFlow Lite.</a:t>
            </a:r>
            <a:endParaRPr dirty="0"/>
          </a:p>
        </p:txBody>
      </p:sp>
      <p:sp>
        <p:nvSpPr>
          <p:cNvPr id="515" name="Google Shape;515;p2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20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p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GB" sz="900" b="1" i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Efficientdet-Lite0,</a:t>
            </a:r>
            <a:r>
              <a:rPr lang="en-GB" sz="9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lang="en-GB" sz="900" b="1" i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SSD _</a:t>
            </a:r>
            <a:r>
              <a:rPr lang="en-GB" sz="900" b="1" i="1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MobileNet</a:t>
            </a:r>
            <a:r>
              <a:rPr lang="en-GB" sz="900" b="1" i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GB" sz="900" b="1" i="1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CenterNet</a:t>
            </a:r>
            <a:r>
              <a:rPr lang="en-GB" sz="900" b="1" i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GB" sz="9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and</a:t>
            </a:r>
            <a:r>
              <a:rPr lang="en-GB" sz="900" b="1" i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GB" sz="900" b="1" i="1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RetinaNet</a:t>
            </a:r>
            <a:r>
              <a:rPr lang="en-GB" sz="900" b="1" i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where quantized by TensorFlow lite. Only </a:t>
            </a:r>
            <a:r>
              <a:rPr lang="en-GB" sz="900" b="1" i="1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SSd_mobile</a:t>
            </a:r>
            <a:r>
              <a:rPr lang="en-GB" sz="900" b="1" i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was </a:t>
            </a:r>
            <a:r>
              <a:rPr lang="en-GB" sz="900" b="1" i="1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sucessfuly</a:t>
            </a:r>
            <a:r>
              <a:rPr lang="en-GB" sz="900" b="1" i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quantized.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 lang="en-GB" sz="900" b="1" i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GB" sz="900" b="1" i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 16-bit quantization the model</a:t>
            </a:r>
            <a:br>
              <a:rPr lang="en-GB" sz="9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9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01" name="Google Shape;601;p2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2" name="Google Shape;602;p2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22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44" name="Google Shape;544;p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5" name="Google Shape;545;p2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23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92" name="Google Shape;592;p2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3" name="Google Shape;593;p2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24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1554177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Google Shape;609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10" name="Google Shape;610;p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1" name="Google Shape;611;p2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25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19" name="Google Shape;619;p2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0" name="Google Shape;620;p2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26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26" name="Google Shape;626;p2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7" name="Google Shape;627;p2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27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34" name="Google Shape;634;p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5" name="Google Shape;635;p2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28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26" name="Google Shape;626;p2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7" name="Google Shape;627;p2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29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2226133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Google Shape;649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50" name="Google Shape;650;p2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1" name="Google Shape;651;p2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30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Google Shape;658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59" name="Google Shape;659;p3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0" name="Google Shape;660;p3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31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Google Shape;667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68" name="Google Shape;668;p3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9" name="Google Shape;669;p3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32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" name="Google Shape;679;p3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0" name="Google Shape;680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06" name="Google Shape;706;p3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7" name="Google Shape;707;p3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34</a:t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33" name="Google Shape;733;p3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4" name="Google Shape;734;p3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35</a:t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Google Shape;741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42" name="Google Shape;742;p3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3" name="Google Shape;743;p3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36</a:t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Google Shape;751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52" name="Google Shape;752;p3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3" name="Google Shape;753;p3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37</a:t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61" name="Google Shape;761;p3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2" name="Google Shape;762;p3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39</a:t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02" name="Google Shape;402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Quantization can be of three types based on how quantization is applied to NN.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QAT, PTQ and DFQ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All the methods have the case of quantization parameters updated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the model parameters are updated for QAT and DFQ no in case of PTQ.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The model is only retrained in the case of QAT, and this requires labelled data,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PTQ uses </a:t>
            </a:r>
            <a:r>
              <a:rPr lang="en-US" dirty="0" err="1"/>
              <a:t>unlabelled</a:t>
            </a:r>
            <a:r>
              <a:rPr lang="en-US" dirty="0"/>
              <a:t> data for quantization,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and DFQ uses no data at all for quantization</a:t>
            </a:r>
            <a:endParaRPr dirty="0"/>
          </a:p>
        </p:txBody>
      </p:sp>
      <p:sp>
        <p:nvSpPr>
          <p:cNvPr id="403" name="Google Shape;403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40</a:t>
            </a:fld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92" name="Google Shape;592;p2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3" name="Google Shape;593;p2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41</a:t>
            </a:fld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25" name="Google Shape;425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The frameworks TensorFlow Lite, Qkeras and SQuant are investigated in this work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 </a:t>
            </a:r>
            <a:r>
              <a:rPr lang="en-US" dirty="0" err="1"/>
              <a:t>Tensorflow</a:t>
            </a:r>
            <a:r>
              <a:rPr lang="en-US" dirty="0"/>
              <a:t> Lite uses model with Keras layers and supports both PTQ and QAT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dirty="0"/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Qkeras uses models with Qkeras layers and supports only QATS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dirty="0"/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Quant uses </a:t>
            </a:r>
            <a:r>
              <a:rPr lang="en-US" dirty="0" err="1"/>
              <a:t>Pytorch</a:t>
            </a:r>
            <a:r>
              <a:rPr lang="en-US" dirty="0"/>
              <a:t> layers and only supports DFQ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The table shows the quantization capabilities of each framework.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dirty="0"/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The SQuant framework does not support the quantization of biases.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dirty="0"/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 err="1"/>
              <a:t>Tensorflow</a:t>
            </a:r>
            <a:r>
              <a:rPr lang="en-US" dirty="0"/>
              <a:t> Lite only supports 16 and 8-bit quantization, while Qkeras and </a:t>
            </a:r>
            <a:r>
              <a:rPr lang="en-US" dirty="0" err="1"/>
              <a:t>Squant</a:t>
            </a:r>
            <a:r>
              <a:rPr lang="en-US" dirty="0"/>
              <a:t> support 16,8 and &lt; 8-bit quantization.</a:t>
            </a:r>
            <a:endParaRPr dirty="0"/>
          </a:p>
        </p:txBody>
      </p:sp>
      <p:sp>
        <p:nvSpPr>
          <p:cNvPr id="426" name="Google Shape;426;p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42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811343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- Title at the top">
  <p:cSld name="Title slide - Title at the top">
    <p:bg>
      <p:bgPr>
        <a:solidFill>
          <a:srgbClr val="EEE8E8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9"/>
          <p:cNvSpPr/>
          <p:nvPr/>
        </p:nvSpPr>
        <p:spPr>
          <a:xfrm>
            <a:off x="0" y="756000"/>
            <a:ext cx="9144000" cy="1080000"/>
          </a:xfrm>
          <a:prstGeom prst="rect">
            <a:avLst/>
          </a:prstGeom>
          <a:solidFill>
            <a:schemeClr val="dk1">
              <a:alpha val="24705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39"/>
          <p:cNvSpPr txBox="1">
            <a:spLocks noGrp="1"/>
          </p:cNvSpPr>
          <p:nvPr>
            <p:ph type="ctrTitle"/>
          </p:nvPr>
        </p:nvSpPr>
        <p:spPr>
          <a:xfrm>
            <a:off x="-1" y="756049"/>
            <a:ext cx="9143999" cy="792000"/>
          </a:xfrm>
          <a:prstGeom prst="rect">
            <a:avLst/>
          </a:prstGeom>
          <a:solidFill>
            <a:schemeClr val="dk2">
              <a:alpha val="49803"/>
            </a:schemeClr>
          </a:solidFill>
          <a:ln>
            <a:noFill/>
          </a:ln>
        </p:spPr>
        <p:txBody>
          <a:bodyPr spcFirstLastPara="1" wrap="square" lIns="756000" tIns="0" rIns="1962000" bIns="0" anchor="ctr" anchorCtr="0">
            <a:noAutofit/>
          </a:bodyPr>
          <a:lstStyle>
            <a:lvl1pPr lvl="0" algn="l">
              <a:lnSpc>
                <a:spcPct val="104545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Calibri"/>
              <a:buNone/>
              <a:defRPr sz="2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39"/>
          <p:cNvSpPr txBox="1">
            <a:spLocks noGrp="1"/>
          </p:cNvSpPr>
          <p:nvPr>
            <p:ph type="subTitle" idx="1"/>
          </p:nvPr>
        </p:nvSpPr>
        <p:spPr>
          <a:xfrm>
            <a:off x="-1" y="1548000"/>
            <a:ext cx="9143999" cy="288000"/>
          </a:xfrm>
          <a:prstGeom prst="rect">
            <a:avLst/>
          </a:prstGeom>
          <a:solidFill>
            <a:schemeClr val="dk2">
              <a:alpha val="49803"/>
            </a:schemeClr>
          </a:solidFill>
          <a:ln>
            <a:noFill/>
          </a:ln>
        </p:spPr>
        <p:txBody>
          <a:bodyPr spcFirstLastPara="1" wrap="square" lIns="756000" tIns="18000" rIns="196200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 b="1" cap="none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pic>
        <p:nvPicPr>
          <p:cNvPr id="19" name="Google Shape;19;p3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340600" y="4568825"/>
            <a:ext cx="1803400" cy="574675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39"/>
          <p:cNvSpPr txBox="1">
            <a:spLocks noGrp="1"/>
          </p:cNvSpPr>
          <p:nvPr>
            <p:ph type="body" idx="2"/>
          </p:nvPr>
        </p:nvSpPr>
        <p:spPr>
          <a:xfrm>
            <a:off x="0" y="3990975"/>
            <a:ext cx="9143999" cy="576263"/>
          </a:xfrm>
          <a:prstGeom prst="rect">
            <a:avLst/>
          </a:prstGeom>
          <a:solidFill>
            <a:srgbClr val="000000">
              <a:alpha val="24705"/>
            </a:srgbClr>
          </a:solidFill>
          <a:ln>
            <a:noFill/>
          </a:ln>
        </p:spPr>
        <p:txBody>
          <a:bodyPr spcFirstLastPara="1" wrap="square" lIns="756000" tIns="0" rIns="0" bIns="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 b="1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" name="Google Shape;21;p39"/>
          <p:cNvSpPr txBox="1">
            <a:spLocks noGrp="1"/>
          </p:cNvSpPr>
          <p:nvPr>
            <p:ph type="body" idx="3"/>
          </p:nvPr>
        </p:nvSpPr>
        <p:spPr>
          <a:xfrm>
            <a:off x="-6667" y="4567237"/>
            <a:ext cx="7347267" cy="57626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756000" tIns="0" rIns="0" bIns="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 b="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" type="obj">
  <p:cSld name="OBJECT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0"/>
          <p:cNvSpPr txBox="1">
            <a:spLocks noGrp="1"/>
          </p:cNvSpPr>
          <p:nvPr>
            <p:ph type="title"/>
          </p:nvPr>
        </p:nvSpPr>
        <p:spPr>
          <a:xfrm>
            <a:off x="237331" y="136935"/>
            <a:ext cx="7556500" cy="539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24" name="Google Shape;24;p40"/>
          <p:cNvSpPr txBox="1">
            <a:spLocks noGrp="1"/>
          </p:cNvSpPr>
          <p:nvPr>
            <p:ph type="body" idx="1"/>
          </p:nvPr>
        </p:nvSpPr>
        <p:spPr>
          <a:xfrm>
            <a:off x="237331" y="978006"/>
            <a:ext cx="7556501" cy="29224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5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5" name="Google Shape;25;p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6" name="Google Shape;26;p40"/>
          <p:cNvSpPr txBox="1">
            <a:spLocks noGrp="1"/>
          </p:cNvSpPr>
          <p:nvPr>
            <p:ph type="ftr" idx="11"/>
          </p:nvPr>
        </p:nvSpPr>
        <p:spPr>
          <a:xfrm>
            <a:off x="1114426" y="4568400"/>
            <a:ext cx="7042149" cy="576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Evaluation of Quantization Methods for Neural Networks</a:t>
            </a:r>
            <a:endParaRPr/>
          </a:p>
        </p:txBody>
      </p:sp>
      <p:sp>
        <p:nvSpPr>
          <p:cNvPr id="27" name="Google Shape;27;p40"/>
          <p:cNvSpPr txBox="1">
            <a:spLocks noGrp="1"/>
          </p:cNvSpPr>
          <p:nvPr>
            <p:ph type="sldNum" idx="12"/>
          </p:nvPr>
        </p:nvSpPr>
        <p:spPr>
          <a:xfrm>
            <a:off x="2" y="4568400"/>
            <a:ext cx="1114424" cy="572286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756000" tIns="0" rIns="0" bIns="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ext slide">
  <p:cSld name="1_Text slide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41"/>
          <p:cNvSpPr txBox="1">
            <a:spLocks noGrp="1"/>
          </p:cNvSpPr>
          <p:nvPr>
            <p:ph type="title"/>
          </p:nvPr>
        </p:nvSpPr>
        <p:spPr>
          <a:xfrm>
            <a:off x="237331" y="136800"/>
            <a:ext cx="7556500" cy="539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4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1" name="Google Shape;31;p41"/>
          <p:cNvSpPr txBox="1">
            <a:spLocks noGrp="1"/>
          </p:cNvSpPr>
          <p:nvPr>
            <p:ph type="ftr" idx="11"/>
          </p:nvPr>
        </p:nvSpPr>
        <p:spPr>
          <a:xfrm>
            <a:off x="1114426" y="4568400"/>
            <a:ext cx="7042149" cy="576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Evaluation of Quantization Methods for Neural Networks</a:t>
            </a:r>
            <a:endParaRPr/>
          </a:p>
        </p:txBody>
      </p:sp>
      <p:sp>
        <p:nvSpPr>
          <p:cNvPr id="32" name="Google Shape;32;p41"/>
          <p:cNvSpPr txBox="1">
            <a:spLocks noGrp="1"/>
          </p:cNvSpPr>
          <p:nvPr>
            <p:ph type="sldNum" idx="12"/>
          </p:nvPr>
        </p:nvSpPr>
        <p:spPr>
          <a:xfrm>
            <a:off x="2" y="4568400"/>
            <a:ext cx="1114424" cy="572286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756000" tIns="0" rIns="0" bIns="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33" name="Google Shape;33;p41"/>
          <p:cNvCxnSpPr/>
          <p:nvPr/>
        </p:nvCxnSpPr>
        <p:spPr>
          <a:xfrm>
            <a:off x="4572000" y="571500"/>
            <a:ext cx="0" cy="3914775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- Title in the middle">
  <p:cSld name="Title slide - Title in the middle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42"/>
          <p:cNvSpPr/>
          <p:nvPr/>
        </p:nvSpPr>
        <p:spPr>
          <a:xfrm>
            <a:off x="0" y="1836000"/>
            <a:ext cx="9144000" cy="1080000"/>
          </a:xfrm>
          <a:prstGeom prst="rect">
            <a:avLst/>
          </a:prstGeom>
          <a:solidFill>
            <a:schemeClr val="dk1">
              <a:alpha val="24705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42"/>
          <p:cNvSpPr txBox="1">
            <a:spLocks noGrp="1"/>
          </p:cNvSpPr>
          <p:nvPr>
            <p:ph type="ctrTitle"/>
          </p:nvPr>
        </p:nvSpPr>
        <p:spPr>
          <a:xfrm>
            <a:off x="-1" y="1835549"/>
            <a:ext cx="9143999" cy="792000"/>
          </a:xfrm>
          <a:prstGeom prst="rect">
            <a:avLst/>
          </a:prstGeom>
          <a:solidFill>
            <a:schemeClr val="dk2">
              <a:alpha val="49803"/>
            </a:schemeClr>
          </a:solidFill>
          <a:ln>
            <a:noFill/>
          </a:ln>
        </p:spPr>
        <p:txBody>
          <a:bodyPr spcFirstLastPara="1" wrap="square" lIns="756000" tIns="0" rIns="1962000" bIns="0" anchor="ctr" anchorCtr="0">
            <a:noAutofit/>
          </a:bodyPr>
          <a:lstStyle>
            <a:lvl1pPr lvl="0" algn="l">
              <a:lnSpc>
                <a:spcPct val="104545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Calibri"/>
              <a:buNone/>
              <a:defRPr sz="2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42"/>
          <p:cNvSpPr txBox="1">
            <a:spLocks noGrp="1"/>
          </p:cNvSpPr>
          <p:nvPr>
            <p:ph type="subTitle" idx="1"/>
          </p:nvPr>
        </p:nvSpPr>
        <p:spPr>
          <a:xfrm>
            <a:off x="-1" y="2628097"/>
            <a:ext cx="9143999" cy="288000"/>
          </a:xfrm>
          <a:prstGeom prst="rect">
            <a:avLst/>
          </a:prstGeom>
          <a:solidFill>
            <a:schemeClr val="dk2">
              <a:alpha val="49803"/>
            </a:schemeClr>
          </a:solidFill>
          <a:ln>
            <a:noFill/>
          </a:ln>
        </p:spPr>
        <p:txBody>
          <a:bodyPr spcFirstLastPara="1" wrap="square" lIns="756000" tIns="18000" rIns="196200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 b="1" cap="none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pic>
        <p:nvPicPr>
          <p:cNvPr id="38" name="Google Shape;38;p4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340600" y="4568825"/>
            <a:ext cx="1803400" cy="574675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42"/>
          <p:cNvSpPr txBox="1">
            <a:spLocks noGrp="1"/>
          </p:cNvSpPr>
          <p:nvPr>
            <p:ph type="body" idx="2"/>
          </p:nvPr>
        </p:nvSpPr>
        <p:spPr>
          <a:xfrm>
            <a:off x="0" y="3990975"/>
            <a:ext cx="9143999" cy="576263"/>
          </a:xfrm>
          <a:prstGeom prst="rect">
            <a:avLst/>
          </a:prstGeom>
          <a:solidFill>
            <a:srgbClr val="000000">
              <a:alpha val="24705"/>
            </a:srgbClr>
          </a:solidFill>
          <a:ln>
            <a:noFill/>
          </a:ln>
        </p:spPr>
        <p:txBody>
          <a:bodyPr spcFirstLastPara="1" wrap="square" lIns="756000" tIns="0" rIns="0" bIns="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 b="1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42"/>
          <p:cNvSpPr txBox="1">
            <a:spLocks noGrp="1"/>
          </p:cNvSpPr>
          <p:nvPr>
            <p:ph type="body" idx="3"/>
          </p:nvPr>
        </p:nvSpPr>
        <p:spPr>
          <a:xfrm>
            <a:off x="-6667" y="4567237"/>
            <a:ext cx="7347267" cy="57626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756000" tIns="0" rIns="0" bIns="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 b="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- Title at the bottom">
  <p:cSld name="Title slide - Title at the bottom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43"/>
          <p:cNvSpPr/>
          <p:nvPr/>
        </p:nvSpPr>
        <p:spPr>
          <a:xfrm>
            <a:off x="0" y="2916000"/>
            <a:ext cx="9144000" cy="1080000"/>
          </a:xfrm>
          <a:prstGeom prst="rect">
            <a:avLst/>
          </a:prstGeom>
          <a:solidFill>
            <a:schemeClr val="dk1">
              <a:alpha val="24705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43"/>
          <p:cNvSpPr txBox="1">
            <a:spLocks noGrp="1"/>
          </p:cNvSpPr>
          <p:nvPr>
            <p:ph type="ctrTitle"/>
          </p:nvPr>
        </p:nvSpPr>
        <p:spPr>
          <a:xfrm>
            <a:off x="-1" y="2915049"/>
            <a:ext cx="9143999" cy="792000"/>
          </a:xfrm>
          <a:prstGeom prst="rect">
            <a:avLst/>
          </a:prstGeom>
          <a:solidFill>
            <a:schemeClr val="dk2">
              <a:alpha val="49803"/>
            </a:schemeClr>
          </a:solidFill>
          <a:ln>
            <a:noFill/>
          </a:ln>
        </p:spPr>
        <p:txBody>
          <a:bodyPr spcFirstLastPara="1" wrap="square" lIns="756000" tIns="0" rIns="1962000" bIns="0" anchor="ctr" anchorCtr="0">
            <a:noAutofit/>
          </a:bodyPr>
          <a:lstStyle>
            <a:lvl1pPr lvl="0" algn="l">
              <a:lnSpc>
                <a:spcPct val="104545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Calibri"/>
              <a:buNone/>
              <a:defRPr sz="2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43"/>
          <p:cNvSpPr txBox="1">
            <a:spLocks noGrp="1"/>
          </p:cNvSpPr>
          <p:nvPr>
            <p:ph type="subTitle" idx="1"/>
          </p:nvPr>
        </p:nvSpPr>
        <p:spPr>
          <a:xfrm>
            <a:off x="-1" y="3708591"/>
            <a:ext cx="9143999" cy="288000"/>
          </a:xfrm>
          <a:prstGeom prst="rect">
            <a:avLst/>
          </a:prstGeom>
          <a:solidFill>
            <a:schemeClr val="dk2">
              <a:alpha val="49803"/>
            </a:schemeClr>
          </a:solidFill>
          <a:ln>
            <a:noFill/>
          </a:ln>
        </p:spPr>
        <p:txBody>
          <a:bodyPr spcFirstLastPara="1" wrap="square" lIns="756000" tIns="18000" rIns="196200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 b="1" cap="none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pic>
        <p:nvPicPr>
          <p:cNvPr id="45" name="Google Shape;45;p4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340600" y="4568825"/>
            <a:ext cx="1803400" cy="574675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43"/>
          <p:cNvSpPr txBox="1">
            <a:spLocks noGrp="1"/>
          </p:cNvSpPr>
          <p:nvPr>
            <p:ph type="body" idx="2"/>
          </p:nvPr>
        </p:nvSpPr>
        <p:spPr>
          <a:xfrm>
            <a:off x="0" y="3990975"/>
            <a:ext cx="9143999" cy="576263"/>
          </a:xfrm>
          <a:prstGeom prst="rect">
            <a:avLst/>
          </a:prstGeom>
          <a:solidFill>
            <a:srgbClr val="000000">
              <a:alpha val="24705"/>
            </a:srgbClr>
          </a:solidFill>
          <a:ln>
            <a:noFill/>
          </a:ln>
        </p:spPr>
        <p:txBody>
          <a:bodyPr spcFirstLastPara="1" wrap="square" lIns="756000" tIns="0" rIns="0" bIns="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 b="1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7" name="Google Shape;47;p43"/>
          <p:cNvSpPr txBox="1">
            <a:spLocks noGrp="1"/>
          </p:cNvSpPr>
          <p:nvPr>
            <p:ph type="body" idx="3"/>
          </p:nvPr>
        </p:nvSpPr>
        <p:spPr>
          <a:xfrm>
            <a:off x="-6667" y="4567237"/>
            <a:ext cx="7347267" cy="57626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756000" tIns="0" rIns="0" bIns="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 b="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 - 2 columns">
  <p:cSld name="Text slide - 2 columns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9" name="Google Shape;49;p44"/>
          <p:cNvCxnSpPr/>
          <p:nvPr/>
        </p:nvCxnSpPr>
        <p:spPr>
          <a:xfrm>
            <a:off x="4572000" y="571500"/>
            <a:ext cx="0" cy="3914775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50" name="Google Shape;50;p44"/>
          <p:cNvSpPr txBox="1">
            <a:spLocks noGrp="1"/>
          </p:cNvSpPr>
          <p:nvPr>
            <p:ph type="body" idx="1"/>
          </p:nvPr>
        </p:nvSpPr>
        <p:spPr>
          <a:xfrm>
            <a:off x="755650" y="1295401"/>
            <a:ext cx="3598863" cy="293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5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44"/>
          <p:cNvSpPr txBox="1">
            <a:spLocks noGrp="1"/>
          </p:cNvSpPr>
          <p:nvPr>
            <p:ph type="body" idx="2"/>
          </p:nvPr>
        </p:nvSpPr>
        <p:spPr>
          <a:xfrm>
            <a:off x="4723606" y="1296000"/>
            <a:ext cx="3595688" cy="29331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5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2" name="Google Shape;52;p44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3" name="Google Shape;53;p44"/>
          <p:cNvSpPr txBox="1">
            <a:spLocks noGrp="1"/>
          </p:cNvSpPr>
          <p:nvPr>
            <p:ph type="ftr" idx="11"/>
          </p:nvPr>
        </p:nvSpPr>
        <p:spPr>
          <a:xfrm>
            <a:off x="1114426" y="4568400"/>
            <a:ext cx="7042149" cy="576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Evaluation of Quantization Methods for Neural Networks</a:t>
            </a:r>
            <a:endParaRPr/>
          </a:p>
        </p:txBody>
      </p:sp>
      <p:sp>
        <p:nvSpPr>
          <p:cNvPr id="54" name="Google Shape;54;p44"/>
          <p:cNvSpPr txBox="1">
            <a:spLocks noGrp="1"/>
          </p:cNvSpPr>
          <p:nvPr>
            <p:ph type="sldNum" idx="12"/>
          </p:nvPr>
        </p:nvSpPr>
        <p:spPr>
          <a:xfrm>
            <a:off x="2" y="4568400"/>
            <a:ext cx="1114424" cy="572286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756000" tIns="0" rIns="0" bIns="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55" name="Google Shape;55;p44"/>
          <p:cNvSpPr txBox="1">
            <a:spLocks noGrp="1"/>
          </p:cNvSpPr>
          <p:nvPr>
            <p:ph type="body" idx="3"/>
          </p:nvPr>
        </p:nvSpPr>
        <p:spPr>
          <a:xfrm>
            <a:off x="237600" y="241200"/>
            <a:ext cx="7958137" cy="6651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/2 text - 1/2 image">
  <p:cSld name="1/2 text - 1/2 image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45"/>
          <p:cNvSpPr txBox="1">
            <a:spLocks noGrp="1"/>
          </p:cNvSpPr>
          <p:nvPr>
            <p:ph type="title"/>
          </p:nvPr>
        </p:nvSpPr>
        <p:spPr>
          <a:xfrm>
            <a:off x="756000" y="586800"/>
            <a:ext cx="3600000" cy="732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50"/>
              <a:buFont typeface="Calibri"/>
              <a:buNone/>
              <a:defRPr sz="1950" b="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45"/>
          <p:cNvSpPr txBox="1">
            <a:spLocks noGrp="1"/>
          </p:cNvSpPr>
          <p:nvPr>
            <p:ph type="body" idx="1"/>
          </p:nvPr>
        </p:nvSpPr>
        <p:spPr>
          <a:xfrm>
            <a:off x="755650" y="1295401"/>
            <a:ext cx="3598863" cy="293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5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45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0" name="Google Shape;60;p45"/>
          <p:cNvSpPr txBox="1">
            <a:spLocks noGrp="1"/>
          </p:cNvSpPr>
          <p:nvPr>
            <p:ph type="ftr" idx="11"/>
          </p:nvPr>
        </p:nvSpPr>
        <p:spPr>
          <a:xfrm>
            <a:off x="1114426" y="4568400"/>
            <a:ext cx="7042149" cy="576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Evaluation of Quantization Methods for Neural Networks</a:t>
            </a:r>
            <a:endParaRPr/>
          </a:p>
        </p:txBody>
      </p:sp>
      <p:sp>
        <p:nvSpPr>
          <p:cNvPr id="61" name="Google Shape;61;p45"/>
          <p:cNvSpPr txBox="1">
            <a:spLocks noGrp="1"/>
          </p:cNvSpPr>
          <p:nvPr>
            <p:ph type="sldNum" idx="12"/>
          </p:nvPr>
        </p:nvSpPr>
        <p:spPr>
          <a:xfrm>
            <a:off x="2" y="4568400"/>
            <a:ext cx="1114424" cy="572286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756000" tIns="0" rIns="0" bIns="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2" name="Google Shape;62;p45"/>
          <p:cNvSpPr>
            <a:spLocks noGrp="1"/>
          </p:cNvSpPr>
          <p:nvPr>
            <p:ph type="pic" idx="2"/>
          </p:nvPr>
        </p:nvSpPr>
        <p:spPr>
          <a:xfrm>
            <a:off x="4714875" y="0"/>
            <a:ext cx="4429125" cy="4567238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/3 text - 1/3 image">
  <p:cSld name="2/3 text - 1/3 image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46"/>
          <p:cNvSpPr txBox="1">
            <a:spLocks noGrp="1"/>
          </p:cNvSpPr>
          <p:nvPr>
            <p:ph type="title"/>
          </p:nvPr>
        </p:nvSpPr>
        <p:spPr>
          <a:xfrm>
            <a:off x="756000" y="586800"/>
            <a:ext cx="4910138" cy="732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50"/>
              <a:buFont typeface="Calibri"/>
              <a:buNone/>
              <a:defRPr sz="1950" b="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46"/>
          <p:cNvSpPr txBox="1">
            <a:spLocks noGrp="1"/>
          </p:cNvSpPr>
          <p:nvPr>
            <p:ph type="body" idx="1"/>
          </p:nvPr>
        </p:nvSpPr>
        <p:spPr>
          <a:xfrm>
            <a:off x="755650" y="1295401"/>
            <a:ext cx="4913313" cy="293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5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6" name="Google Shape;66;p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7" name="Google Shape;67;p46"/>
          <p:cNvSpPr txBox="1">
            <a:spLocks noGrp="1"/>
          </p:cNvSpPr>
          <p:nvPr>
            <p:ph type="ftr" idx="11"/>
          </p:nvPr>
        </p:nvSpPr>
        <p:spPr>
          <a:xfrm>
            <a:off x="1114426" y="4568400"/>
            <a:ext cx="7042149" cy="576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Evaluation of Quantization Methods for Neural Networks</a:t>
            </a:r>
            <a:endParaRPr/>
          </a:p>
        </p:txBody>
      </p:sp>
      <p:sp>
        <p:nvSpPr>
          <p:cNvPr id="68" name="Google Shape;68;p46"/>
          <p:cNvSpPr txBox="1">
            <a:spLocks noGrp="1"/>
          </p:cNvSpPr>
          <p:nvPr>
            <p:ph type="sldNum" idx="12"/>
          </p:nvPr>
        </p:nvSpPr>
        <p:spPr>
          <a:xfrm>
            <a:off x="2" y="4568400"/>
            <a:ext cx="1114424" cy="572286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756000" tIns="0" rIns="0" bIns="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9" name="Google Shape;69;p46"/>
          <p:cNvSpPr>
            <a:spLocks noGrp="1"/>
          </p:cNvSpPr>
          <p:nvPr>
            <p:ph type="pic" idx="2"/>
          </p:nvPr>
        </p:nvSpPr>
        <p:spPr>
          <a:xfrm>
            <a:off x="6046788" y="0"/>
            <a:ext cx="3097212" cy="4567238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eadline + image/movie 16:9">
  <p:cSld name="Headline + image/movie 16:9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47"/>
          <p:cNvSpPr txBox="1">
            <a:spLocks noGrp="1"/>
          </p:cNvSpPr>
          <p:nvPr>
            <p:ph type="title"/>
          </p:nvPr>
        </p:nvSpPr>
        <p:spPr>
          <a:xfrm>
            <a:off x="758825" y="518711"/>
            <a:ext cx="7556500" cy="539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4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3" name="Google Shape;73;p47"/>
          <p:cNvSpPr txBox="1">
            <a:spLocks noGrp="1"/>
          </p:cNvSpPr>
          <p:nvPr>
            <p:ph type="ftr" idx="11"/>
          </p:nvPr>
        </p:nvSpPr>
        <p:spPr>
          <a:xfrm>
            <a:off x="1114426" y="4568400"/>
            <a:ext cx="7042149" cy="576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Evaluation of Quantization Methods for Neural Networks</a:t>
            </a:r>
            <a:endParaRPr/>
          </a:p>
        </p:txBody>
      </p:sp>
      <p:sp>
        <p:nvSpPr>
          <p:cNvPr id="74" name="Google Shape;74;p47"/>
          <p:cNvSpPr txBox="1">
            <a:spLocks noGrp="1"/>
          </p:cNvSpPr>
          <p:nvPr>
            <p:ph type="sldNum" idx="12"/>
          </p:nvPr>
        </p:nvSpPr>
        <p:spPr>
          <a:xfrm>
            <a:off x="2" y="4568400"/>
            <a:ext cx="1114424" cy="572286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756000" tIns="0" rIns="0" bIns="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5" name="Google Shape;75;p47"/>
          <p:cNvSpPr txBox="1">
            <a:spLocks noGrp="1"/>
          </p:cNvSpPr>
          <p:nvPr>
            <p:ph type="body" idx="1"/>
          </p:nvPr>
        </p:nvSpPr>
        <p:spPr>
          <a:xfrm>
            <a:off x="1889125" y="1079501"/>
            <a:ext cx="5292725" cy="29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5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6" name="Google Shape;76;p47"/>
          <p:cNvSpPr txBox="1">
            <a:spLocks noGrp="1"/>
          </p:cNvSpPr>
          <p:nvPr>
            <p:ph type="body" idx="2"/>
          </p:nvPr>
        </p:nvSpPr>
        <p:spPr>
          <a:xfrm>
            <a:off x="1889125" y="4106268"/>
            <a:ext cx="5292725" cy="1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 i="1"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+ 3 images">
  <p:cSld name="Text + 3 images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48"/>
          <p:cNvSpPr txBox="1">
            <a:spLocks noGrp="1"/>
          </p:cNvSpPr>
          <p:nvPr>
            <p:ph type="title"/>
          </p:nvPr>
        </p:nvSpPr>
        <p:spPr>
          <a:xfrm>
            <a:off x="758825" y="518711"/>
            <a:ext cx="7556500" cy="539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48"/>
          <p:cNvSpPr txBox="1">
            <a:spLocks noGrp="1"/>
          </p:cNvSpPr>
          <p:nvPr>
            <p:ph type="body" idx="1"/>
          </p:nvPr>
        </p:nvSpPr>
        <p:spPr>
          <a:xfrm>
            <a:off x="758824" y="1306642"/>
            <a:ext cx="2084389" cy="6364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50"/>
              <a:buNone/>
              <a:defRPr sz="1650"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0" name="Google Shape;80;p48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1" name="Google Shape;81;p48"/>
          <p:cNvSpPr txBox="1">
            <a:spLocks noGrp="1"/>
          </p:cNvSpPr>
          <p:nvPr>
            <p:ph type="ftr" idx="11"/>
          </p:nvPr>
        </p:nvSpPr>
        <p:spPr>
          <a:xfrm>
            <a:off x="1114426" y="4568400"/>
            <a:ext cx="7042149" cy="576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Evaluation of Quantization Methods for Neural Networks</a:t>
            </a:r>
            <a:endParaRPr/>
          </a:p>
        </p:txBody>
      </p:sp>
      <p:sp>
        <p:nvSpPr>
          <p:cNvPr id="82" name="Google Shape;82;p48"/>
          <p:cNvSpPr txBox="1">
            <a:spLocks noGrp="1"/>
          </p:cNvSpPr>
          <p:nvPr>
            <p:ph type="sldNum" idx="12"/>
          </p:nvPr>
        </p:nvSpPr>
        <p:spPr>
          <a:xfrm>
            <a:off x="2" y="4568400"/>
            <a:ext cx="1114424" cy="572286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756000" tIns="0" rIns="0" bIns="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3" name="Google Shape;83;p48"/>
          <p:cNvSpPr txBox="1">
            <a:spLocks noGrp="1"/>
          </p:cNvSpPr>
          <p:nvPr>
            <p:ph type="body" idx="2"/>
          </p:nvPr>
        </p:nvSpPr>
        <p:spPr>
          <a:xfrm>
            <a:off x="3490913" y="1302661"/>
            <a:ext cx="2084389" cy="6364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50"/>
              <a:buNone/>
              <a:defRPr sz="1650"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48"/>
          <p:cNvSpPr txBox="1">
            <a:spLocks noGrp="1"/>
          </p:cNvSpPr>
          <p:nvPr>
            <p:ph type="body" idx="3"/>
          </p:nvPr>
        </p:nvSpPr>
        <p:spPr>
          <a:xfrm>
            <a:off x="6235414" y="1302661"/>
            <a:ext cx="2084389" cy="6364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50"/>
              <a:buNone/>
              <a:defRPr sz="1650"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5" name="Google Shape;85;p48"/>
          <p:cNvSpPr>
            <a:spLocks noGrp="1"/>
          </p:cNvSpPr>
          <p:nvPr>
            <p:ph type="pic" idx="4"/>
          </p:nvPr>
        </p:nvSpPr>
        <p:spPr>
          <a:xfrm>
            <a:off x="755650" y="1943101"/>
            <a:ext cx="2087563" cy="2625298"/>
          </a:xfrm>
          <a:prstGeom prst="rect">
            <a:avLst/>
          </a:prstGeom>
          <a:noFill/>
          <a:ln>
            <a:noFill/>
          </a:ln>
        </p:spPr>
      </p:sp>
      <p:sp>
        <p:nvSpPr>
          <p:cNvPr id="86" name="Google Shape;86;p48"/>
          <p:cNvSpPr>
            <a:spLocks noGrp="1"/>
          </p:cNvSpPr>
          <p:nvPr>
            <p:ph type="pic" idx="5"/>
          </p:nvPr>
        </p:nvSpPr>
        <p:spPr>
          <a:xfrm>
            <a:off x="3487739" y="1943101"/>
            <a:ext cx="2087563" cy="2625298"/>
          </a:xfrm>
          <a:prstGeom prst="rect">
            <a:avLst/>
          </a:prstGeom>
          <a:noFill/>
          <a:ln>
            <a:noFill/>
          </a:ln>
        </p:spPr>
      </p:sp>
      <p:sp>
        <p:nvSpPr>
          <p:cNvPr id="87" name="Google Shape;87;p48"/>
          <p:cNvSpPr>
            <a:spLocks noGrp="1"/>
          </p:cNvSpPr>
          <p:nvPr>
            <p:ph type="pic" idx="6"/>
          </p:nvPr>
        </p:nvSpPr>
        <p:spPr>
          <a:xfrm>
            <a:off x="6235414" y="1943101"/>
            <a:ext cx="2087563" cy="2625298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/2 image - 1/2 text">
  <p:cSld name="1/2 image - 1/2 text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49"/>
          <p:cNvSpPr txBox="1">
            <a:spLocks noGrp="1"/>
          </p:cNvSpPr>
          <p:nvPr>
            <p:ph type="title"/>
          </p:nvPr>
        </p:nvSpPr>
        <p:spPr>
          <a:xfrm>
            <a:off x="4723518" y="586800"/>
            <a:ext cx="3600000" cy="732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50"/>
              <a:buFont typeface="Calibri"/>
              <a:buNone/>
              <a:defRPr sz="1950" b="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49"/>
          <p:cNvSpPr txBox="1">
            <a:spLocks noGrp="1"/>
          </p:cNvSpPr>
          <p:nvPr>
            <p:ph type="body" idx="1"/>
          </p:nvPr>
        </p:nvSpPr>
        <p:spPr>
          <a:xfrm>
            <a:off x="4720343" y="1295401"/>
            <a:ext cx="3598863" cy="293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5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1" name="Google Shape;91;p49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2" name="Google Shape;92;p49"/>
          <p:cNvSpPr txBox="1">
            <a:spLocks noGrp="1"/>
          </p:cNvSpPr>
          <p:nvPr>
            <p:ph type="ftr" idx="11"/>
          </p:nvPr>
        </p:nvSpPr>
        <p:spPr>
          <a:xfrm>
            <a:off x="1114426" y="4568400"/>
            <a:ext cx="7042149" cy="576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Evaluation of Quantization Methods for Neural Networks</a:t>
            </a:r>
            <a:endParaRPr/>
          </a:p>
        </p:txBody>
      </p:sp>
      <p:sp>
        <p:nvSpPr>
          <p:cNvPr id="93" name="Google Shape;93;p49"/>
          <p:cNvSpPr txBox="1">
            <a:spLocks noGrp="1"/>
          </p:cNvSpPr>
          <p:nvPr>
            <p:ph type="sldNum" idx="12"/>
          </p:nvPr>
        </p:nvSpPr>
        <p:spPr>
          <a:xfrm>
            <a:off x="2" y="4568400"/>
            <a:ext cx="1114424" cy="572286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756000" tIns="0" rIns="0" bIns="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4" name="Google Shape;94;p49"/>
          <p:cNvSpPr>
            <a:spLocks noGrp="1"/>
          </p:cNvSpPr>
          <p:nvPr>
            <p:ph type="pic" idx="2"/>
          </p:nvPr>
        </p:nvSpPr>
        <p:spPr>
          <a:xfrm>
            <a:off x="0" y="0"/>
            <a:ext cx="4354513" cy="4567238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/3 image - 2/3 text">
  <p:cSld name="1/3 image - 2/3 text"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50"/>
          <p:cNvSpPr txBox="1">
            <a:spLocks noGrp="1"/>
          </p:cNvSpPr>
          <p:nvPr>
            <p:ph type="title"/>
          </p:nvPr>
        </p:nvSpPr>
        <p:spPr>
          <a:xfrm>
            <a:off x="3494405" y="586800"/>
            <a:ext cx="4820920" cy="732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50"/>
              <a:buFont typeface="Calibri"/>
              <a:buNone/>
              <a:defRPr sz="1950" b="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50"/>
          <p:cNvSpPr txBox="1">
            <a:spLocks noGrp="1"/>
          </p:cNvSpPr>
          <p:nvPr>
            <p:ph type="body" idx="1"/>
          </p:nvPr>
        </p:nvSpPr>
        <p:spPr>
          <a:xfrm>
            <a:off x="3491230" y="1295401"/>
            <a:ext cx="4824095" cy="293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5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8" name="Google Shape;98;p5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9" name="Google Shape;99;p50"/>
          <p:cNvSpPr txBox="1">
            <a:spLocks noGrp="1"/>
          </p:cNvSpPr>
          <p:nvPr>
            <p:ph type="ftr" idx="11"/>
          </p:nvPr>
        </p:nvSpPr>
        <p:spPr>
          <a:xfrm>
            <a:off x="1114426" y="4568400"/>
            <a:ext cx="7042149" cy="576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Evaluation of Quantization Methods for Neural Networks</a:t>
            </a:r>
            <a:endParaRPr/>
          </a:p>
        </p:txBody>
      </p:sp>
      <p:sp>
        <p:nvSpPr>
          <p:cNvPr id="100" name="Google Shape;100;p50"/>
          <p:cNvSpPr txBox="1">
            <a:spLocks noGrp="1"/>
          </p:cNvSpPr>
          <p:nvPr>
            <p:ph type="sldNum" idx="12"/>
          </p:nvPr>
        </p:nvSpPr>
        <p:spPr>
          <a:xfrm>
            <a:off x="2" y="4568400"/>
            <a:ext cx="1114424" cy="572286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756000" tIns="0" rIns="0" bIns="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1" name="Google Shape;101;p50"/>
          <p:cNvSpPr>
            <a:spLocks noGrp="1"/>
          </p:cNvSpPr>
          <p:nvPr>
            <p:ph type="pic" idx="2"/>
          </p:nvPr>
        </p:nvSpPr>
        <p:spPr>
          <a:xfrm>
            <a:off x="0" y="0"/>
            <a:ext cx="3022600" cy="4567238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eading + full screen dark image">
  <p:cSld name="Heading + full screen dark image">
    <p:bg>
      <p:bgPr>
        <a:solidFill>
          <a:srgbClr val="A5A5A5"/>
        </a:solidFill>
        <a:effectLst/>
      </p:bgPr>
    </p:bg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51"/>
          <p:cNvSpPr txBox="1">
            <a:spLocks noGrp="1"/>
          </p:cNvSpPr>
          <p:nvPr>
            <p:ph type="title"/>
          </p:nvPr>
        </p:nvSpPr>
        <p:spPr>
          <a:xfrm>
            <a:off x="758825" y="518400"/>
            <a:ext cx="7556500" cy="7338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Calibri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5" name="Google Shape;105;p51"/>
          <p:cNvSpPr txBox="1">
            <a:spLocks noGrp="1"/>
          </p:cNvSpPr>
          <p:nvPr>
            <p:ph type="ftr" idx="11"/>
          </p:nvPr>
        </p:nvSpPr>
        <p:spPr>
          <a:xfrm>
            <a:off x="1114426" y="4568400"/>
            <a:ext cx="7042149" cy="576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Evaluation of Quantization Methods for Neural Networks</a:t>
            </a:r>
            <a:endParaRPr/>
          </a:p>
        </p:txBody>
      </p:sp>
      <p:sp>
        <p:nvSpPr>
          <p:cNvPr id="106" name="Google Shape;106;p51"/>
          <p:cNvSpPr txBox="1">
            <a:spLocks noGrp="1"/>
          </p:cNvSpPr>
          <p:nvPr>
            <p:ph type="sldNum" idx="12"/>
          </p:nvPr>
        </p:nvSpPr>
        <p:spPr>
          <a:xfrm>
            <a:off x="2" y="4568400"/>
            <a:ext cx="1114424" cy="572286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756000" tIns="0" rIns="0" bIns="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eading + full screen light image">
  <p:cSld name="Heading + full screen light image">
    <p:bg>
      <p:bgPr>
        <a:solidFill>
          <a:srgbClr val="F2F2F2"/>
        </a:solidFill>
        <a:effectLst/>
      </p:bgPr>
    </p:bg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52"/>
          <p:cNvSpPr txBox="1">
            <a:spLocks noGrp="1"/>
          </p:cNvSpPr>
          <p:nvPr>
            <p:ph type="title"/>
          </p:nvPr>
        </p:nvSpPr>
        <p:spPr>
          <a:xfrm>
            <a:off x="758825" y="518400"/>
            <a:ext cx="7556500" cy="7338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Calibri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9" name="Google Shape;109;p5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0" name="Google Shape;110;p52"/>
          <p:cNvSpPr txBox="1">
            <a:spLocks noGrp="1"/>
          </p:cNvSpPr>
          <p:nvPr>
            <p:ph type="ftr" idx="11"/>
          </p:nvPr>
        </p:nvSpPr>
        <p:spPr>
          <a:xfrm>
            <a:off x="1114426" y="4568400"/>
            <a:ext cx="7042149" cy="576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Evaluation of Quantization Methods for Neural Networks</a:t>
            </a:r>
            <a:endParaRPr/>
          </a:p>
        </p:txBody>
      </p:sp>
      <p:sp>
        <p:nvSpPr>
          <p:cNvPr id="111" name="Google Shape;111;p52"/>
          <p:cNvSpPr txBox="1">
            <a:spLocks noGrp="1"/>
          </p:cNvSpPr>
          <p:nvPr>
            <p:ph type="sldNum" idx="12"/>
          </p:nvPr>
        </p:nvSpPr>
        <p:spPr>
          <a:xfrm>
            <a:off x="2" y="4568400"/>
            <a:ext cx="1114424" cy="572286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756000" tIns="0" rIns="0" bIns="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White background">
  <p:cSld name="White background">
    <p:bg>
      <p:bgPr>
        <a:solidFill>
          <a:schemeClr val="lt1"/>
        </a:solidFill>
        <a:effectLst/>
      </p:bgPr>
    </p:bg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3"/>
          <p:cNvSpPr txBox="1">
            <a:spLocks noGrp="1"/>
          </p:cNvSpPr>
          <p:nvPr>
            <p:ph type="title"/>
          </p:nvPr>
        </p:nvSpPr>
        <p:spPr>
          <a:xfrm>
            <a:off x="758825" y="518400"/>
            <a:ext cx="7556500" cy="7338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Calibri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5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5" name="Google Shape;115;p53"/>
          <p:cNvSpPr txBox="1">
            <a:spLocks noGrp="1"/>
          </p:cNvSpPr>
          <p:nvPr>
            <p:ph type="ftr" idx="11"/>
          </p:nvPr>
        </p:nvSpPr>
        <p:spPr>
          <a:xfrm>
            <a:off x="1114426" y="4568400"/>
            <a:ext cx="7042149" cy="576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Evaluation of Quantization Methods for Neural Networks</a:t>
            </a:r>
            <a:endParaRPr/>
          </a:p>
        </p:txBody>
      </p:sp>
      <p:sp>
        <p:nvSpPr>
          <p:cNvPr id="116" name="Google Shape;116;p53"/>
          <p:cNvSpPr txBox="1">
            <a:spLocks noGrp="1"/>
          </p:cNvSpPr>
          <p:nvPr>
            <p:ph type="sldNum" idx="12"/>
          </p:nvPr>
        </p:nvSpPr>
        <p:spPr>
          <a:xfrm>
            <a:off x="2" y="4568400"/>
            <a:ext cx="1114424" cy="572286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756000" tIns="0" rIns="0" bIns="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117" name="Google Shape;117;p53"/>
          <p:cNvCxnSpPr/>
          <p:nvPr/>
        </p:nvCxnSpPr>
        <p:spPr>
          <a:xfrm>
            <a:off x="0" y="4563782"/>
            <a:ext cx="91440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18" name="Google Shape;118;p53"/>
          <p:cNvSpPr>
            <a:spLocks noGrp="1"/>
          </p:cNvSpPr>
          <p:nvPr>
            <p:ph type="pic" idx="2"/>
          </p:nvPr>
        </p:nvSpPr>
        <p:spPr>
          <a:xfrm>
            <a:off x="1890000" y="1299075"/>
            <a:ext cx="5292725" cy="29772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carlet background">
  <p:cSld name="Scarlet background">
    <p:bg>
      <p:bgPr>
        <a:solidFill>
          <a:schemeClr val="dk2"/>
        </a:solidFill>
        <a:effectLst/>
      </p:bgPr>
    </p:bg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54"/>
          <p:cNvSpPr txBox="1">
            <a:spLocks noGrp="1"/>
          </p:cNvSpPr>
          <p:nvPr>
            <p:ph type="title"/>
          </p:nvPr>
        </p:nvSpPr>
        <p:spPr>
          <a:xfrm>
            <a:off x="758825" y="518711"/>
            <a:ext cx="7556500" cy="539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Calibri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1" name="Google Shape;121;p54"/>
          <p:cNvSpPr txBox="1">
            <a:spLocks noGrp="1"/>
          </p:cNvSpPr>
          <p:nvPr>
            <p:ph type="body" idx="1"/>
          </p:nvPr>
        </p:nvSpPr>
        <p:spPr>
          <a:xfrm>
            <a:off x="758824" y="1306642"/>
            <a:ext cx="7556501" cy="29224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50"/>
              <a:buNone/>
              <a:defRPr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50"/>
              <a:buNone/>
              <a:defRPr>
                <a:solidFill>
                  <a:schemeClr val="lt1"/>
                </a:solidFill>
              </a:defRPr>
            </a:lvl2pPr>
            <a:lvl3pPr marL="1371600" lvl="2" indent="-33337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50"/>
              <a:buChar char="•"/>
              <a:defRPr>
                <a:solidFill>
                  <a:schemeClr val="lt1"/>
                </a:solidFill>
              </a:defRPr>
            </a:lvl3pPr>
            <a:lvl4pPr marL="1828800" lvl="3" indent="-33337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50"/>
              <a:buChar char="•"/>
              <a:defRPr>
                <a:solidFill>
                  <a:schemeClr val="lt1"/>
                </a:solidFill>
              </a:defRPr>
            </a:lvl4pPr>
            <a:lvl5pPr marL="2286000" lvl="4" indent="-33337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50"/>
              <a:buChar char="•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2" name="Google Shape;122;p54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3" name="Google Shape;123;p54"/>
          <p:cNvSpPr txBox="1">
            <a:spLocks noGrp="1"/>
          </p:cNvSpPr>
          <p:nvPr>
            <p:ph type="ftr" idx="11"/>
          </p:nvPr>
        </p:nvSpPr>
        <p:spPr>
          <a:xfrm>
            <a:off x="1114426" y="4568400"/>
            <a:ext cx="7042149" cy="576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Evaluation of Quantization Methods for Neural Networks</a:t>
            </a:r>
            <a:endParaRPr/>
          </a:p>
        </p:txBody>
      </p:sp>
      <p:sp>
        <p:nvSpPr>
          <p:cNvPr id="124" name="Google Shape;124;p54"/>
          <p:cNvSpPr txBox="1">
            <a:spLocks noGrp="1"/>
          </p:cNvSpPr>
          <p:nvPr>
            <p:ph type="sldNum" idx="12"/>
          </p:nvPr>
        </p:nvSpPr>
        <p:spPr>
          <a:xfrm>
            <a:off x="2" y="4568400"/>
            <a:ext cx="1114424" cy="572286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756000" tIns="0" rIns="0" bIns="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+ text">
  <p:cSld name="Table + text"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55"/>
          <p:cNvSpPr txBox="1">
            <a:spLocks noGrp="1"/>
          </p:cNvSpPr>
          <p:nvPr>
            <p:ph type="title"/>
          </p:nvPr>
        </p:nvSpPr>
        <p:spPr>
          <a:xfrm>
            <a:off x="755650" y="586800"/>
            <a:ext cx="7563556" cy="5163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50"/>
              <a:buFont typeface="Calibri"/>
              <a:buNone/>
              <a:defRPr sz="1950" b="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7" name="Google Shape;127;p55"/>
          <p:cNvSpPr txBox="1">
            <a:spLocks noGrp="1"/>
          </p:cNvSpPr>
          <p:nvPr>
            <p:ph type="body" idx="1"/>
          </p:nvPr>
        </p:nvSpPr>
        <p:spPr>
          <a:xfrm>
            <a:off x="755651" y="2638425"/>
            <a:ext cx="7563556" cy="1590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5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8" name="Google Shape;128;p55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9" name="Google Shape;129;p55"/>
          <p:cNvSpPr txBox="1">
            <a:spLocks noGrp="1"/>
          </p:cNvSpPr>
          <p:nvPr>
            <p:ph type="ftr" idx="11"/>
          </p:nvPr>
        </p:nvSpPr>
        <p:spPr>
          <a:xfrm>
            <a:off x="1114426" y="4568400"/>
            <a:ext cx="7042149" cy="576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Evaluation of Quantization Methods for Neural Networks</a:t>
            </a:r>
            <a:endParaRPr/>
          </a:p>
        </p:txBody>
      </p:sp>
      <p:sp>
        <p:nvSpPr>
          <p:cNvPr id="130" name="Google Shape;130;p55"/>
          <p:cNvSpPr txBox="1">
            <a:spLocks noGrp="1"/>
          </p:cNvSpPr>
          <p:nvPr>
            <p:ph type="sldNum" idx="12"/>
          </p:nvPr>
        </p:nvSpPr>
        <p:spPr>
          <a:xfrm>
            <a:off x="2" y="4568400"/>
            <a:ext cx="1114424" cy="572286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756000" tIns="0" rIns="0" bIns="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hart">
  <p:cSld name="Chart"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56"/>
          <p:cNvSpPr txBox="1">
            <a:spLocks noGrp="1"/>
          </p:cNvSpPr>
          <p:nvPr>
            <p:ph type="title"/>
          </p:nvPr>
        </p:nvSpPr>
        <p:spPr>
          <a:xfrm>
            <a:off x="755650" y="586800"/>
            <a:ext cx="7563556" cy="5163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50"/>
              <a:buFont typeface="Calibri"/>
              <a:buNone/>
              <a:defRPr sz="1950" b="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3" name="Google Shape;133;p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4" name="Google Shape;134;p56"/>
          <p:cNvSpPr txBox="1">
            <a:spLocks noGrp="1"/>
          </p:cNvSpPr>
          <p:nvPr>
            <p:ph type="ftr" idx="11"/>
          </p:nvPr>
        </p:nvSpPr>
        <p:spPr>
          <a:xfrm>
            <a:off x="1114426" y="4568400"/>
            <a:ext cx="7042149" cy="576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Evaluation of Quantization Methods for Neural Networks</a:t>
            </a:r>
            <a:endParaRPr/>
          </a:p>
        </p:txBody>
      </p:sp>
      <p:sp>
        <p:nvSpPr>
          <p:cNvPr id="135" name="Google Shape;135;p56"/>
          <p:cNvSpPr txBox="1">
            <a:spLocks noGrp="1"/>
          </p:cNvSpPr>
          <p:nvPr>
            <p:ph type="sldNum" idx="12"/>
          </p:nvPr>
        </p:nvSpPr>
        <p:spPr>
          <a:xfrm>
            <a:off x="2" y="4568400"/>
            <a:ext cx="1114424" cy="572286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756000" tIns="0" rIns="0" bIns="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6" name="Google Shape;136;p56"/>
          <p:cNvSpPr>
            <a:spLocks noGrp="1"/>
          </p:cNvSpPr>
          <p:nvPr>
            <p:ph type="chart" idx="2"/>
          </p:nvPr>
        </p:nvSpPr>
        <p:spPr>
          <a:xfrm>
            <a:off x="755650" y="1079500"/>
            <a:ext cx="7559675" cy="314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50"/>
              <a:buFont typeface="Arial"/>
              <a:buNone/>
              <a:defRPr sz="19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50"/>
              <a:buFont typeface="Arial"/>
              <a:buNone/>
              <a:defRPr sz="16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50"/>
              <a:buFont typeface="Arial"/>
              <a:buChar char="•"/>
              <a:defRPr sz="16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50"/>
              <a:buFont typeface="Arial"/>
              <a:buChar char="•"/>
              <a:defRPr sz="16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50"/>
              <a:buFont typeface="Arial"/>
              <a:buChar char="•"/>
              <a:defRPr sz="16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8E8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8"/>
          <p:cNvSpPr txBox="1">
            <a:spLocks noGrp="1"/>
          </p:cNvSpPr>
          <p:nvPr>
            <p:ph type="sldNum" idx="12"/>
          </p:nvPr>
        </p:nvSpPr>
        <p:spPr>
          <a:xfrm>
            <a:off x="2" y="4568400"/>
            <a:ext cx="1114424" cy="572286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756000" tIns="0" rIns="0" bIns="0" anchor="ctr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" name="Google Shape;11;p38"/>
          <p:cNvSpPr txBox="1">
            <a:spLocks noGrp="1"/>
          </p:cNvSpPr>
          <p:nvPr>
            <p:ph type="title"/>
          </p:nvPr>
        </p:nvSpPr>
        <p:spPr>
          <a:xfrm>
            <a:off x="758825" y="518711"/>
            <a:ext cx="7556500" cy="539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Calibri"/>
              <a:buNone/>
              <a:defRPr sz="27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2" name="Google Shape;12;p38"/>
          <p:cNvSpPr txBox="1">
            <a:spLocks noGrp="1"/>
          </p:cNvSpPr>
          <p:nvPr>
            <p:ph type="body" idx="1"/>
          </p:nvPr>
        </p:nvSpPr>
        <p:spPr>
          <a:xfrm>
            <a:off x="758824" y="1306642"/>
            <a:ext cx="7556501" cy="29224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50"/>
              <a:buFont typeface="Arial"/>
              <a:buNone/>
              <a:defRPr sz="19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50"/>
              <a:buFont typeface="Arial"/>
              <a:buNone/>
              <a:defRPr sz="16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3337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50"/>
              <a:buFont typeface="Arial"/>
              <a:buChar char="•"/>
              <a:defRPr sz="16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3337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50"/>
              <a:buFont typeface="Arial"/>
              <a:buChar char="•"/>
              <a:defRPr sz="16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3337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50"/>
              <a:buFont typeface="Arial"/>
              <a:buChar char="•"/>
              <a:defRPr sz="16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38"/>
          <p:cNvSpPr txBox="1">
            <a:spLocks noGrp="1"/>
          </p:cNvSpPr>
          <p:nvPr>
            <p:ph type="ftr" idx="11"/>
          </p:nvPr>
        </p:nvSpPr>
        <p:spPr>
          <a:xfrm>
            <a:off x="1114426" y="4568400"/>
            <a:ext cx="7042149" cy="576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en-US"/>
              <a:t>Evaluation of Quantization Methods for Neural Networks</a:t>
            </a:r>
            <a:endParaRPr/>
          </a:p>
        </p:txBody>
      </p:sp>
      <p:pic>
        <p:nvPicPr>
          <p:cNvPr id="14" name="Google Shape;14;p38"/>
          <p:cNvPicPr preferRelativeResize="0"/>
          <p:nvPr/>
        </p:nvPicPr>
        <p:blipFill rotWithShape="1">
          <a:blip r:embed="rId20">
            <a:alphaModFix/>
          </a:blip>
          <a:srcRect/>
          <a:stretch/>
        </p:blipFill>
        <p:spPr>
          <a:xfrm>
            <a:off x="8156575" y="4568825"/>
            <a:ext cx="987425" cy="574675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  <p:hf hd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2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11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5.png"/><Relationship Id="rId11" Type="http://schemas.openxmlformats.org/officeDocument/2006/relationships/image" Target="../media/image8.png"/><Relationship Id="rId5" Type="http://schemas.openxmlformats.org/officeDocument/2006/relationships/image" Target="../media/image14.png"/><Relationship Id="rId10" Type="http://schemas.openxmlformats.org/officeDocument/2006/relationships/image" Target="../media/image7.png"/><Relationship Id="rId4" Type="http://schemas.openxmlformats.org/officeDocument/2006/relationships/image" Target="../media/image13.png"/><Relationship Id="rId9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Relationship Id="rId5" Type="http://schemas.openxmlformats.org/officeDocument/2006/relationships/chart" Target="../charts/chart4.xml"/><Relationship Id="rId4" Type="http://schemas.openxmlformats.org/officeDocument/2006/relationships/chart" Target="../charts/char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1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4.png"/><Relationship Id="rId10" Type="http://schemas.openxmlformats.org/officeDocument/2006/relationships/image" Target="../media/image8.png"/><Relationship Id="rId4" Type="http://schemas.openxmlformats.org/officeDocument/2006/relationships/image" Target="../media/image13.png"/><Relationship Id="rId9" Type="http://schemas.openxmlformats.org/officeDocument/2006/relationships/image" Target="../media/image7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5.png"/><Relationship Id="rId4" Type="http://schemas.openxmlformats.org/officeDocument/2006/relationships/image" Target="../media/image11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"/>
          <p:cNvSpPr txBox="1">
            <a:spLocks noGrp="1"/>
          </p:cNvSpPr>
          <p:nvPr>
            <p:ph type="ctrTitle"/>
          </p:nvPr>
        </p:nvSpPr>
        <p:spPr>
          <a:xfrm>
            <a:off x="-1" y="756049"/>
            <a:ext cx="9143999" cy="792000"/>
          </a:xfrm>
          <a:prstGeom prst="rect">
            <a:avLst/>
          </a:prstGeom>
          <a:solidFill>
            <a:schemeClr val="dk2">
              <a:alpha val="49803"/>
            </a:schemeClr>
          </a:solidFill>
          <a:ln>
            <a:noFill/>
          </a:ln>
        </p:spPr>
        <p:txBody>
          <a:bodyPr spcFirstLastPara="1" wrap="square" lIns="756000" tIns="0" rIns="1962000" bIns="0" anchor="ctr" anchorCtr="0">
            <a:noAutofit/>
          </a:bodyPr>
          <a:lstStyle/>
          <a:p>
            <a:pPr marL="0" lvl="0" indent="0" algn="l" rtl="0">
              <a:lnSpc>
                <a:spcPct val="104545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Arial"/>
              <a:buNone/>
            </a:pPr>
            <a:r>
              <a:rPr lang="en-GB" dirty="0">
                <a:latin typeface="Arial"/>
                <a:ea typeface="Arial"/>
                <a:cs typeface="Arial"/>
                <a:sym typeface="Arial"/>
              </a:rPr>
              <a:t>Evaluation of Quantization Methods for</a:t>
            </a:r>
            <a:br>
              <a:rPr lang="en-GB" dirty="0"/>
            </a:br>
            <a:r>
              <a:rPr lang="en-GB" dirty="0">
                <a:latin typeface="Arial"/>
                <a:ea typeface="Arial"/>
                <a:cs typeface="Arial"/>
                <a:sym typeface="Arial"/>
              </a:rPr>
              <a:t>Neural Networks</a:t>
            </a:r>
            <a:endParaRPr dirty="0"/>
          </a:p>
        </p:txBody>
      </p:sp>
      <p:sp>
        <p:nvSpPr>
          <p:cNvPr id="143" name="Google Shape;143;p1"/>
          <p:cNvSpPr txBox="1">
            <a:spLocks noGrp="1"/>
          </p:cNvSpPr>
          <p:nvPr>
            <p:ph type="subTitle" idx="1"/>
          </p:nvPr>
        </p:nvSpPr>
        <p:spPr>
          <a:xfrm>
            <a:off x="-1" y="1548000"/>
            <a:ext cx="9143999" cy="288000"/>
          </a:xfrm>
          <a:prstGeom prst="rect">
            <a:avLst/>
          </a:prstGeom>
          <a:solidFill>
            <a:schemeClr val="dk2">
              <a:alpha val="49803"/>
            </a:schemeClr>
          </a:solidFill>
          <a:ln>
            <a:noFill/>
          </a:ln>
        </p:spPr>
        <p:txBody>
          <a:bodyPr spcFirstLastPara="1" wrap="square" lIns="756000" tIns="18000" rIns="196200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</a:pPr>
            <a:r>
              <a:rPr lang="en-GB"/>
              <a:t>JUNAID MUNDICHIPPARAKKAL</a:t>
            </a:r>
            <a:endParaRPr/>
          </a:p>
        </p:txBody>
      </p:sp>
      <p:sp>
        <p:nvSpPr>
          <p:cNvPr id="144" name="Google Shape;144;p1"/>
          <p:cNvSpPr txBox="1">
            <a:spLocks noGrp="1"/>
          </p:cNvSpPr>
          <p:nvPr>
            <p:ph type="body" idx="2"/>
          </p:nvPr>
        </p:nvSpPr>
        <p:spPr>
          <a:xfrm>
            <a:off x="0" y="3307501"/>
            <a:ext cx="9143999" cy="1259737"/>
          </a:xfrm>
          <a:prstGeom prst="rect">
            <a:avLst/>
          </a:prstGeom>
          <a:solidFill>
            <a:srgbClr val="000000">
              <a:alpha val="24705"/>
            </a:srgbClr>
          </a:solidFill>
          <a:ln>
            <a:noFill/>
          </a:ln>
        </p:spPr>
        <p:txBody>
          <a:bodyPr spcFirstLastPara="1" wrap="square" lIns="756000" tIns="0" rIns="0" bIns="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-GB" dirty="0"/>
              <a:t>Master Thesis Presentation</a:t>
            </a: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</a:pPr>
            <a:r>
              <a:rPr lang="en-GB" sz="800" dirty="0"/>
              <a:t>22</a:t>
            </a:r>
            <a:r>
              <a:rPr lang="en-GB" sz="800" baseline="30000" dirty="0"/>
              <a:t>nd</a:t>
            </a:r>
            <a:r>
              <a:rPr lang="en-GB" sz="800" dirty="0"/>
              <a:t> December 2022</a:t>
            </a:r>
            <a:endParaRPr dirty="0"/>
          </a:p>
        </p:txBody>
      </p:sp>
      <p:sp>
        <p:nvSpPr>
          <p:cNvPr id="145" name="Google Shape;145;p1"/>
          <p:cNvSpPr txBox="1">
            <a:spLocks noGrp="1"/>
          </p:cNvSpPr>
          <p:nvPr>
            <p:ph type="body" idx="3"/>
          </p:nvPr>
        </p:nvSpPr>
        <p:spPr>
          <a:xfrm>
            <a:off x="-6667" y="4567237"/>
            <a:ext cx="7347267" cy="57626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756000" tIns="0" rIns="0" bIns="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US" dirty="0"/>
              <a:t>Department of Mathematics and Computer Science</a:t>
            </a:r>
            <a:endParaRPr dirty="0"/>
          </a:p>
        </p:txBody>
      </p:sp>
      <p:sp>
        <p:nvSpPr>
          <p:cNvPr id="146" name="Google Shape;146;p1"/>
          <p:cNvSpPr txBox="1"/>
          <p:nvPr/>
        </p:nvSpPr>
        <p:spPr>
          <a:xfrm>
            <a:off x="2471979" y="3457523"/>
            <a:ext cx="3014421" cy="9541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Committee: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dr. ir.  Wil Michiels</a:t>
            </a:r>
            <a:endParaRPr sz="1400" b="1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dr. ir.  Sibylle Hess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ir. Frits Schalij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"/>
          <p:cNvSpPr txBox="1">
            <a:spLocks noGrp="1"/>
          </p:cNvSpPr>
          <p:nvPr>
            <p:ph type="title"/>
          </p:nvPr>
        </p:nvSpPr>
        <p:spPr>
          <a:xfrm>
            <a:off x="237331" y="240105"/>
            <a:ext cx="7556500" cy="539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Calibri"/>
              <a:buNone/>
            </a:pPr>
            <a:r>
              <a:rPr lang="en-GB"/>
              <a:t>Overview</a:t>
            </a:r>
            <a:endParaRPr/>
          </a:p>
        </p:txBody>
      </p:sp>
      <p:sp>
        <p:nvSpPr>
          <p:cNvPr id="152" name="Google Shape;152;p2"/>
          <p:cNvSpPr txBox="1">
            <a:spLocks noGrp="1"/>
          </p:cNvSpPr>
          <p:nvPr>
            <p:ph type="ftr" idx="11"/>
          </p:nvPr>
        </p:nvSpPr>
        <p:spPr>
          <a:xfrm>
            <a:off x="1114426" y="4568400"/>
            <a:ext cx="7042149" cy="576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Evaluation of Quantization Methods for Neural Networks</a:t>
            </a:r>
            <a:endParaRPr/>
          </a:p>
        </p:txBody>
      </p:sp>
      <p:sp>
        <p:nvSpPr>
          <p:cNvPr id="153" name="Google Shape;153;p2"/>
          <p:cNvSpPr txBox="1">
            <a:spLocks noGrp="1"/>
          </p:cNvSpPr>
          <p:nvPr>
            <p:ph type="sldNum" idx="12"/>
          </p:nvPr>
        </p:nvSpPr>
        <p:spPr>
          <a:xfrm>
            <a:off x="2" y="4568400"/>
            <a:ext cx="1114424" cy="572286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75600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2</a:t>
            </a:fld>
            <a:endParaRPr/>
          </a:p>
        </p:txBody>
      </p:sp>
      <p:sp>
        <p:nvSpPr>
          <p:cNvPr id="154" name="Google Shape;154;p2"/>
          <p:cNvSpPr txBox="1">
            <a:spLocks noGrp="1"/>
          </p:cNvSpPr>
          <p:nvPr>
            <p:ph type="body" idx="1"/>
          </p:nvPr>
        </p:nvSpPr>
        <p:spPr>
          <a:xfrm>
            <a:off x="719411" y="1023319"/>
            <a:ext cx="7556500" cy="37164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AutoNum type="arabicPeriod"/>
            </a:pPr>
            <a:r>
              <a:rPr lang="en-GB" sz="2400" dirty="0"/>
              <a:t>Context</a:t>
            </a:r>
            <a:endParaRPr sz="2400" dirty="0"/>
          </a:p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AutoNum type="arabicPeriod"/>
            </a:pPr>
            <a:r>
              <a:rPr lang="en-GB" sz="2400" dirty="0"/>
              <a:t>Thesis Objectives</a:t>
            </a:r>
            <a:endParaRPr sz="2400" dirty="0"/>
          </a:p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AutoNum type="arabicPeriod"/>
            </a:pPr>
            <a:r>
              <a:rPr lang="en-GB" sz="2400" dirty="0"/>
              <a:t>Background</a:t>
            </a:r>
            <a:endParaRPr sz="2400" dirty="0"/>
          </a:p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AutoNum type="arabicPeriod"/>
            </a:pPr>
            <a:r>
              <a:rPr lang="en-GB" sz="2400" dirty="0"/>
              <a:t>Experiment Plan</a:t>
            </a:r>
            <a:endParaRPr sz="2400" dirty="0"/>
          </a:p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AutoNum type="arabicPeriod"/>
            </a:pPr>
            <a:r>
              <a:rPr lang="en-GB" sz="2400" dirty="0"/>
              <a:t>Experiment Results</a:t>
            </a:r>
            <a:endParaRPr sz="2400" dirty="0"/>
          </a:p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AutoNum type="arabicPeriod"/>
            </a:pPr>
            <a:r>
              <a:rPr lang="en-GB" sz="2400" dirty="0"/>
              <a:t>Conclusion and Future Work</a:t>
            </a:r>
            <a:endParaRPr sz="2400" dirty="0"/>
          </a:p>
          <a:p>
            <a:pPr marL="342900" lvl="0" indent="-21907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50"/>
              <a:buNone/>
            </a:pPr>
            <a:endParaRPr dirty="0"/>
          </a:p>
          <a:p>
            <a:pPr marL="342900" lvl="0" indent="-21907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50"/>
              <a:buNone/>
            </a:pPr>
            <a:endParaRPr dirty="0"/>
          </a:p>
          <a:p>
            <a:pPr marL="342900" lvl="0" indent="-21907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50"/>
              <a:buNone/>
            </a:pPr>
            <a:endParaRPr dirty="0"/>
          </a:p>
          <a:p>
            <a:pPr marL="342900" lvl="0" indent="-21907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50"/>
              <a:buNone/>
            </a:pPr>
            <a:endParaRPr dirty="0"/>
          </a:p>
          <a:p>
            <a:pPr marL="342900" lvl="0" indent="-21907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50"/>
              <a:buNone/>
            </a:pPr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3"/>
          <p:cNvSpPr txBox="1">
            <a:spLocks noGrp="1"/>
          </p:cNvSpPr>
          <p:nvPr>
            <p:ph type="title"/>
          </p:nvPr>
        </p:nvSpPr>
        <p:spPr>
          <a:xfrm>
            <a:off x="237331" y="240105"/>
            <a:ext cx="7556500" cy="539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Calibri"/>
              <a:buNone/>
            </a:pPr>
            <a:r>
              <a:rPr lang="en-GB"/>
              <a:t>Machine Learning</a:t>
            </a:r>
            <a:br>
              <a:rPr lang="en-GB"/>
            </a:br>
            <a:endParaRPr/>
          </a:p>
        </p:txBody>
      </p:sp>
      <p:sp>
        <p:nvSpPr>
          <p:cNvPr id="161" name="Google Shape;161;p3"/>
          <p:cNvSpPr txBox="1">
            <a:spLocks noGrp="1"/>
          </p:cNvSpPr>
          <p:nvPr>
            <p:ph type="ftr" idx="11"/>
          </p:nvPr>
        </p:nvSpPr>
        <p:spPr>
          <a:xfrm>
            <a:off x="1114426" y="4568400"/>
            <a:ext cx="7042149" cy="576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Evaluation of Quantization Methods for Neural Networks</a:t>
            </a:r>
            <a:endParaRPr/>
          </a:p>
        </p:txBody>
      </p:sp>
      <p:sp>
        <p:nvSpPr>
          <p:cNvPr id="162" name="Google Shape;162;p3"/>
          <p:cNvSpPr txBox="1">
            <a:spLocks noGrp="1"/>
          </p:cNvSpPr>
          <p:nvPr>
            <p:ph type="sldNum" idx="12"/>
          </p:nvPr>
        </p:nvSpPr>
        <p:spPr>
          <a:xfrm>
            <a:off x="2" y="4568400"/>
            <a:ext cx="1114424" cy="572286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75600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3</a:t>
            </a:fld>
            <a:endParaRPr/>
          </a:p>
        </p:txBody>
      </p:sp>
      <p:sp>
        <p:nvSpPr>
          <p:cNvPr id="164" name="Google Shape;164;p3"/>
          <p:cNvSpPr/>
          <p:nvPr/>
        </p:nvSpPr>
        <p:spPr>
          <a:xfrm>
            <a:off x="1827672" y="1941264"/>
            <a:ext cx="2331720" cy="1090749"/>
          </a:xfrm>
          <a:prstGeom prst="rect">
            <a:avLst/>
          </a:prstGeom>
          <a:solidFill>
            <a:srgbClr val="D7D7DF"/>
          </a:solidFill>
          <a:ln w="381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Machine Learning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Applications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65" name="Google Shape;165;p3"/>
          <p:cNvGrpSpPr/>
          <p:nvPr/>
        </p:nvGrpSpPr>
        <p:grpSpPr>
          <a:xfrm>
            <a:off x="1342619" y="962602"/>
            <a:ext cx="1845744" cy="647212"/>
            <a:chOff x="3292949" y="880622"/>
            <a:chExt cx="1845744" cy="647212"/>
          </a:xfrm>
        </p:grpSpPr>
        <p:sp>
          <p:nvSpPr>
            <p:cNvPr id="166" name="Google Shape;166;p3"/>
            <p:cNvSpPr txBox="1"/>
            <p:nvPr/>
          </p:nvSpPr>
          <p:spPr>
            <a:xfrm>
              <a:off x="3292949" y="1227752"/>
              <a:ext cx="1845744" cy="3000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35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Autonomous vehicles</a:t>
              </a: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67" name="Google Shape;167;p3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4027656" y="880622"/>
              <a:ext cx="376330" cy="37633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68" name="Google Shape;168;p3"/>
          <p:cNvGrpSpPr/>
          <p:nvPr/>
        </p:nvGrpSpPr>
        <p:grpSpPr>
          <a:xfrm>
            <a:off x="3230752" y="3381218"/>
            <a:ext cx="1136703" cy="657604"/>
            <a:chOff x="6448057" y="2149911"/>
            <a:chExt cx="1136703" cy="657604"/>
          </a:xfrm>
        </p:grpSpPr>
        <p:sp>
          <p:nvSpPr>
            <p:cNvPr id="169" name="Google Shape;169;p3"/>
            <p:cNvSpPr txBox="1"/>
            <p:nvPr/>
          </p:nvSpPr>
          <p:spPr>
            <a:xfrm>
              <a:off x="6448057" y="2507433"/>
              <a:ext cx="1136703" cy="3000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35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Smartphones</a:t>
              </a:r>
              <a:endParaRPr sz="1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70" name="Google Shape;170;p3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6840074" y="2149911"/>
              <a:ext cx="352671" cy="352671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71" name="Google Shape;171;p3"/>
          <p:cNvGrpSpPr/>
          <p:nvPr/>
        </p:nvGrpSpPr>
        <p:grpSpPr>
          <a:xfrm>
            <a:off x="2853216" y="969831"/>
            <a:ext cx="1845744" cy="640560"/>
            <a:chOff x="4941736" y="856664"/>
            <a:chExt cx="1845744" cy="640560"/>
          </a:xfrm>
        </p:grpSpPr>
        <p:sp>
          <p:nvSpPr>
            <p:cNvPr id="172" name="Google Shape;172;p3"/>
            <p:cNvSpPr txBox="1"/>
            <p:nvPr/>
          </p:nvSpPr>
          <p:spPr>
            <a:xfrm>
              <a:off x="4941736" y="1197142"/>
              <a:ext cx="1845744" cy="3000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35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Home automation</a:t>
              </a:r>
              <a:endParaRPr sz="1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73" name="Google Shape;173;p3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676443" y="856664"/>
              <a:ext cx="376329" cy="376329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74" name="Google Shape;174;p3"/>
          <p:cNvGrpSpPr/>
          <p:nvPr/>
        </p:nvGrpSpPr>
        <p:grpSpPr>
          <a:xfrm>
            <a:off x="138155" y="1962925"/>
            <a:ext cx="1085850" cy="674938"/>
            <a:chOff x="1102089" y="1701173"/>
            <a:chExt cx="1085850" cy="674938"/>
          </a:xfrm>
        </p:grpSpPr>
        <p:sp>
          <p:nvSpPr>
            <p:cNvPr id="175" name="Google Shape;175;p3"/>
            <p:cNvSpPr txBox="1"/>
            <p:nvPr/>
          </p:nvSpPr>
          <p:spPr>
            <a:xfrm>
              <a:off x="1102089" y="2076029"/>
              <a:ext cx="1085850" cy="3000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35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Healthcare</a:t>
              </a:r>
              <a:endParaRPr sz="1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76" name="Google Shape;176;p3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1348721" y="1701173"/>
              <a:ext cx="403282" cy="403282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77" name="Google Shape;177;p3"/>
          <p:cNvGrpSpPr/>
          <p:nvPr/>
        </p:nvGrpSpPr>
        <p:grpSpPr>
          <a:xfrm>
            <a:off x="1707272" y="3382865"/>
            <a:ext cx="1085850" cy="669367"/>
            <a:chOff x="3474222" y="3879009"/>
            <a:chExt cx="1085850" cy="630973"/>
          </a:xfrm>
        </p:grpSpPr>
        <p:sp>
          <p:nvSpPr>
            <p:cNvPr id="178" name="Google Shape;178;p3"/>
            <p:cNvSpPr txBox="1"/>
            <p:nvPr/>
          </p:nvSpPr>
          <p:spPr>
            <a:xfrm>
              <a:off x="3474222" y="4209900"/>
              <a:ext cx="1085850" cy="3000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35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Security</a:t>
              </a:r>
              <a:endParaRPr sz="1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79" name="Google Shape;179;p3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3844276" y="3879009"/>
              <a:ext cx="382933" cy="382933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180" name="Google Shape;180;p3"/>
          <p:cNvCxnSpPr>
            <a:stCxn id="164" idx="1"/>
          </p:cNvCxnSpPr>
          <p:nvPr/>
        </p:nvCxnSpPr>
        <p:spPr>
          <a:xfrm rot="10800000">
            <a:off x="1450272" y="2486639"/>
            <a:ext cx="3774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81" name="Google Shape;181;p3"/>
          <p:cNvCxnSpPr/>
          <p:nvPr/>
        </p:nvCxnSpPr>
        <p:spPr>
          <a:xfrm rot="10800000">
            <a:off x="2250197" y="1630100"/>
            <a:ext cx="0" cy="311164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82" name="Google Shape;182;p3"/>
          <p:cNvCxnSpPr/>
          <p:nvPr/>
        </p:nvCxnSpPr>
        <p:spPr>
          <a:xfrm rot="10800000">
            <a:off x="3776088" y="1630100"/>
            <a:ext cx="0" cy="311164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83" name="Google Shape;183;p3"/>
          <p:cNvCxnSpPr/>
          <p:nvPr/>
        </p:nvCxnSpPr>
        <p:spPr>
          <a:xfrm>
            <a:off x="2265491" y="3047203"/>
            <a:ext cx="0" cy="318341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184" name="Google Shape;184;p3"/>
          <p:cNvSpPr/>
          <p:nvPr/>
        </p:nvSpPr>
        <p:spPr>
          <a:xfrm>
            <a:off x="6207531" y="1630100"/>
            <a:ext cx="2570352" cy="1712191"/>
          </a:xfrm>
          <a:prstGeom prst="rect">
            <a:avLst/>
          </a:prstGeom>
          <a:solidFill>
            <a:srgbClr val="F9CACB"/>
          </a:solidFill>
          <a:ln w="12700" cap="flat" cmpd="sng">
            <a:solidFill>
              <a:srgbClr val="91121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Neural networks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5" name="Google Shape;185;p3" descr="Diagram&#10;&#10;Description automatically generated"/>
          <p:cNvPicPr preferRelativeResize="0"/>
          <p:nvPr/>
        </p:nvPicPr>
        <p:blipFill rotWithShape="1"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alphaModFix/>
          </a:blip>
          <a:srcRect/>
          <a:stretch/>
        </p:blipFill>
        <p:spPr>
          <a:xfrm>
            <a:off x="6746925" y="1716171"/>
            <a:ext cx="1653752" cy="141652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86" name="Google Shape;186;p3"/>
          <p:cNvCxnSpPr>
            <a:stCxn id="164" idx="3"/>
            <a:endCxn id="184" idx="1"/>
          </p:cNvCxnSpPr>
          <p:nvPr/>
        </p:nvCxnSpPr>
        <p:spPr>
          <a:xfrm rot="10800000" flipH="1">
            <a:off x="4159392" y="2486339"/>
            <a:ext cx="2048100" cy="300"/>
          </a:xfrm>
          <a:prstGeom prst="straightConnector1">
            <a:avLst/>
          </a:prstGeom>
          <a:noFill/>
          <a:ln w="19050" cap="flat" cmpd="sng">
            <a:solidFill>
              <a:schemeClr val="bg2">
                <a:alpha val="52000"/>
              </a:schemeClr>
            </a:solidFill>
            <a:prstDash val="lgDash"/>
            <a:miter lim="800000"/>
            <a:headEnd type="none" w="sm" len="sm"/>
            <a:tailEnd type="triangle" w="med" len="med"/>
          </a:ln>
        </p:spPr>
      </p:cxnSp>
      <p:cxnSp>
        <p:nvCxnSpPr>
          <p:cNvPr id="187" name="Google Shape;187;p3"/>
          <p:cNvCxnSpPr/>
          <p:nvPr/>
        </p:nvCxnSpPr>
        <p:spPr>
          <a:xfrm>
            <a:off x="3799105" y="3047202"/>
            <a:ext cx="0" cy="318341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4"/>
          <p:cNvSpPr txBox="1">
            <a:spLocks noGrp="1"/>
          </p:cNvSpPr>
          <p:nvPr>
            <p:ph type="title"/>
          </p:nvPr>
        </p:nvSpPr>
        <p:spPr>
          <a:xfrm>
            <a:off x="237331" y="240105"/>
            <a:ext cx="7556500" cy="539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Calibri"/>
              <a:buNone/>
            </a:pPr>
            <a:r>
              <a:rPr lang="en-GB" dirty="0"/>
              <a:t>What are Neural Networks?</a:t>
            </a:r>
            <a:endParaRPr dirty="0"/>
          </a:p>
        </p:txBody>
      </p:sp>
      <p:sp>
        <p:nvSpPr>
          <p:cNvPr id="194" name="Google Shape;194;p4"/>
          <p:cNvSpPr txBox="1">
            <a:spLocks noGrp="1"/>
          </p:cNvSpPr>
          <p:nvPr>
            <p:ph type="ftr" idx="11"/>
          </p:nvPr>
        </p:nvSpPr>
        <p:spPr>
          <a:xfrm>
            <a:off x="1114426" y="4568400"/>
            <a:ext cx="7042149" cy="576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Evaluation of Quantization Methods for Neural Networks</a:t>
            </a:r>
            <a:endParaRPr/>
          </a:p>
        </p:txBody>
      </p:sp>
      <p:sp>
        <p:nvSpPr>
          <p:cNvPr id="195" name="Google Shape;195;p4"/>
          <p:cNvSpPr txBox="1">
            <a:spLocks noGrp="1"/>
          </p:cNvSpPr>
          <p:nvPr>
            <p:ph type="sldNum" idx="12"/>
          </p:nvPr>
        </p:nvSpPr>
        <p:spPr>
          <a:xfrm>
            <a:off x="2" y="4568400"/>
            <a:ext cx="1114424" cy="572286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75600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4</a:t>
            </a:fld>
            <a:endParaRPr/>
          </a:p>
        </p:txBody>
      </p:sp>
      <p:sp>
        <p:nvSpPr>
          <p:cNvPr id="196" name="Google Shape;196;p4"/>
          <p:cNvSpPr txBox="1"/>
          <p:nvPr/>
        </p:nvSpPr>
        <p:spPr>
          <a:xfrm>
            <a:off x="758825" y="859185"/>
            <a:ext cx="8084896" cy="732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846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50"/>
              <a:buFont typeface="Calibri"/>
              <a:buNone/>
            </a:pPr>
            <a:r>
              <a:rPr lang="en-GB" sz="1950" b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NNs are computing systems made up of several layers of interconnected nodes.</a:t>
            </a:r>
            <a:endParaRPr sz="1950" b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8" name="Google Shape;198;p4" descr="A picture containing logo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 l="84" t="-5295" r="-404" b="732"/>
          <a:stretch/>
        </p:blipFill>
        <p:spPr>
          <a:xfrm>
            <a:off x="5425038" y="1882437"/>
            <a:ext cx="2523949" cy="166146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9" name="Google Shape;199;p4"/>
          <p:cNvCxnSpPr/>
          <p:nvPr/>
        </p:nvCxnSpPr>
        <p:spPr>
          <a:xfrm>
            <a:off x="6677689" y="2798723"/>
            <a:ext cx="0" cy="1078765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200" name="Google Shape;200;p4"/>
          <p:cNvCxnSpPr/>
          <p:nvPr/>
        </p:nvCxnSpPr>
        <p:spPr>
          <a:xfrm>
            <a:off x="6913181" y="2790303"/>
            <a:ext cx="0" cy="636958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201" name="Google Shape;201;p4"/>
          <p:cNvSpPr/>
          <p:nvPr/>
        </p:nvSpPr>
        <p:spPr>
          <a:xfrm>
            <a:off x="6042724" y="3916955"/>
            <a:ext cx="774759" cy="261035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91121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5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Weights</a:t>
            </a:r>
            <a:endParaRPr sz="1350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4"/>
          <p:cNvSpPr/>
          <p:nvPr/>
        </p:nvSpPr>
        <p:spPr>
          <a:xfrm>
            <a:off x="6746212" y="3550564"/>
            <a:ext cx="621112" cy="261035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91121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Biases</a:t>
            </a:r>
            <a:endParaRPr sz="135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4"/>
          <p:cNvSpPr/>
          <p:nvPr/>
        </p:nvSpPr>
        <p:spPr>
          <a:xfrm>
            <a:off x="5779287" y="1398055"/>
            <a:ext cx="1272181" cy="380261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91121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5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Activation function</a:t>
            </a:r>
            <a:endParaRPr sz="1350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4" name="Google Shape;204;p4" descr="Diagram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413466" y="1929804"/>
            <a:ext cx="2305498" cy="1947684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4"/>
          <p:cNvSpPr/>
          <p:nvPr/>
        </p:nvSpPr>
        <p:spPr>
          <a:xfrm>
            <a:off x="1219265" y="4007774"/>
            <a:ext cx="838280" cy="365951"/>
          </a:xfrm>
          <a:prstGeom prst="rect">
            <a:avLst/>
          </a:prstGeom>
          <a:solidFill>
            <a:srgbClr val="F9CACB"/>
          </a:solidFill>
          <a:ln w="12700" cap="flat" cmpd="sng">
            <a:solidFill>
              <a:srgbClr val="91121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Input layer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4"/>
          <p:cNvSpPr/>
          <p:nvPr/>
        </p:nvSpPr>
        <p:spPr>
          <a:xfrm>
            <a:off x="2140390" y="4007774"/>
            <a:ext cx="838280" cy="365951"/>
          </a:xfrm>
          <a:prstGeom prst="rect">
            <a:avLst/>
          </a:prstGeom>
          <a:solidFill>
            <a:srgbClr val="F9CACB"/>
          </a:solidFill>
          <a:ln w="12700" cap="flat" cmpd="sng">
            <a:solidFill>
              <a:srgbClr val="91121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Hidden layer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4"/>
          <p:cNvSpPr/>
          <p:nvPr/>
        </p:nvSpPr>
        <p:spPr>
          <a:xfrm>
            <a:off x="3063889" y="4017742"/>
            <a:ext cx="838280" cy="365951"/>
          </a:xfrm>
          <a:prstGeom prst="rect">
            <a:avLst/>
          </a:prstGeom>
          <a:solidFill>
            <a:srgbClr val="F9CACB"/>
          </a:solidFill>
          <a:ln w="12700" cap="flat" cmpd="sng">
            <a:solidFill>
              <a:srgbClr val="91121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Output layer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8" name="Google Shape;208;p4"/>
          <p:cNvCxnSpPr/>
          <p:nvPr/>
        </p:nvCxnSpPr>
        <p:spPr>
          <a:xfrm rot="10800000">
            <a:off x="6430103" y="1778316"/>
            <a:ext cx="0" cy="958495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209" name="Google Shape;209;p4"/>
          <p:cNvCxnSpPr/>
          <p:nvPr/>
        </p:nvCxnSpPr>
        <p:spPr>
          <a:xfrm>
            <a:off x="2616671" y="2524947"/>
            <a:ext cx="2899794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210" name="Google Shape;210;p4"/>
          <p:cNvCxnSpPr/>
          <p:nvPr/>
        </p:nvCxnSpPr>
        <p:spPr>
          <a:xfrm>
            <a:off x="2092532" y="1282001"/>
            <a:ext cx="0" cy="3391613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dash"/>
            <a:miter lim="800000"/>
            <a:headEnd type="none" w="sm" len="sm"/>
            <a:tailEnd type="none" w="sm" len="sm"/>
          </a:ln>
        </p:spPr>
      </p:cxnSp>
      <p:cxnSp>
        <p:nvCxnSpPr>
          <p:cNvPr id="211" name="Google Shape;211;p4"/>
          <p:cNvCxnSpPr/>
          <p:nvPr/>
        </p:nvCxnSpPr>
        <p:spPr>
          <a:xfrm>
            <a:off x="3025320" y="1276591"/>
            <a:ext cx="0" cy="3334673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dash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1" grpId="0" animBg="1"/>
      <p:bldP spid="202" grpId="0" animBg="1"/>
      <p:bldP spid="20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Connector: Elbow 5">
            <a:extLst>
              <a:ext uri="{FF2B5EF4-FFF2-40B4-BE49-F238E27FC236}">
                <a16:creationId xmlns:a16="http://schemas.microsoft.com/office/drawing/2014/main" id="{9CAAAB9F-F837-AF82-C6E9-32B54B108F09}"/>
              </a:ext>
            </a:extLst>
          </p:cNvPr>
          <p:cNvCxnSpPr>
            <a:stCxn id="233" idx="0"/>
            <a:endCxn id="223" idx="0"/>
          </p:cNvCxnSpPr>
          <p:nvPr/>
        </p:nvCxnSpPr>
        <p:spPr>
          <a:xfrm rot="5400000" flipH="1" flipV="1">
            <a:off x="2028414" y="1056852"/>
            <a:ext cx="128693" cy="2726582"/>
          </a:xfrm>
          <a:prstGeom prst="bentConnector3">
            <a:avLst>
              <a:gd name="adj1" fmla="val 277632"/>
            </a:avLst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6" name="Google Shape;216;p5"/>
          <p:cNvSpPr txBox="1">
            <a:spLocks noGrp="1"/>
          </p:cNvSpPr>
          <p:nvPr>
            <p:ph type="title"/>
          </p:nvPr>
        </p:nvSpPr>
        <p:spPr>
          <a:xfrm>
            <a:off x="237331" y="240105"/>
            <a:ext cx="7556500" cy="539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Calibri"/>
              <a:buNone/>
            </a:pPr>
            <a:r>
              <a:rPr lang="en-GB" b="1"/>
              <a:t>NN Models </a:t>
            </a:r>
            <a:r>
              <a:rPr lang="en-GB"/>
              <a:t>D</a:t>
            </a:r>
            <a:r>
              <a:rPr lang="en-GB" b="1"/>
              <a:t>eployment</a:t>
            </a:r>
            <a:br>
              <a:rPr lang="en-GB"/>
            </a:br>
            <a:endParaRPr/>
          </a:p>
        </p:txBody>
      </p:sp>
      <p:sp>
        <p:nvSpPr>
          <p:cNvPr id="217" name="Google Shape;217;p5"/>
          <p:cNvSpPr txBox="1">
            <a:spLocks noGrp="1"/>
          </p:cNvSpPr>
          <p:nvPr>
            <p:ph type="ftr" idx="11"/>
          </p:nvPr>
        </p:nvSpPr>
        <p:spPr>
          <a:xfrm>
            <a:off x="1114426" y="4568400"/>
            <a:ext cx="7042149" cy="576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Evaluation of Quantization Methods for Neural Networks</a:t>
            </a:r>
            <a:endParaRPr/>
          </a:p>
        </p:txBody>
      </p:sp>
      <p:sp>
        <p:nvSpPr>
          <p:cNvPr id="218" name="Google Shape;218;p5"/>
          <p:cNvSpPr txBox="1">
            <a:spLocks noGrp="1"/>
          </p:cNvSpPr>
          <p:nvPr>
            <p:ph type="sldNum" idx="12"/>
          </p:nvPr>
        </p:nvSpPr>
        <p:spPr>
          <a:xfrm>
            <a:off x="2" y="4568400"/>
            <a:ext cx="1114424" cy="572286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75600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5</a:t>
            </a:fld>
            <a:endParaRPr/>
          </a:p>
        </p:txBody>
      </p:sp>
      <p:grpSp>
        <p:nvGrpSpPr>
          <p:cNvPr id="219" name="Google Shape;219;p5"/>
          <p:cNvGrpSpPr/>
          <p:nvPr/>
        </p:nvGrpSpPr>
        <p:grpSpPr>
          <a:xfrm>
            <a:off x="-84919" y="1160660"/>
            <a:ext cx="4525307" cy="2773695"/>
            <a:chOff x="-35720" y="1220881"/>
            <a:chExt cx="4525307" cy="2773695"/>
          </a:xfrm>
        </p:grpSpPr>
        <p:grpSp>
          <p:nvGrpSpPr>
            <p:cNvPr id="220" name="Google Shape;220;p5"/>
            <p:cNvGrpSpPr/>
            <p:nvPr/>
          </p:nvGrpSpPr>
          <p:grpSpPr>
            <a:xfrm>
              <a:off x="-30966" y="1220881"/>
              <a:ext cx="4520553" cy="2773695"/>
              <a:chOff x="204777" y="1192305"/>
              <a:chExt cx="4520553" cy="2773695"/>
            </a:xfrm>
          </p:grpSpPr>
          <p:grpSp>
            <p:nvGrpSpPr>
              <p:cNvPr id="221" name="Google Shape;221;p5"/>
              <p:cNvGrpSpPr/>
              <p:nvPr/>
            </p:nvGrpSpPr>
            <p:grpSpPr>
              <a:xfrm>
                <a:off x="1917244" y="1192305"/>
                <a:ext cx="2124166" cy="1889041"/>
                <a:chOff x="1917244" y="1192305"/>
                <a:chExt cx="2124166" cy="1889041"/>
              </a:xfrm>
            </p:grpSpPr>
            <p:sp>
              <p:nvSpPr>
                <p:cNvPr id="224" name="Google Shape;224;p5"/>
                <p:cNvSpPr/>
                <p:nvPr/>
              </p:nvSpPr>
              <p:spPr>
                <a:xfrm>
                  <a:off x="1917244" y="1192305"/>
                  <a:ext cx="1047199" cy="1170236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>
                  <a:solidFill>
                    <a:srgbClr val="911212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35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225" name="Google Shape;225;p5"/>
                <p:cNvGrpSpPr/>
                <p:nvPr/>
              </p:nvGrpSpPr>
              <p:grpSpPr>
                <a:xfrm>
                  <a:off x="3440576" y="2387441"/>
                  <a:ext cx="600834" cy="693905"/>
                  <a:chOff x="3596203" y="1739579"/>
                  <a:chExt cx="600834" cy="693905"/>
                </a:xfrm>
              </p:grpSpPr>
              <p:sp>
                <p:nvSpPr>
                  <p:cNvPr id="223" name="Google Shape;223;p5"/>
                  <p:cNvSpPr txBox="1"/>
                  <p:nvPr/>
                </p:nvSpPr>
                <p:spPr>
                  <a:xfrm>
                    <a:off x="3596203" y="1739579"/>
                    <a:ext cx="600834" cy="300082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spAutoFit/>
                  </a:bodyPr>
                  <a:lstStyle/>
                  <a:p>
                    <a:pPr marL="0" marR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GB" sz="135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Edge</a:t>
                    </a:r>
                    <a:endParaRPr sz="135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pic>
                <p:nvPicPr>
                  <p:cNvPr id="226" name="Google Shape;226;p5"/>
                  <p:cNvPicPr preferRelativeResize="0"/>
                  <p:nvPr/>
                </p:nvPicPr>
                <p:blipFill rotWithShape="1">
                  <a:blip r:embed="rId3">
                    <a:alphaModFix/>
                  </a:blip>
                  <a:srcRect/>
                  <a:stretch/>
                </p:blipFill>
                <p:spPr>
                  <a:xfrm>
                    <a:off x="3689261" y="2018767"/>
                    <a:ext cx="414717" cy="414717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</p:grpSp>
            <p:grpSp>
              <p:nvGrpSpPr>
                <p:cNvPr id="227" name="Google Shape;227;p5"/>
                <p:cNvGrpSpPr/>
                <p:nvPr/>
              </p:nvGrpSpPr>
              <p:grpSpPr>
                <a:xfrm>
                  <a:off x="1917244" y="1219028"/>
                  <a:ext cx="1047199" cy="1143513"/>
                  <a:chOff x="2145324" y="797661"/>
                  <a:chExt cx="1047199" cy="1143513"/>
                </a:xfrm>
              </p:grpSpPr>
              <p:sp>
                <p:nvSpPr>
                  <p:cNvPr id="228" name="Google Shape;228;p5"/>
                  <p:cNvSpPr txBox="1"/>
                  <p:nvPr/>
                </p:nvSpPr>
                <p:spPr>
                  <a:xfrm>
                    <a:off x="2145324" y="1433343"/>
                    <a:ext cx="1047199" cy="507831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spAutoFit/>
                  </a:bodyPr>
                  <a:lstStyle/>
                  <a:p>
                    <a:pPr marL="0" marR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GB" sz="135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NN model deployment</a:t>
                    </a:r>
                    <a:endParaRPr sz="135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pic>
                <p:nvPicPr>
                  <p:cNvPr id="229" name="Google Shape;229;p5" descr="Diagram&#10;&#10;Description automatically generated"/>
                  <p:cNvPicPr preferRelativeResize="0"/>
                  <p:nvPr/>
                </p:nvPicPr>
                <p:blipFill rotWithShape="1">
                  <a:blip r:embed="rId4">
                    <a:alphaModFix/>
                  </a:blip>
                  <a:srcRect/>
                  <a:stretch/>
                </p:blipFill>
                <p:spPr>
                  <a:xfrm>
                    <a:off x="2316240" y="797661"/>
                    <a:ext cx="700448" cy="599969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</p:grpSp>
          </p:grpSp>
          <p:sp>
            <p:nvSpPr>
              <p:cNvPr id="230" name="Google Shape;230;p5"/>
              <p:cNvSpPr txBox="1"/>
              <p:nvPr/>
            </p:nvSpPr>
            <p:spPr>
              <a:xfrm>
                <a:off x="204777" y="3250419"/>
                <a:ext cx="1744672" cy="7155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350" dirty="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✔ Resource scalable</a:t>
                </a:r>
                <a:endParaRPr dirty="0"/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35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35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1" name="Google Shape;231;p5"/>
              <p:cNvSpPr txBox="1"/>
              <p:nvPr/>
            </p:nvSpPr>
            <p:spPr>
              <a:xfrm>
                <a:off x="2756653" y="3250419"/>
                <a:ext cx="1968677" cy="5078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35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✘ Resource constrained</a:t>
                </a:r>
                <a:endParaRPr/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35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32" name="Google Shape;232;p5"/>
            <p:cNvGrpSpPr/>
            <p:nvPr/>
          </p:nvGrpSpPr>
          <p:grpSpPr>
            <a:xfrm>
              <a:off x="-35720" y="2544710"/>
              <a:ext cx="1628775" cy="644959"/>
              <a:chOff x="287887" y="1732849"/>
              <a:chExt cx="1628775" cy="644959"/>
            </a:xfrm>
          </p:grpSpPr>
          <p:sp>
            <p:nvSpPr>
              <p:cNvPr id="233" name="Google Shape;233;p5"/>
              <p:cNvSpPr txBox="1"/>
              <p:nvPr/>
            </p:nvSpPr>
            <p:spPr>
              <a:xfrm>
                <a:off x="287887" y="1732849"/>
                <a:ext cx="1628775" cy="30008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35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Cloud</a:t>
                </a:r>
                <a:endParaRPr sz="135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id="234" name="Google Shape;234;p5"/>
              <p:cNvPicPr preferRelativeResize="0"/>
              <p:nvPr/>
            </p:nvPicPr>
            <p:blipFill rotWithShape="1">
              <a:blip r:embed="rId5">
                <a:alphaModFix/>
              </a:blip>
              <a:srcRect/>
              <a:stretch/>
            </p:blipFill>
            <p:spPr>
              <a:xfrm>
                <a:off x="891312" y="1963092"/>
                <a:ext cx="414716" cy="414716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sp>
        <p:nvSpPr>
          <p:cNvPr id="235" name="Google Shape;235;p5"/>
          <p:cNvSpPr txBox="1"/>
          <p:nvPr/>
        </p:nvSpPr>
        <p:spPr>
          <a:xfrm>
            <a:off x="5037250" y="1651537"/>
            <a:ext cx="3598863" cy="2558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8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Solutions</a:t>
            </a:r>
            <a:endParaRPr dirty="0"/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lang="en-GB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Reduce the size of the NN architectures.</a:t>
            </a:r>
            <a:br>
              <a:rPr lang="en-GB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lang="en-GB" sz="12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Example:EfficientNet</a:t>
            </a:r>
            <a:r>
              <a:rPr lang="en-GB" sz="1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GB" sz="12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SqueezeNet</a:t>
            </a:r>
            <a:r>
              <a:rPr lang="en-GB" sz="1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and </a:t>
            </a:r>
            <a:r>
              <a:rPr lang="en-GB" sz="12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DenseNet</a:t>
            </a:r>
            <a:r>
              <a:rPr lang="en-GB" sz="1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)</a:t>
            </a:r>
            <a:endParaRPr dirty="0"/>
          </a:p>
        </p:txBody>
      </p:sp>
      <p:sp>
        <p:nvSpPr>
          <p:cNvPr id="236" name="Google Shape;236;p5"/>
          <p:cNvSpPr txBox="1"/>
          <p:nvPr/>
        </p:nvSpPr>
        <p:spPr>
          <a:xfrm>
            <a:off x="4746240" y="4340450"/>
            <a:ext cx="3754029" cy="300082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5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Focus of this work is on quantization in isolation</a:t>
            </a:r>
            <a:endParaRPr sz="135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5"/>
          <p:cNvSpPr/>
          <p:nvPr/>
        </p:nvSpPr>
        <p:spPr>
          <a:xfrm>
            <a:off x="4053342" y="502968"/>
            <a:ext cx="2074667" cy="1086676"/>
          </a:xfrm>
          <a:prstGeom prst="wedgeRoundRectCallout">
            <a:avLst>
              <a:gd name="adj1" fmla="val -72791"/>
              <a:gd name="adj2" fmla="val 116561"/>
              <a:gd name="adj3" fmla="val 16667"/>
            </a:avLst>
          </a:prstGeom>
          <a:solidFill>
            <a:schemeClr val="accent1"/>
          </a:solidFill>
          <a:ln w="12700" cap="flat" cmpd="sng">
            <a:solidFill>
              <a:srgbClr val="91121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5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Reduction of model size is key for successful edge deployment of NN models</a:t>
            </a:r>
            <a:endParaRPr sz="1350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Google Shape;235;p5">
            <a:extLst>
              <a:ext uri="{FF2B5EF4-FFF2-40B4-BE49-F238E27FC236}">
                <a16:creationId xmlns:a16="http://schemas.microsoft.com/office/drawing/2014/main" id="{08E61303-2B38-B5F2-494C-16DC562EABCB}"/>
              </a:ext>
            </a:extLst>
          </p:cNvPr>
          <p:cNvSpPr txBox="1"/>
          <p:nvPr/>
        </p:nvSpPr>
        <p:spPr>
          <a:xfrm>
            <a:off x="5035846" y="2884288"/>
            <a:ext cx="3440023" cy="13756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6">
              <a:buClr>
                <a:schemeClr val="dk1"/>
              </a:buClr>
              <a:buSzPts val="1800"/>
            </a:pPr>
            <a:r>
              <a:rPr lang="en-GB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      Reduce the size of already          existing models</a:t>
            </a:r>
            <a:endParaRPr dirty="0"/>
          </a:p>
          <a:p>
            <a:pPr marL="825500" marR="0" lvl="4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GB" sz="16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Knowledge distillation</a:t>
            </a:r>
            <a:endParaRPr dirty="0"/>
          </a:p>
          <a:p>
            <a:pPr marL="825500" marR="0" lvl="4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GB" sz="16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Pruning</a:t>
            </a:r>
            <a:endParaRPr dirty="0"/>
          </a:p>
          <a:p>
            <a:pPr marL="825500" marR="0" lvl="4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GB" sz="16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Quantization	</a:t>
            </a:r>
            <a:endParaRPr dirty="0"/>
          </a:p>
          <a:p>
            <a:pPr marL="638175" marR="0" lvl="2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sz="1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" grpId="0"/>
      <p:bldP spid="236" grpId="0" animBg="1"/>
      <p:bldP spid="237" grpId="0" animBg="1"/>
      <p:bldP spid="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6"/>
          <p:cNvSpPr txBox="1">
            <a:spLocks noGrp="1"/>
          </p:cNvSpPr>
          <p:nvPr>
            <p:ph type="title"/>
          </p:nvPr>
        </p:nvSpPr>
        <p:spPr>
          <a:xfrm>
            <a:off x="237331" y="240105"/>
            <a:ext cx="7556500" cy="539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Calibri"/>
              <a:buNone/>
            </a:pPr>
            <a:r>
              <a:rPr lang="en-GB"/>
              <a:t>Thesis Context</a:t>
            </a:r>
            <a:endParaRPr/>
          </a:p>
        </p:txBody>
      </p:sp>
      <p:sp>
        <p:nvSpPr>
          <p:cNvPr id="243" name="Google Shape;243;p6"/>
          <p:cNvSpPr txBox="1">
            <a:spLocks noGrp="1"/>
          </p:cNvSpPr>
          <p:nvPr>
            <p:ph type="ftr" idx="11"/>
          </p:nvPr>
        </p:nvSpPr>
        <p:spPr>
          <a:xfrm>
            <a:off x="1114426" y="4568400"/>
            <a:ext cx="7042149" cy="576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Evaluation of Quantization Methods for Neural Networks</a:t>
            </a:r>
            <a:endParaRPr/>
          </a:p>
        </p:txBody>
      </p:sp>
      <p:sp>
        <p:nvSpPr>
          <p:cNvPr id="244" name="Google Shape;244;p6"/>
          <p:cNvSpPr txBox="1">
            <a:spLocks noGrp="1"/>
          </p:cNvSpPr>
          <p:nvPr>
            <p:ph type="sldNum" idx="12"/>
          </p:nvPr>
        </p:nvSpPr>
        <p:spPr>
          <a:xfrm>
            <a:off x="2" y="4568400"/>
            <a:ext cx="1114424" cy="572286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75600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6</a:t>
            </a:fld>
            <a:endParaRPr/>
          </a:p>
        </p:txBody>
      </p:sp>
      <p:grpSp>
        <p:nvGrpSpPr>
          <p:cNvPr id="245" name="Google Shape;245;p6"/>
          <p:cNvGrpSpPr/>
          <p:nvPr/>
        </p:nvGrpSpPr>
        <p:grpSpPr>
          <a:xfrm>
            <a:off x="557214" y="652589"/>
            <a:ext cx="3628045" cy="4042366"/>
            <a:chOff x="240696" y="398471"/>
            <a:chExt cx="3628045" cy="4042366"/>
          </a:xfrm>
        </p:grpSpPr>
        <p:pic>
          <p:nvPicPr>
            <p:cNvPr id="246" name="Google Shape;246;p6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297550" y="2075138"/>
              <a:ext cx="410770" cy="41077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47" name="Google Shape;247;p6"/>
            <p:cNvGrpSpPr/>
            <p:nvPr/>
          </p:nvGrpSpPr>
          <p:grpSpPr>
            <a:xfrm>
              <a:off x="259126" y="3692046"/>
              <a:ext cx="1577951" cy="748791"/>
              <a:chOff x="538741" y="3619011"/>
              <a:chExt cx="2143766" cy="1024309"/>
            </a:xfrm>
          </p:grpSpPr>
          <p:grpSp>
            <p:nvGrpSpPr>
              <p:cNvPr id="248" name="Google Shape;248;p6"/>
              <p:cNvGrpSpPr/>
              <p:nvPr/>
            </p:nvGrpSpPr>
            <p:grpSpPr>
              <a:xfrm>
                <a:off x="538741" y="3619011"/>
                <a:ext cx="1043072" cy="1023103"/>
                <a:chOff x="1341503" y="2315829"/>
                <a:chExt cx="1155322" cy="1333901"/>
              </a:xfrm>
            </p:grpSpPr>
            <p:pic>
              <p:nvPicPr>
                <p:cNvPr id="249" name="Google Shape;249;p6" descr="Soldier female outline"/>
                <p:cNvPicPr preferRelativeResize="0"/>
                <p:nvPr/>
              </p:nvPicPr>
              <p:blipFill rotWithShape="1">
                <a:blip r:embed="rId4">
                  <a:alphaModFix/>
                </a:blip>
                <a:srcRect/>
                <a:stretch/>
              </p:blipFill>
              <p:spPr>
                <a:xfrm>
                  <a:off x="1461964" y="2315829"/>
                  <a:ext cx="914400" cy="91440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250" name="Google Shape;250;p6"/>
                <p:cNvSpPr txBox="1"/>
                <p:nvPr/>
              </p:nvSpPr>
              <p:spPr>
                <a:xfrm>
                  <a:off x="1341503" y="3210593"/>
                  <a:ext cx="1155322" cy="43913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sp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GB" sz="10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Customers</a:t>
                  </a:r>
                  <a:endParaRPr sz="1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251" name="Google Shape;251;p6"/>
              <p:cNvGrpSpPr/>
              <p:nvPr/>
            </p:nvGrpSpPr>
            <p:grpSpPr>
              <a:xfrm>
                <a:off x="1473055" y="3713701"/>
                <a:ext cx="1209452" cy="929619"/>
                <a:chOff x="1495385" y="1893877"/>
                <a:chExt cx="1721645" cy="922765"/>
              </a:xfrm>
            </p:grpSpPr>
            <p:pic>
              <p:nvPicPr>
                <p:cNvPr id="252" name="Google Shape;252;p6" descr="Diagram&#10;&#10;Description automatically generated"/>
                <p:cNvPicPr preferRelativeResize="0"/>
                <p:nvPr/>
              </p:nvPicPr>
              <p:blipFill rotWithShape="1">
                <a:blip r:embed="rId5">
                  <a:alphaModFix/>
                </a:blip>
                <a:srcRect/>
                <a:stretch/>
              </p:blipFill>
              <p:spPr>
                <a:xfrm>
                  <a:off x="1818932" y="1893877"/>
                  <a:ext cx="849684" cy="485844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253" name="Google Shape;253;p6"/>
                <p:cNvSpPr txBox="1"/>
                <p:nvPr/>
              </p:nvSpPr>
              <p:spPr>
                <a:xfrm>
                  <a:off x="1495385" y="2482307"/>
                  <a:ext cx="1721645" cy="33433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sp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GB" sz="10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NN models</a:t>
                  </a:r>
                  <a:endParaRPr sz="1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pic>
          <p:nvPicPr>
            <p:cNvPr id="254" name="Google Shape;254;p6" descr="Diagram&#10;&#10;Description automatically generated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2940457" y="3197213"/>
              <a:ext cx="530407" cy="48945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5" name="Google Shape;255;p6"/>
            <p:cNvSpPr txBox="1"/>
            <p:nvPr/>
          </p:nvSpPr>
          <p:spPr>
            <a:xfrm>
              <a:off x="1534167" y="955431"/>
              <a:ext cx="2138373" cy="3000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35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Design </a:t>
              </a:r>
              <a:endParaRPr sz="1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6" name="Google Shape;256;p6"/>
            <p:cNvSpPr txBox="1"/>
            <p:nvPr/>
          </p:nvSpPr>
          <p:spPr>
            <a:xfrm>
              <a:off x="1534167" y="1259557"/>
              <a:ext cx="2138373" cy="3000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35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Manufacture</a:t>
              </a:r>
              <a:endParaRPr sz="1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257" name="Google Shape;257;p6" descr="Logo&#10;&#10;Description automatically generated with medium confidence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240696" y="2573620"/>
              <a:ext cx="1105538" cy="397994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58" name="Google Shape;258;p6"/>
            <p:cNvGrpSpPr/>
            <p:nvPr/>
          </p:nvGrpSpPr>
          <p:grpSpPr>
            <a:xfrm>
              <a:off x="2666421" y="829539"/>
              <a:ext cx="804443" cy="856293"/>
              <a:chOff x="6582444" y="344696"/>
              <a:chExt cx="804443" cy="856293"/>
            </a:xfrm>
          </p:grpSpPr>
          <p:pic>
            <p:nvPicPr>
              <p:cNvPr id="259" name="Google Shape;259;p6"/>
              <p:cNvPicPr preferRelativeResize="0"/>
              <p:nvPr/>
            </p:nvPicPr>
            <p:blipFill rotWithShape="1">
              <a:blip r:embed="rId3">
                <a:alphaModFix/>
              </a:blip>
              <a:srcRect/>
              <a:stretch/>
            </p:blipFill>
            <p:spPr>
              <a:xfrm>
                <a:off x="6640130" y="425469"/>
                <a:ext cx="698490" cy="69849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60" name="Google Shape;260;p6"/>
              <p:cNvSpPr/>
              <p:nvPr/>
            </p:nvSpPr>
            <p:spPr>
              <a:xfrm>
                <a:off x="6582444" y="344696"/>
                <a:ext cx="804443" cy="856293"/>
              </a:xfrm>
              <a:prstGeom prst="rect">
                <a:avLst/>
              </a:prstGeom>
              <a:noFill/>
              <a:ln w="28575" cap="flat" cmpd="sng">
                <a:solidFill>
                  <a:srgbClr val="911212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61" name="Google Shape;261;p6"/>
            <p:cNvSpPr/>
            <p:nvPr/>
          </p:nvSpPr>
          <p:spPr>
            <a:xfrm>
              <a:off x="2440589" y="2387680"/>
              <a:ext cx="1408014" cy="783124"/>
            </a:xfrm>
            <a:prstGeom prst="rect">
              <a:avLst/>
            </a:prstGeom>
            <a:solidFill>
              <a:schemeClr val="accent1"/>
            </a:solidFill>
            <a:ln w="12700" cap="flat" cmpd="sng">
              <a:solidFill>
                <a:srgbClr val="91121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Apply quantization for NN deployment</a:t>
              </a:r>
              <a:endParaRPr sz="13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62" name="Google Shape;262;p6"/>
            <p:cNvCxnSpPr/>
            <p:nvPr/>
          </p:nvCxnSpPr>
          <p:spPr>
            <a:xfrm rot="10800000">
              <a:off x="957856" y="3029231"/>
              <a:ext cx="0" cy="657434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263" name="Google Shape;263;p6"/>
            <p:cNvCxnSpPr>
              <a:stCxn id="261" idx="3"/>
              <a:endCxn id="260" idx="3"/>
            </p:cNvCxnSpPr>
            <p:nvPr/>
          </p:nvCxnSpPr>
          <p:spPr>
            <a:xfrm rot="10800000">
              <a:off x="3470903" y="1257642"/>
              <a:ext cx="377700" cy="1521600"/>
            </a:xfrm>
            <a:prstGeom prst="bentConnector3">
              <a:avLst>
                <a:gd name="adj1" fmla="val -38657"/>
              </a:avLst>
            </a:prstGeom>
            <a:noFill/>
            <a:ln w="19050" cap="flat" cmpd="sng">
              <a:solidFill>
                <a:schemeClr val="dk1"/>
              </a:solidFill>
              <a:prstDash val="dash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264" name="Google Shape;264;p6"/>
            <p:cNvCxnSpPr>
              <a:stCxn id="257" idx="3"/>
              <a:endCxn id="261" idx="1"/>
            </p:cNvCxnSpPr>
            <p:nvPr/>
          </p:nvCxnSpPr>
          <p:spPr>
            <a:xfrm>
              <a:off x="1346234" y="2772617"/>
              <a:ext cx="1094400" cy="66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265" name="Google Shape;265;p6"/>
            <p:cNvCxnSpPr>
              <a:endCxn id="255" idx="1"/>
            </p:cNvCxnSpPr>
            <p:nvPr/>
          </p:nvCxnSpPr>
          <p:spPr>
            <a:xfrm rot="-5400000">
              <a:off x="597717" y="1465622"/>
              <a:ext cx="1296600" cy="576300"/>
            </a:xfrm>
            <a:prstGeom prst="bentConnector2">
              <a:avLst/>
            </a:prstGeom>
            <a:noFill/>
            <a:ln w="25400" cap="flat" cmpd="sng">
              <a:solidFill>
                <a:schemeClr val="accent1"/>
              </a:solidFill>
              <a:prstDash val="solid"/>
              <a:miter lim="800000"/>
              <a:headEnd type="oval" w="med" len="med"/>
              <a:tailEnd type="oval" w="med" len="med"/>
            </a:ln>
          </p:spPr>
        </p:cxnSp>
        <p:cxnSp>
          <p:nvCxnSpPr>
            <p:cNvPr id="266" name="Google Shape;266;p6"/>
            <p:cNvCxnSpPr/>
            <p:nvPr/>
          </p:nvCxnSpPr>
          <p:spPr>
            <a:xfrm rot="-5400000">
              <a:off x="739705" y="1603898"/>
              <a:ext cx="1012615" cy="576310"/>
            </a:xfrm>
            <a:prstGeom prst="bentConnector2">
              <a:avLst/>
            </a:prstGeom>
            <a:noFill/>
            <a:ln w="25400" cap="flat" cmpd="sng">
              <a:solidFill>
                <a:schemeClr val="accent1"/>
              </a:solidFill>
              <a:prstDash val="solid"/>
              <a:miter lim="800000"/>
              <a:headEnd type="oval" w="med" len="med"/>
              <a:tailEnd type="oval" w="med" len="med"/>
            </a:ln>
          </p:spPr>
        </p:cxnSp>
        <p:pic>
          <p:nvPicPr>
            <p:cNvPr id="267" name="Google Shape;267;p6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3482152" y="1272060"/>
              <a:ext cx="360000" cy="360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8" name="Google Shape;268;p6"/>
            <p:cNvPicPr preferRelativeResize="0"/>
            <p:nvPr/>
          </p:nvPicPr>
          <p:blipFill rotWithShape="1">
            <a:blip r:embed="rId9">
              <a:alphaModFix/>
            </a:blip>
            <a:srcRect/>
            <a:stretch/>
          </p:blipFill>
          <p:spPr>
            <a:xfrm>
              <a:off x="3508741" y="841232"/>
              <a:ext cx="360000" cy="360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9" name="Google Shape;269;p6"/>
            <p:cNvPicPr preferRelativeResize="0"/>
            <p:nvPr/>
          </p:nvPicPr>
          <p:blipFill rotWithShape="1">
            <a:blip r:embed="rId10">
              <a:alphaModFix/>
            </a:blip>
            <a:srcRect/>
            <a:stretch/>
          </p:blipFill>
          <p:spPr>
            <a:xfrm>
              <a:off x="2687971" y="403579"/>
              <a:ext cx="360000" cy="360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0" name="Google Shape;270;p6"/>
            <p:cNvPicPr preferRelativeResize="0"/>
            <p:nvPr/>
          </p:nvPicPr>
          <p:blipFill rotWithShape="1">
            <a:blip r:embed="rId11">
              <a:alphaModFix/>
            </a:blip>
            <a:srcRect/>
            <a:stretch/>
          </p:blipFill>
          <p:spPr>
            <a:xfrm>
              <a:off x="3092186" y="398471"/>
              <a:ext cx="360000" cy="38190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71" name="Google Shape;271;p6"/>
          <p:cNvGrpSpPr/>
          <p:nvPr/>
        </p:nvGrpSpPr>
        <p:grpSpPr>
          <a:xfrm>
            <a:off x="4939847" y="121263"/>
            <a:ext cx="3845284" cy="4447137"/>
            <a:chOff x="5184416" y="179439"/>
            <a:chExt cx="3845284" cy="4447137"/>
          </a:xfrm>
        </p:grpSpPr>
        <p:cxnSp>
          <p:nvCxnSpPr>
            <p:cNvPr id="272" name="Google Shape;272;p6"/>
            <p:cNvCxnSpPr>
              <a:stCxn id="273" idx="2"/>
              <a:endCxn id="274" idx="2"/>
            </p:cNvCxnSpPr>
            <p:nvPr/>
          </p:nvCxnSpPr>
          <p:spPr>
            <a:xfrm rot="-5400000" flipH="1">
              <a:off x="7138773" y="2799163"/>
              <a:ext cx="48300" cy="1958400"/>
            </a:xfrm>
            <a:prstGeom prst="bentConnector3">
              <a:avLst>
                <a:gd name="adj1" fmla="val 695366"/>
              </a:avLst>
            </a:prstGeom>
            <a:noFill/>
            <a:ln w="25400" cap="flat" cmpd="sng">
              <a:solidFill>
                <a:srgbClr val="000000"/>
              </a:solidFill>
              <a:prstDash val="dash"/>
              <a:miter lim="800000"/>
              <a:headEnd type="none" w="sm" len="sm"/>
              <a:tailEnd type="triangle" w="med" len="med"/>
            </a:ln>
          </p:spPr>
        </p:cxnSp>
        <p:sp>
          <p:nvSpPr>
            <p:cNvPr id="275" name="Google Shape;275;p6"/>
            <p:cNvSpPr/>
            <p:nvPr/>
          </p:nvSpPr>
          <p:spPr>
            <a:xfrm>
              <a:off x="6016955" y="179439"/>
              <a:ext cx="2376260" cy="425974"/>
            </a:xfrm>
            <a:prstGeom prst="rect">
              <a:avLst/>
            </a:prstGeom>
            <a:solidFill>
              <a:schemeClr val="accent1"/>
            </a:solidFill>
            <a:ln w="12700" cap="flat" cmpd="sng">
              <a:solidFill>
                <a:srgbClr val="91121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SOTA Quantization Methods</a:t>
              </a:r>
              <a:endParaRPr/>
            </a:p>
          </p:txBody>
        </p:sp>
        <p:sp>
          <p:nvSpPr>
            <p:cNvPr id="273" name="Google Shape;273;p6"/>
            <p:cNvSpPr/>
            <p:nvPr/>
          </p:nvSpPr>
          <p:spPr>
            <a:xfrm>
              <a:off x="5184416" y="1049976"/>
              <a:ext cx="1998613" cy="2704237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 w="12700" cap="flat" cmpd="sng">
              <a:solidFill>
                <a:srgbClr val="91121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342900" marR="0" lvl="0" indent="-27940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00"/>
                <a:buFont typeface="Calibri"/>
                <a:buNone/>
              </a:pPr>
              <a:endParaRPr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342900" marR="0" lvl="0" indent="-27940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00"/>
                <a:buFont typeface="Calibri"/>
                <a:buNone/>
              </a:pPr>
              <a:endParaRPr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342900" marR="0" lvl="0" indent="-34290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00"/>
                <a:buFont typeface="Calibri"/>
                <a:buAutoNum type="arabicPeriod"/>
              </a:pPr>
              <a:r>
                <a:rPr lang="en-GB" sz="1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Tested on pretrained NN models</a:t>
              </a:r>
              <a:endParaRPr/>
            </a:p>
            <a:p>
              <a:pPr marL="342900" marR="0" lvl="0" indent="-34290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00"/>
                <a:buFont typeface="Calibri"/>
                <a:buAutoNum type="arabicPeriod"/>
              </a:pPr>
              <a:r>
                <a:rPr lang="en-GB" sz="1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Not many architectures and datasets experimented.</a:t>
              </a:r>
              <a:endParaRPr/>
            </a:p>
            <a:p>
              <a:pPr marL="342900" marR="0" lvl="0" indent="-34290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00"/>
                <a:buFont typeface="Calibri"/>
                <a:buAutoNum type="arabicPeriod"/>
              </a:pPr>
              <a:r>
                <a:rPr lang="en-GB" sz="1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Many concepts yet to be implemented in the frameworks.</a:t>
              </a:r>
              <a:endParaRPr/>
            </a:p>
            <a:p>
              <a:pPr marL="342900" marR="0" lvl="0" indent="-34290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00"/>
                <a:buFont typeface="Calibri"/>
                <a:buAutoNum type="arabicPeriod"/>
              </a:pPr>
              <a:r>
                <a:rPr lang="en-GB" sz="1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Need options to save / deploy quantized models.</a:t>
              </a:r>
              <a:endParaRPr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4" name="Google Shape;274;p6"/>
            <p:cNvSpPr/>
            <p:nvPr/>
          </p:nvSpPr>
          <p:spPr>
            <a:xfrm>
              <a:off x="7254830" y="1046280"/>
              <a:ext cx="1774870" cy="2756101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 w="12700" cap="flat" cmpd="sng">
              <a:solidFill>
                <a:srgbClr val="91121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342900" marR="0" lvl="0" indent="-27940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00"/>
                <a:buFont typeface="Calibri"/>
                <a:buNone/>
              </a:pPr>
              <a:endParaRPr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342900" marR="0" lvl="0" indent="-27940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00"/>
                <a:buFont typeface="Calibri"/>
                <a:buNone/>
              </a:pPr>
              <a:endParaRPr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342900" marR="0" lvl="0" indent="-34290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00"/>
                <a:buFont typeface="Calibri"/>
                <a:buAutoNum type="arabicPeriod"/>
              </a:pPr>
              <a:r>
                <a:rPr lang="en-GB" sz="1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SQuant</a:t>
              </a:r>
              <a:endParaRPr/>
            </a:p>
            <a:p>
              <a:pPr marL="342900" marR="0" lvl="0" indent="-34290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00"/>
                <a:buFont typeface="Calibri"/>
                <a:buAutoNum type="arabicPeriod"/>
              </a:pPr>
              <a:r>
                <a:rPr lang="en-GB" sz="1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TensorFlow Lite</a:t>
              </a:r>
              <a:endParaRPr/>
            </a:p>
            <a:p>
              <a:pPr marL="342900" marR="0" lvl="0" indent="-34290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00"/>
                <a:buFont typeface="Calibri"/>
                <a:buAutoNum type="arabicPeriod"/>
              </a:pPr>
              <a:r>
                <a:rPr lang="en-GB" sz="1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TensorFlow Micro</a:t>
              </a:r>
              <a:endParaRPr/>
            </a:p>
            <a:p>
              <a:pPr marL="342900" marR="0" lvl="0" indent="-34290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00"/>
                <a:buFont typeface="Calibri"/>
                <a:buAutoNum type="arabicPeriod"/>
              </a:pPr>
              <a:r>
                <a:rPr lang="en-GB" sz="1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QKeras</a:t>
              </a:r>
              <a:endParaRPr/>
            </a:p>
            <a:p>
              <a:pPr marL="342900" marR="0" lvl="0" indent="-34290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00"/>
                <a:buFont typeface="Calibri"/>
                <a:buAutoNum type="arabicPeriod"/>
              </a:pPr>
              <a:r>
                <a:rPr lang="en-GB" sz="1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Aimet</a:t>
              </a:r>
              <a:endParaRPr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6" name="Google Shape;276;p6"/>
            <p:cNvSpPr/>
            <p:nvPr/>
          </p:nvSpPr>
          <p:spPr>
            <a:xfrm>
              <a:off x="5492348" y="4184696"/>
              <a:ext cx="3182008" cy="441880"/>
            </a:xfrm>
            <a:prstGeom prst="wedgeRoundRectCallout">
              <a:avLst>
                <a:gd name="adj1" fmla="val 3522"/>
                <a:gd name="adj2" fmla="val -112760"/>
                <a:gd name="adj3" fmla="val 16667"/>
              </a:avLst>
            </a:prstGeom>
            <a:solidFill>
              <a:schemeClr val="accent1"/>
            </a:solidFill>
            <a:ln w="12700" cap="flat" cmpd="sng">
              <a:solidFill>
                <a:srgbClr val="91121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Selection of the quantization methods for deployment </a:t>
              </a:r>
              <a:endParaRPr/>
            </a:p>
          </p:txBody>
        </p:sp>
        <p:cxnSp>
          <p:nvCxnSpPr>
            <p:cNvPr id="277" name="Google Shape;277;p6"/>
            <p:cNvCxnSpPr>
              <a:stCxn id="275" idx="2"/>
              <a:endCxn id="273" idx="0"/>
            </p:cNvCxnSpPr>
            <p:nvPr/>
          </p:nvCxnSpPr>
          <p:spPr>
            <a:xfrm rot="5400000">
              <a:off x="6472035" y="316963"/>
              <a:ext cx="444600" cy="1021500"/>
            </a:xfrm>
            <a:prstGeom prst="bentConnector3">
              <a:avLst>
                <a:gd name="adj1" fmla="val 50000"/>
              </a:avLst>
            </a:prstGeom>
            <a:noFill/>
            <a:ln w="254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278" name="Google Shape;278;p6"/>
            <p:cNvCxnSpPr>
              <a:stCxn id="275" idx="2"/>
              <a:endCxn id="274" idx="0"/>
            </p:cNvCxnSpPr>
            <p:nvPr/>
          </p:nvCxnSpPr>
          <p:spPr>
            <a:xfrm rot="-5400000" flipH="1">
              <a:off x="7453185" y="357313"/>
              <a:ext cx="441000" cy="937200"/>
            </a:xfrm>
            <a:prstGeom prst="bentConnector3">
              <a:avLst>
                <a:gd name="adj1" fmla="val 50000"/>
              </a:avLst>
            </a:prstGeom>
            <a:noFill/>
            <a:ln w="254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</p:grpSp>
      <p:sp>
        <p:nvSpPr>
          <p:cNvPr id="279" name="Google Shape;279;p6"/>
          <p:cNvSpPr txBox="1"/>
          <p:nvPr/>
        </p:nvSpPr>
        <p:spPr>
          <a:xfrm>
            <a:off x="5022822" y="1086013"/>
            <a:ext cx="1412073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5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Literature</a:t>
            </a:r>
            <a:endParaRPr sz="135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6"/>
          <p:cNvSpPr txBox="1"/>
          <p:nvPr/>
        </p:nvSpPr>
        <p:spPr>
          <a:xfrm>
            <a:off x="7085217" y="1083657"/>
            <a:ext cx="1412073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5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Frameworks</a:t>
            </a:r>
            <a:endParaRPr sz="135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9" grpId="0"/>
      <p:bldP spid="28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7"/>
          <p:cNvSpPr txBox="1">
            <a:spLocks noGrp="1"/>
          </p:cNvSpPr>
          <p:nvPr>
            <p:ph type="title"/>
          </p:nvPr>
        </p:nvSpPr>
        <p:spPr>
          <a:xfrm>
            <a:off x="237331" y="240105"/>
            <a:ext cx="7556500" cy="539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Calibri"/>
              <a:buNone/>
            </a:pPr>
            <a:r>
              <a:rPr lang="en-GB"/>
              <a:t>Thesis Objectives</a:t>
            </a:r>
            <a:endParaRPr/>
          </a:p>
        </p:txBody>
      </p:sp>
      <p:sp>
        <p:nvSpPr>
          <p:cNvPr id="287" name="Google Shape;287;p7"/>
          <p:cNvSpPr txBox="1">
            <a:spLocks noGrp="1"/>
          </p:cNvSpPr>
          <p:nvPr>
            <p:ph type="ftr" idx="11"/>
          </p:nvPr>
        </p:nvSpPr>
        <p:spPr>
          <a:xfrm>
            <a:off x="1114426" y="4568400"/>
            <a:ext cx="7042149" cy="576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Evaluation of Quantization Methods for Neural Networks</a:t>
            </a:r>
            <a:endParaRPr/>
          </a:p>
        </p:txBody>
      </p:sp>
      <p:sp>
        <p:nvSpPr>
          <p:cNvPr id="288" name="Google Shape;288;p7"/>
          <p:cNvSpPr txBox="1">
            <a:spLocks noGrp="1"/>
          </p:cNvSpPr>
          <p:nvPr>
            <p:ph type="sldNum" idx="12"/>
          </p:nvPr>
        </p:nvSpPr>
        <p:spPr>
          <a:xfrm>
            <a:off x="2" y="4568400"/>
            <a:ext cx="1114424" cy="572286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75600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7</a:t>
            </a:fld>
            <a:endParaRPr/>
          </a:p>
        </p:txBody>
      </p:sp>
      <p:sp>
        <p:nvSpPr>
          <p:cNvPr id="289" name="Google Shape;289;p7"/>
          <p:cNvSpPr txBox="1">
            <a:spLocks noGrp="1"/>
          </p:cNvSpPr>
          <p:nvPr>
            <p:ph type="body" idx="1"/>
          </p:nvPr>
        </p:nvSpPr>
        <p:spPr>
          <a:xfrm>
            <a:off x="611277" y="967646"/>
            <a:ext cx="7921445" cy="29224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</a:pPr>
            <a:r>
              <a:rPr lang="en-GB" dirty="0">
                <a:latin typeface="Arial"/>
                <a:ea typeface="Arial"/>
                <a:cs typeface="Arial"/>
                <a:sym typeface="Arial"/>
              </a:rPr>
              <a:t>Evaluate a set of state-of-the-art NN quantization techniques by experimenting them on a set of different state-of-the-art (SOTA) NN model architectures.</a:t>
            </a: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50"/>
              <a:buNone/>
            </a:pPr>
            <a:endParaRPr dirty="0">
              <a:latin typeface="Arial"/>
              <a:ea typeface="Arial"/>
              <a:cs typeface="Arial"/>
              <a:sym typeface="Arial"/>
            </a:endParaRPr>
          </a:p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</a:pPr>
            <a:r>
              <a:rPr lang="en-GB" dirty="0">
                <a:latin typeface="Arial"/>
                <a:ea typeface="Arial"/>
                <a:cs typeface="Arial"/>
                <a:sym typeface="Arial"/>
              </a:rPr>
              <a:t>Investigate the applicability of the considered quantization techniques for production use cases ( image classification and object detection) in order to achieve size reduction while retaining the performance of the models.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8"/>
          <p:cNvSpPr txBox="1">
            <a:spLocks noGrp="1"/>
          </p:cNvSpPr>
          <p:nvPr>
            <p:ph type="title"/>
          </p:nvPr>
        </p:nvSpPr>
        <p:spPr>
          <a:xfrm>
            <a:off x="237331" y="240105"/>
            <a:ext cx="7556500" cy="539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Calibri"/>
              <a:buNone/>
            </a:pPr>
            <a:r>
              <a:rPr lang="en-GB"/>
              <a:t>Quantization</a:t>
            </a:r>
            <a:endParaRPr/>
          </a:p>
        </p:txBody>
      </p:sp>
      <p:sp>
        <p:nvSpPr>
          <p:cNvPr id="296" name="Google Shape;296;p8"/>
          <p:cNvSpPr txBox="1">
            <a:spLocks noGrp="1"/>
          </p:cNvSpPr>
          <p:nvPr>
            <p:ph type="ftr" idx="11"/>
          </p:nvPr>
        </p:nvSpPr>
        <p:spPr>
          <a:xfrm>
            <a:off x="1114426" y="4568400"/>
            <a:ext cx="7042149" cy="576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Evaluation of Quantization Methods for Neural Networks</a:t>
            </a:r>
            <a:endParaRPr/>
          </a:p>
        </p:txBody>
      </p:sp>
      <p:sp>
        <p:nvSpPr>
          <p:cNvPr id="297" name="Google Shape;297;p8"/>
          <p:cNvSpPr txBox="1">
            <a:spLocks noGrp="1"/>
          </p:cNvSpPr>
          <p:nvPr>
            <p:ph type="sldNum" idx="12"/>
          </p:nvPr>
        </p:nvSpPr>
        <p:spPr>
          <a:xfrm>
            <a:off x="2" y="4568400"/>
            <a:ext cx="1114424" cy="572286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75600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8</a:t>
            </a:fld>
            <a:endParaRPr/>
          </a:p>
        </p:txBody>
      </p:sp>
      <p:sp>
        <p:nvSpPr>
          <p:cNvPr id="298" name="Google Shape;298;p8"/>
          <p:cNvSpPr txBox="1">
            <a:spLocks noGrp="1"/>
          </p:cNvSpPr>
          <p:nvPr>
            <p:ph type="body" idx="1"/>
          </p:nvPr>
        </p:nvSpPr>
        <p:spPr>
          <a:xfrm>
            <a:off x="3459958" y="2728136"/>
            <a:ext cx="1461024" cy="3582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</a:pPr>
            <a:r>
              <a:rPr lang="en-GB" sz="1000"/>
              <a:t>Mapping the values from the quantized values into the original large values</a:t>
            </a:r>
            <a:endParaRPr sz="1000"/>
          </a:p>
        </p:txBody>
      </p:sp>
      <p:graphicFrame>
        <p:nvGraphicFramePr>
          <p:cNvPr id="299" name="Google Shape;299;p8"/>
          <p:cNvGraphicFramePr/>
          <p:nvPr/>
        </p:nvGraphicFramePr>
        <p:xfrm>
          <a:off x="303783" y="1657940"/>
          <a:ext cx="866975" cy="2892380"/>
        </p:xfrm>
        <a:graphic>
          <a:graphicData uri="http://schemas.openxmlformats.org/drawingml/2006/table">
            <a:tbl>
              <a:tblPr firstRow="1" bandRow="1">
                <a:noFill/>
                <a:tableStyleId>{2525947D-79E6-44B2-B12A-532D9E6C3FB6}</a:tableStyleId>
              </a:tblPr>
              <a:tblGrid>
                <a:gridCol w="866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397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rPr lang="en-GB" sz="1100" u="none" strike="noStrike" cap="none" dirty="0"/>
                        <a:t>32-bit float precision</a:t>
                      </a:r>
                      <a:endParaRPr sz="1100" u="none" strike="noStrike" cap="none" dirty="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22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/>
                        <a:t>0.254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54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/>
                        <a:t>0.278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54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/>
                        <a:t>0.494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54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/>
                        <a:t>0.426</a:t>
                      </a:r>
                      <a:endParaRPr sz="1100" u="none" strike="noStrike" cap="none">
                        <a:solidFill>
                          <a:schemeClr val="lt1"/>
                        </a:solidFill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54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/>
                        <a:t>0.631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54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/>
                        <a:t>0.165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54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/>
                        <a:t>0.512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54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/>
                        <a:t>0.505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54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 dirty="0"/>
                        <a:t>0.306</a:t>
                      </a:r>
                      <a:endParaRPr dirty="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300" name="Google Shape;300;p8"/>
          <p:cNvSpPr/>
          <p:nvPr/>
        </p:nvSpPr>
        <p:spPr>
          <a:xfrm>
            <a:off x="3459958" y="2154199"/>
            <a:ext cx="827444" cy="464696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12700" cap="flat" cmpd="sng">
            <a:solidFill>
              <a:srgbClr val="91121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8"/>
          <p:cNvSpPr txBox="1"/>
          <p:nvPr/>
        </p:nvSpPr>
        <p:spPr>
          <a:xfrm>
            <a:off x="1321121" y="1881429"/>
            <a:ext cx="1087639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Quantization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8"/>
          <p:cNvSpPr txBox="1"/>
          <p:nvPr/>
        </p:nvSpPr>
        <p:spPr>
          <a:xfrm>
            <a:off x="3380501" y="1881428"/>
            <a:ext cx="1087639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Dequantization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8"/>
          <p:cNvSpPr txBox="1"/>
          <p:nvPr/>
        </p:nvSpPr>
        <p:spPr>
          <a:xfrm>
            <a:off x="6132915" y="1549109"/>
            <a:ext cx="2862470" cy="9387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</a:pPr>
            <a:r>
              <a:rPr lang="en-GB" sz="1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</a:t>
            </a:r>
            <a:r>
              <a:rPr lang="en-GB" sz="1100" i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Table1=Table3: </a:t>
            </a:r>
            <a:r>
              <a:rPr lang="en-GB" sz="1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Ideal case of quantization</a:t>
            </a:r>
            <a:endParaRPr dirty="0"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</a:pPr>
            <a:r>
              <a:rPr lang="en-GB" sz="1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</a:t>
            </a:r>
            <a:r>
              <a:rPr lang="en-GB" sz="1100" i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Table1≠Table3</a:t>
            </a:r>
            <a:r>
              <a:rPr lang="en-GB" sz="1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Due to error introduced during quantization.</a:t>
            </a:r>
            <a:endParaRPr sz="1100" i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15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100" i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8"/>
          <p:cNvSpPr txBox="1"/>
          <p:nvPr/>
        </p:nvSpPr>
        <p:spPr>
          <a:xfrm>
            <a:off x="1365287" y="2738077"/>
            <a:ext cx="1114424" cy="3796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en-GB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Mapping the values of a large set into a smaller one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05" name="Google Shape;305;p8"/>
          <p:cNvGraphicFramePr/>
          <p:nvPr/>
        </p:nvGraphicFramePr>
        <p:xfrm>
          <a:off x="2482401" y="1657940"/>
          <a:ext cx="827450" cy="2892380"/>
        </p:xfrm>
        <a:graphic>
          <a:graphicData uri="http://schemas.openxmlformats.org/drawingml/2006/table">
            <a:tbl>
              <a:tblPr firstRow="1" bandRow="1">
                <a:noFill/>
                <a:tableStyleId>{2525947D-79E6-44B2-B12A-532D9E6C3FB6}</a:tableStyleId>
              </a:tblPr>
              <a:tblGrid>
                <a:gridCol w="827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397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 dirty="0"/>
                        <a:t>8-bit INT precision</a:t>
                      </a:r>
                      <a:endParaRPr sz="1100" u="none" strike="noStrike" cap="none" dirty="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22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/>
                        <a:t>49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54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/>
                        <a:t>62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54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/>
                        <a:t>180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54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/>
                        <a:t>143</a:t>
                      </a:r>
                      <a:endParaRPr sz="1100" u="none" strike="noStrike" cap="none">
                        <a:solidFill>
                          <a:schemeClr val="lt1"/>
                        </a:solidFill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54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/>
                        <a:t>255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54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/>
                        <a:t>0</a:t>
                      </a:r>
                      <a:endParaRPr sz="11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54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/>
                        <a:t>190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54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/>
                        <a:t>186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54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 dirty="0"/>
                        <a:t>77</a:t>
                      </a:r>
                      <a:endParaRPr dirty="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aphicFrame>
        <p:nvGraphicFramePr>
          <p:cNvPr id="306" name="Google Shape;306;p8"/>
          <p:cNvGraphicFramePr/>
          <p:nvPr/>
        </p:nvGraphicFramePr>
        <p:xfrm>
          <a:off x="4841122" y="1711537"/>
          <a:ext cx="866975" cy="2839420"/>
        </p:xfrm>
        <a:graphic>
          <a:graphicData uri="http://schemas.openxmlformats.org/drawingml/2006/table">
            <a:tbl>
              <a:tblPr firstRow="1" bandRow="1">
                <a:noFill/>
                <a:tableStyleId>{2525947D-79E6-44B2-B12A-532D9E6C3FB6}</a:tableStyleId>
              </a:tblPr>
              <a:tblGrid>
                <a:gridCol w="866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53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rPr lang="en-GB" sz="1100" u="none" strike="noStrike" cap="none"/>
                        <a:t>32-bit float precision</a:t>
                      </a:r>
                      <a:endParaRPr sz="11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3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>
                          <a:solidFill>
                            <a:schemeClr val="dk2"/>
                          </a:solidFill>
                        </a:rPr>
                        <a:t>0.255</a:t>
                      </a:r>
                      <a:endParaRPr sz="1100" u="none" strike="noStrike" cap="none">
                        <a:solidFill>
                          <a:schemeClr val="dk2"/>
                        </a:solidFill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92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/>
                        <a:t>0.278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92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/>
                        <a:t>0.494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92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>
                          <a:solidFill>
                            <a:schemeClr val="dk2"/>
                          </a:solidFill>
                        </a:rPr>
                        <a:t>0.427</a:t>
                      </a:r>
                      <a:endParaRPr sz="1100" u="none" strike="noStrike" cap="none">
                        <a:solidFill>
                          <a:schemeClr val="dk2"/>
                        </a:solidFill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92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/>
                        <a:t>0.631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92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/>
                        <a:t>0.165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92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>
                          <a:solidFill>
                            <a:schemeClr val="dk2"/>
                          </a:solidFill>
                        </a:rPr>
                        <a:t>0.514</a:t>
                      </a:r>
                      <a:endParaRPr sz="1100" u="none" strike="noStrike" cap="none">
                        <a:solidFill>
                          <a:schemeClr val="dk2"/>
                        </a:solidFill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92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>
                          <a:solidFill>
                            <a:schemeClr val="dk2"/>
                          </a:solidFill>
                        </a:rPr>
                        <a:t>0.506</a:t>
                      </a:r>
                      <a:endParaRPr sz="1100" u="none" strike="noStrike" cap="none">
                        <a:solidFill>
                          <a:schemeClr val="dk2"/>
                        </a:solidFill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692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/>
                        <a:t>0.306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307" name="Google Shape;307;p8"/>
          <p:cNvSpPr txBox="1"/>
          <p:nvPr/>
        </p:nvSpPr>
        <p:spPr>
          <a:xfrm>
            <a:off x="405244" y="1383091"/>
            <a:ext cx="580596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i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Table 1</a:t>
            </a:r>
            <a:endParaRPr sz="1000" i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8"/>
          <p:cNvSpPr txBox="1"/>
          <p:nvPr/>
        </p:nvSpPr>
        <p:spPr>
          <a:xfrm>
            <a:off x="2605824" y="1383091"/>
            <a:ext cx="580597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i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Table 2</a:t>
            </a:r>
            <a:endParaRPr sz="1000" i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8"/>
          <p:cNvSpPr txBox="1"/>
          <p:nvPr/>
        </p:nvSpPr>
        <p:spPr>
          <a:xfrm>
            <a:off x="4920982" y="1436628"/>
            <a:ext cx="625939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i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Table 3</a:t>
            </a:r>
            <a:endParaRPr sz="1000" i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8"/>
          <p:cNvSpPr/>
          <p:nvPr/>
        </p:nvSpPr>
        <p:spPr>
          <a:xfrm>
            <a:off x="1370329" y="2216125"/>
            <a:ext cx="827444" cy="464696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12700" cap="flat" cmpd="sng">
            <a:solidFill>
              <a:srgbClr val="91121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11" name="Google Shape;311;p8"/>
          <p:cNvGrpSpPr/>
          <p:nvPr/>
        </p:nvGrpSpPr>
        <p:grpSpPr>
          <a:xfrm>
            <a:off x="5933023" y="2583652"/>
            <a:ext cx="2900146" cy="1614603"/>
            <a:chOff x="6117269" y="2143601"/>
            <a:chExt cx="2900146" cy="1614603"/>
          </a:xfrm>
        </p:grpSpPr>
        <p:sp>
          <p:nvSpPr>
            <p:cNvPr id="312" name="Google Shape;312;p8"/>
            <p:cNvSpPr/>
            <p:nvPr/>
          </p:nvSpPr>
          <p:spPr>
            <a:xfrm>
              <a:off x="6674904" y="2143601"/>
              <a:ext cx="1777106" cy="398634"/>
            </a:xfrm>
            <a:prstGeom prst="rect">
              <a:avLst/>
            </a:prstGeom>
            <a:solidFill>
              <a:srgbClr val="F9CACB"/>
            </a:solidFill>
            <a:ln w="12700" cap="flat" cmpd="sng">
              <a:solidFill>
                <a:srgbClr val="91121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35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Quantization error</a:t>
              </a:r>
              <a:endParaRPr sz="135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3" name="Google Shape;313;p8"/>
            <p:cNvSpPr/>
            <p:nvPr/>
          </p:nvSpPr>
          <p:spPr>
            <a:xfrm>
              <a:off x="6117269" y="3153674"/>
              <a:ext cx="1067828" cy="604530"/>
            </a:xfrm>
            <a:prstGeom prst="rect">
              <a:avLst/>
            </a:prstGeom>
            <a:solidFill>
              <a:srgbClr val="F9CACB"/>
            </a:solidFill>
            <a:ln w="12700" cap="flat" cmpd="sng">
              <a:solidFill>
                <a:srgbClr val="91121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35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Clipping function</a:t>
              </a:r>
              <a:endParaRPr sz="1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4" name="Google Shape;314;p8"/>
            <p:cNvSpPr/>
            <p:nvPr/>
          </p:nvSpPr>
          <p:spPr>
            <a:xfrm>
              <a:off x="8053584" y="3153674"/>
              <a:ext cx="963831" cy="604530"/>
            </a:xfrm>
            <a:prstGeom prst="rect">
              <a:avLst/>
            </a:prstGeom>
            <a:solidFill>
              <a:srgbClr val="F9CACB"/>
            </a:solidFill>
            <a:ln w="12700" cap="flat" cmpd="sng">
              <a:solidFill>
                <a:srgbClr val="91121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35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Rounding operation</a:t>
              </a:r>
              <a:endParaRPr sz="1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15" name="Google Shape;315;p8"/>
            <p:cNvGrpSpPr/>
            <p:nvPr/>
          </p:nvGrpSpPr>
          <p:grpSpPr>
            <a:xfrm>
              <a:off x="6651157" y="2542235"/>
              <a:ext cx="1884300" cy="611400"/>
              <a:chOff x="6651157" y="2542235"/>
              <a:chExt cx="1884300" cy="611400"/>
            </a:xfrm>
          </p:grpSpPr>
          <p:cxnSp>
            <p:nvCxnSpPr>
              <p:cNvPr id="316" name="Google Shape;316;p8"/>
              <p:cNvCxnSpPr>
                <a:stCxn id="312" idx="2"/>
                <a:endCxn id="313" idx="0"/>
              </p:cNvCxnSpPr>
              <p:nvPr/>
            </p:nvCxnSpPr>
            <p:spPr>
              <a:xfrm rot="5400000">
                <a:off x="6801607" y="2391785"/>
                <a:ext cx="611400" cy="912300"/>
              </a:xfrm>
              <a:prstGeom prst="bentConnector3">
                <a:avLst>
                  <a:gd name="adj1" fmla="val 50000"/>
                </a:avLst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triangle" w="med" len="med"/>
                <a:tailEnd type="triangle" w="med" len="med"/>
              </a:ln>
            </p:spPr>
          </p:cxnSp>
          <p:cxnSp>
            <p:nvCxnSpPr>
              <p:cNvPr id="317" name="Google Shape;317;p8"/>
              <p:cNvCxnSpPr>
                <a:stCxn id="312" idx="2"/>
                <a:endCxn id="314" idx="0"/>
              </p:cNvCxnSpPr>
              <p:nvPr/>
            </p:nvCxnSpPr>
            <p:spPr>
              <a:xfrm rot="-5400000" flipH="1">
                <a:off x="7743757" y="2361935"/>
                <a:ext cx="611400" cy="972000"/>
              </a:xfrm>
              <a:prstGeom prst="bentConnector3">
                <a:avLst>
                  <a:gd name="adj1" fmla="val 50000"/>
                </a:avLst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triangle" w="med" len="med"/>
              </a:ln>
            </p:spPr>
          </p:cxnSp>
        </p:grpSp>
      </p:grpSp>
      <p:sp>
        <p:nvSpPr>
          <p:cNvPr id="318" name="Google Shape;318;p8"/>
          <p:cNvSpPr txBox="1"/>
          <p:nvPr/>
        </p:nvSpPr>
        <p:spPr>
          <a:xfrm>
            <a:off x="1643970" y="862905"/>
            <a:ext cx="5856059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5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Each set of values quantized have a unique set of quantization parameters</a:t>
            </a:r>
            <a:endParaRPr sz="135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8" grpId="0" build="p"/>
      <p:bldP spid="300" grpId="0" animBg="1"/>
      <p:bldP spid="302" grpId="0"/>
      <p:bldP spid="303" grpId="0"/>
      <p:bldP spid="309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9"/>
          <p:cNvSpPr txBox="1">
            <a:spLocks noGrp="1"/>
          </p:cNvSpPr>
          <p:nvPr>
            <p:ph type="title"/>
          </p:nvPr>
        </p:nvSpPr>
        <p:spPr>
          <a:xfrm>
            <a:off x="237331" y="240105"/>
            <a:ext cx="7556500" cy="539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Calibri"/>
              <a:buNone/>
            </a:pPr>
            <a:r>
              <a:rPr lang="en-GB"/>
              <a:t>Clipping Function</a:t>
            </a:r>
            <a:endParaRPr/>
          </a:p>
        </p:txBody>
      </p:sp>
      <p:sp>
        <p:nvSpPr>
          <p:cNvPr id="325" name="Google Shape;325;p9"/>
          <p:cNvSpPr txBox="1">
            <a:spLocks noGrp="1"/>
          </p:cNvSpPr>
          <p:nvPr>
            <p:ph type="ftr" idx="11"/>
          </p:nvPr>
        </p:nvSpPr>
        <p:spPr>
          <a:xfrm>
            <a:off x="1114426" y="4568400"/>
            <a:ext cx="7042149" cy="576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Evaluation of Quantization Methods for Neural Networks</a:t>
            </a:r>
            <a:endParaRPr/>
          </a:p>
        </p:txBody>
      </p:sp>
      <p:sp>
        <p:nvSpPr>
          <p:cNvPr id="326" name="Google Shape;326;p9"/>
          <p:cNvSpPr txBox="1">
            <a:spLocks noGrp="1"/>
          </p:cNvSpPr>
          <p:nvPr>
            <p:ph type="sldNum" idx="12"/>
          </p:nvPr>
        </p:nvSpPr>
        <p:spPr>
          <a:xfrm>
            <a:off x="2" y="4568400"/>
            <a:ext cx="1114424" cy="572286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75600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9</a:t>
            </a:fld>
            <a:endParaRPr/>
          </a:p>
        </p:txBody>
      </p:sp>
      <p:graphicFrame>
        <p:nvGraphicFramePr>
          <p:cNvPr id="327" name="Google Shape;327;p9"/>
          <p:cNvGraphicFramePr/>
          <p:nvPr/>
        </p:nvGraphicFramePr>
        <p:xfrm>
          <a:off x="3710977" y="756955"/>
          <a:ext cx="665950" cy="1594485"/>
        </p:xfrm>
        <a:graphic>
          <a:graphicData uri="http://schemas.openxmlformats.org/drawingml/2006/table">
            <a:tbl>
              <a:tblPr>
                <a:noFill/>
                <a:tableStyleId>{2525947D-79E6-44B2-B12A-532D9E6C3FB6}</a:tableStyleId>
              </a:tblPr>
              <a:tblGrid>
                <a:gridCol w="665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80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/>
                        <a:t>10</a:t>
                      </a:r>
                      <a:endParaRPr sz="11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>
                    <a:solidFill>
                      <a:srgbClr val="EB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/>
                        <a:t>111</a:t>
                      </a:r>
                      <a:endParaRPr sz="11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>
                    <a:solidFill>
                      <a:srgbClr val="EB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/>
                        <a:t>112</a:t>
                      </a:r>
                      <a:endParaRPr sz="11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>
                    <a:solidFill>
                      <a:srgbClr val="EB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0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/>
                        <a:t>113</a:t>
                      </a:r>
                      <a:endParaRPr sz="11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>
                    <a:solidFill>
                      <a:srgbClr val="EB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0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/>
                        <a:t>114</a:t>
                      </a:r>
                      <a:endParaRPr sz="11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>
                    <a:solidFill>
                      <a:srgbClr val="EB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0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/>
                        <a:t>115</a:t>
                      </a:r>
                      <a:endParaRPr sz="11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>
                    <a:solidFill>
                      <a:srgbClr val="EB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80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/>
                        <a:t>116</a:t>
                      </a:r>
                      <a:endParaRPr sz="11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>
                    <a:solidFill>
                      <a:srgbClr val="EB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80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/>
                        <a:t>117</a:t>
                      </a:r>
                      <a:endParaRPr sz="11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>
                    <a:solidFill>
                      <a:srgbClr val="EB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80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/>
                        <a:t>230</a:t>
                      </a:r>
                      <a:endParaRPr sz="11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>
                    <a:solidFill>
                      <a:srgbClr val="EB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328" name="Google Shape;328;p9"/>
          <p:cNvGraphicFramePr/>
          <p:nvPr/>
        </p:nvGraphicFramePr>
        <p:xfrm>
          <a:off x="5600477" y="2819743"/>
          <a:ext cx="665950" cy="1594485"/>
        </p:xfrm>
        <a:graphic>
          <a:graphicData uri="http://schemas.openxmlformats.org/drawingml/2006/table">
            <a:tbl>
              <a:tblPr>
                <a:noFill/>
                <a:tableStyleId>{2525947D-79E6-44B2-B12A-532D9E6C3FB6}</a:tableStyleId>
              </a:tblPr>
              <a:tblGrid>
                <a:gridCol w="665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80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>
                          <a:solidFill>
                            <a:schemeClr val="dk2"/>
                          </a:solidFill>
                        </a:rPr>
                        <a:t>111</a:t>
                      </a:r>
                      <a:endParaRPr sz="1100" b="0" i="0" u="none" strike="noStrike" cap="none">
                        <a:solidFill>
                          <a:schemeClr val="dk2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>
                    <a:solidFill>
                      <a:srgbClr val="EB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/>
                        <a:t>111</a:t>
                      </a:r>
                      <a:endParaRPr sz="11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>
                    <a:solidFill>
                      <a:srgbClr val="EB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/>
                        <a:t>112</a:t>
                      </a:r>
                      <a:endParaRPr sz="11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>
                    <a:solidFill>
                      <a:srgbClr val="EB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0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/>
                        <a:t>113</a:t>
                      </a:r>
                      <a:endParaRPr sz="11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>
                    <a:solidFill>
                      <a:srgbClr val="EB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0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/>
                        <a:t>114</a:t>
                      </a:r>
                      <a:endParaRPr sz="11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>
                    <a:solidFill>
                      <a:srgbClr val="EB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0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/>
                        <a:t>115</a:t>
                      </a:r>
                      <a:endParaRPr sz="11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>
                    <a:solidFill>
                      <a:srgbClr val="EB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80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/>
                        <a:t>116</a:t>
                      </a:r>
                      <a:endParaRPr sz="11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>
                    <a:solidFill>
                      <a:srgbClr val="EB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80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/>
                        <a:t>117</a:t>
                      </a:r>
                      <a:endParaRPr sz="11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>
                    <a:solidFill>
                      <a:srgbClr val="EB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80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>
                          <a:solidFill>
                            <a:schemeClr val="dk2"/>
                          </a:solidFill>
                        </a:rPr>
                        <a:t>117</a:t>
                      </a:r>
                      <a:endParaRPr sz="1100" b="0" i="0" u="none" strike="noStrike" cap="none">
                        <a:solidFill>
                          <a:schemeClr val="dk2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>
                    <a:solidFill>
                      <a:srgbClr val="EB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329" name="Google Shape;329;p9"/>
          <p:cNvSpPr txBox="1"/>
          <p:nvPr/>
        </p:nvSpPr>
        <p:spPr>
          <a:xfrm>
            <a:off x="4410887" y="1014219"/>
            <a:ext cx="1910746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Quantized and then dequantized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30" name="Google Shape;330;p9"/>
          <p:cNvCxnSpPr>
            <a:endCxn id="331" idx="0"/>
          </p:cNvCxnSpPr>
          <p:nvPr/>
        </p:nvCxnSpPr>
        <p:spPr>
          <a:xfrm flipH="1">
            <a:off x="4040618" y="2351394"/>
            <a:ext cx="3300" cy="10023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331" name="Google Shape;331;p9"/>
          <p:cNvSpPr txBox="1"/>
          <p:nvPr/>
        </p:nvSpPr>
        <p:spPr>
          <a:xfrm>
            <a:off x="3264294" y="3353694"/>
            <a:ext cx="1552648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Clipped to range </a:t>
            </a:r>
            <a:r>
              <a:rPr lang="en-GB" sz="135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[111,117]</a:t>
            </a:r>
            <a:endParaRPr sz="135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9"/>
          <p:cNvSpPr txBox="1"/>
          <p:nvPr/>
        </p:nvSpPr>
        <p:spPr>
          <a:xfrm>
            <a:off x="6706442" y="3060652"/>
            <a:ext cx="1910746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Quantized and then dequantized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33" name="Google Shape;333;p9"/>
          <p:cNvCxnSpPr/>
          <p:nvPr/>
        </p:nvCxnSpPr>
        <p:spPr>
          <a:xfrm>
            <a:off x="4376916" y="1554197"/>
            <a:ext cx="2009100" cy="78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334" name="Google Shape;334;p9"/>
          <p:cNvCxnSpPr/>
          <p:nvPr/>
        </p:nvCxnSpPr>
        <p:spPr>
          <a:xfrm rot="10800000" flipH="1">
            <a:off x="6266416" y="2347985"/>
            <a:ext cx="2266500" cy="1269000"/>
          </a:xfrm>
          <a:prstGeom prst="bentConnector2">
            <a:avLst/>
          </a:prstGeom>
          <a:noFill/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335" name="Google Shape;335;p9"/>
          <p:cNvSpPr txBox="1"/>
          <p:nvPr/>
        </p:nvSpPr>
        <p:spPr>
          <a:xfrm>
            <a:off x="207034" y="753374"/>
            <a:ext cx="2819930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set of values to be quantized are clipped into a range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9"/>
          <p:cNvSpPr txBox="1"/>
          <p:nvPr/>
        </p:nvSpPr>
        <p:spPr>
          <a:xfrm flipH="1">
            <a:off x="244368" y="2467874"/>
            <a:ext cx="2265275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50" b="1" i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Min-Max clipping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Based on the minimum and maximum values of the set of values to be quantized</a:t>
            </a:r>
            <a:endParaRPr/>
          </a:p>
        </p:txBody>
      </p:sp>
      <p:sp>
        <p:nvSpPr>
          <p:cNvPr id="337" name="Google Shape;337;p9"/>
          <p:cNvSpPr txBox="1"/>
          <p:nvPr/>
        </p:nvSpPr>
        <p:spPr>
          <a:xfrm flipH="1">
            <a:off x="244368" y="3996274"/>
            <a:ext cx="2265275" cy="15465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50" b="1" i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MSE based range setting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5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Based on minimization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5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5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5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5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5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38" name="Google Shape;338;p9"/>
          <p:cNvCxnSpPr>
            <a:stCxn id="331" idx="1"/>
          </p:cNvCxnSpPr>
          <p:nvPr/>
        </p:nvCxnSpPr>
        <p:spPr>
          <a:xfrm rot="10800000">
            <a:off x="1745694" y="2593610"/>
            <a:ext cx="1518600" cy="1014000"/>
          </a:xfrm>
          <a:prstGeom prst="bentConnector3">
            <a:avLst>
              <a:gd name="adj1" fmla="val 49996"/>
            </a:avLst>
          </a:prstGeom>
          <a:noFill/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339" name="Google Shape;339;p9"/>
          <p:cNvCxnSpPr>
            <a:stCxn id="331" idx="1"/>
          </p:cNvCxnSpPr>
          <p:nvPr/>
        </p:nvCxnSpPr>
        <p:spPr>
          <a:xfrm flipH="1">
            <a:off x="2122194" y="3607610"/>
            <a:ext cx="1142100" cy="569700"/>
          </a:xfrm>
          <a:prstGeom prst="bentConnector3">
            <a:avLst>
              <a:gd name="adj1" fmla="val 66267"/>
            </a:avLst>
          </a:prstGeom>
          <a:noFill/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340" name="Google Shape;340;p9"/>
          <p:cNvSpPr txBox="1"/>
          <p:nvPr/>
        </p:nvSpPr>
        <p:spPr>
          <a:xfrm>
            <a:off x="5338090" y="160607"/>
            <a:ext cx="3049254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 : 4-bit quantization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9"/>
          <p:cNvSpPr txBox="1"/>
          <p:nvPr/>
        </p:nvSpPr>
        <p:spPr>
          <a:xfrm>
            <a:off x="4707958" y="1742536"/>
            <a:ext cx="1535680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5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Range[min, max]</a:t>
            </a:r>
            <a:endParaRPr sz="135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9"/>
          <p:cNvSpPr txBox="1"/>
          <p:nvPr/>
        </p:nvSpPr>
        <p:spPr>
          <a:xfrm>
            <a:off x="3327280" y="115513"/>
            <a:ext cx="1552648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Set of values to be quantized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43" name="Google Shape;343;p9"/>
          <p:cNvCxnSpPr>
            <a:stCxn id="331" idx="3"/>
          </p:cNvCxnSpPr>
          <p:nvPr/>
        </p:nvCxnSpPr>
        <p:spPr>
          <a:xfrm>
            <a:off x="4816942" y="3607610"/>
            <a:ext cx="783600" cy="93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344" name="Google Shape;344;p9"/>
          <p:cNvSpPr txBox="1"/>
          <p:nvPr/>
        </p:nvSpPr>
        <p:spPr>
          <a:xfrm>
            <a:off x="3813306" y="575197"/>
            <a:ext cx="580596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i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Table 1</a:t>
            </a:r>
            <a:endParaRPr sz="1000" i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9"/>
          <p:cNvSpPr txBox="1"/>
          <p:nvPr/>
        </p:nvSpPr>
        <p:spPr>
          <a:xfrm>
            <a:off x="6398275" y="532956"/>
            <a:ext cx="580596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i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Table 2</a:t>
            </a:r>
            <a:endParaRPr sz="1000" i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9"/>
          <p:cNvSpPr txBox="1"/>
          <p:nvPr/>
        </p:nvSpPr>
        <p:spPr>
          <a:xfrm>
            <a:off x="8242711" y="532922"/>
            <a:ext cx="580596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i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Table 4</a:t>
            </a:r>
            <a:endParaRPr sz="1000" i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9"/>
          <p:cNvSpPr txBox="1"/>
          <p:nvPr/>
        </p:nvSpPr>
        <p:spPr>
          <a:xfrm>
            <a:off x="5643148" y="2604290"/>
            <a:ext cx="580596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i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Table 3</a:t>
            </a:r>
            <a:endParaRPr sz="1000" i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48" name="Google Shape;348;p9"/>
          <p:cNvGraphicFramePr/>
          <p:nvPr/>
        </p:nvGraphicFramePr>
        <p:xfrm>
          <a:off x="6395767" y="793585"/>
          <a:ext cx="665950" cy="1594485"/>
        </p:xfrm>
        <a:graphic>
          <a:graphicData uri="http://schemas.openxmlformats.org/drawingml/2006/table">
            <a:tbl>
              <a:tblPr>
                <a:noFill/>
                <a:tableStyleId>{2525947D-79E6-44B2-B12A-532D9E6C3FB6}</a:tableStyleId>
              </a:tblPr>
              <a:tblGrid>
                <a:gridCol w="665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80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/>
                        <a:t>10</a:t>
                      </a:r>
                      <a:endParaRPr sz="11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>
                    <a:solidFill>
                      <a:srgbClr val="EB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>
                          <a:solidFill>
                            <a:schemeClr val="dk2"/>
                          </a:solidFill>
                        </a:rPr>
                        <a:t>98</a:t>
                      </a:r>
                      <a:endParaRPr sz="1100" b="0" i="0" u="none" strike="noStrike" cap="none">
                        <a:solidFill>
                          <a:schemeClr val="dk2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>
                    <a:solidFill>
                      <a:srgbClr val="EB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>
                          <a:solidFill>
                            <a:schemeClr val="dk2"/>
                          </a:solidFill>
                        </a:rPr>
                        <a:t>98</a:t>
                      </a:r>
                      <a:endParaRPr sz="1100" b="0" i="0" u="none" strike="noStrike" cap="none">
                        <a:solidFill>
                          <a:schemeClr val="dk2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>
                    <a:solidFill>
                      <a:srgbClr val="EB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0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>
                          <a:solidFill>
                            <a:schemeClr val="dk2"/>
                          </a:solidFill>
                        </a:rPr>
                        <a:t>112</a:t>
                      </a:r>
                      <a:endParaRPr sz="1100" b="0" i="0" u="none" strike="noStrike" cap="none">
                        <a:solidFill>
                          <a:schemeClr val="dk2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>
                    <a:solidFill>
                      <a:srgbClr val="EB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0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>
                          <a:solidFill>
                            <a:schemeClr val="dk2"/>
                          </a:solidFill>
                        </a:rPr>
                        <a:t>112</a:t>
                      </a:r>
                      <a:endParaRPr sz="1100" b="0" i="0" u="none" strike="noStrike" cap="none">
                        <a:solidFill>
                          <a:schemeClr val="dk2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>
                    <a:solidFill>
                      <a:srgbClr val="EB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0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>
                          <a:solidFill>
                            <a:schemeClr val="dk2"/>
                          </a:solidFill>
                        </a:rPr>
                        <a:t>112</a:t>
                      </a:r>
                      <a:endParaRPr sz="1100" b="0" i="0" u="none" strike="noStrike" cap="none">
                        <a:solidFill>
                          <a:schemeClr val="dk2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>
                    <a:solidFill>
                      <a:srgbClr val="EB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80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>
                          <a:solidFill>
                            <a:schemeClr val="dk2"/>
                          </a:solidFill>
                        </a:rPr>
                        <a:t>112</a:t>
                      </a:r>
                      <a:endParaRPr sz="1100" b="0" i="0" u="none" strike="noStrike" cap="none">
                        <a:solidFill>
                          <a:schemeClr val="dk2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>
                    <a:solidFill>
                      <a:srgbClr val="EB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80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>
                          <a:solidFill>
                            <a:schemeClr val="dk2"/>
                          </a:solidFill>
                        </a:rPr>
                        <a:t>112</a:t>
                      </a:r>
                      <a:endParaRPr sz="1100" b="0" i="0" u="none" strike="noStrike" cap="none">
                        <a:solidFill>
                          <a:schemeClr val="dk2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>
                    <a:solidFill>
                      <a:srgbClr val="EB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80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/>
                        <a:t>230</a:t>
                      </a:r>
                      <a:endParaRPr sz="11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>
                    <a:solidFill>
                      <a:srgbClr val="EB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349" name="Google Shape;349;p9"/>
          <p:cNvGraphicFramePr/>
          <p:nvPr/>
        </p:nvGraphicFramePr>
        <p:xfrm>
          <a:off x="8190354" y="760904"/>
          <a:ext cx="665950" cy="1594485"/>
        </p:xfrm>
        <a:graphic>
          <a:graphicData uri="http://schemas.openxmlformats.org/drawingml/2006/table">
            <a:tbl>
              <a:tblPr>
                <a:noFill/>
                <a:tableStyleId>{2525947D-79E6-44B2-B12A-532D9E6C3FB6}</a:tableStyleId>
              </a:tblPr>
              <a:tblGrid>
                <a:gridCol w="665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80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>
                          <a:solidFill>
                            <a:schemeClr val="dk2"/>
                          </a:solidFill>
                        </a:rPr>
                        <a:t>111</a:t>
                      </a:r>
                      <a:endParaRPr sz="1100" b="0" i="0" u="none" strike="noStrike" cap="none">
                        <a:solidFill>
                          <a:schemeClr val="dk2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>
                    <a:solidFill>
                      <a:srgbClr val="EB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/>
                        <a:t>111</a:t>
                      </a:r>
                      <a:endParaRPr sz="11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>
                    <a:solidFill>
                      <a:srgbClr val="EB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>
                          <a:solidFill>
                            <a:schemeClr val="dk2"/>
                          </a:solidFill>
                        </a:rPr>
                        <a:t>111</a:t>
                      </a:r>
                      <a:endParaRPr sz="1100" b="0" i="0" u="none" strike="noStrike" cap="none">
                        <a:solidFill>
                          <a:schemeClr val="dk2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>
                    <a:solidFill>
                      <a:srgbClr val="EB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0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/>
                        <a:t>113</a:t>
                      </a:r>
                      <a:endParaRPr sz="11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>
                    <a:solidFill>
                      <a:srgbClr val="EB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0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>
                          <a:solidFill>
                            <a:schemeClr val="dk2"/>
                          </a:solidFill>
                        </a:rPr>
                        <a:t>113</a:t>
                      </a:r>
                      <a:endParaRPr sz="1100" b="0" i="0" u="none" strike="noStrike" cap="none">
                        <a:solidFill>
                          <a:schemeClr val="dk2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>
                    <a:solidFill>
                      <a:srgbClr val="EB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0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/>
                        <a:t>115</a:t>
                      </a:r>
                      <a:endParaRPr sz="11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>
                    <a:solidFill>
                      <a:srgbClr val="EB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80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>
                          <a:solidFill>
                            <a:schemeClr val="dk2"/>
                          </a:solidFill>
                        </a:rPr>
                        <a:t>115</a:t>
                      </a:r>
                      <a:endParaRPr sz="1100" b="0" i="0" u="none" strike="noStrike" cap="none">
                        <a:solidFill>
                          <a:schemeClr val="dk2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>
                    <a:solidFill>
                      <a:srgbClr val="EB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80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/>
                        <a:t>117</a:t>
                      </a:r>
                      <a:endParaRPr sz="11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>
                    <a:solidFill>
                      <a:srgbClr val="EB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80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>
                          <a:solidFill>
                            <a:schemeClr val="dk2"/>
                          </a:solidFill>
                        </a:rPr>
                        <a:t>117</a:t>
                      </a:r>
                      <a:endParaRPr sz="1100" b="0" i="0" u="none" strike="noStrike" cap="none">
                        <a:solidFill>
                          <a:schemeClr val="dk2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>
                    <a:solidFill>
                      <a:srgbClr val="EB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1" grpId="0"/>
      <p:bldP spid="332" grpId="0"/>
      <p:bldP spid="336" grpId="0"/>
      <p:bldP spid="337" grpId="0"/>
      <p:bldP spid="346" grpId="0"/>
      <p:bldP spid="34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10"/>
          <p:cNvSpPr txBox="1">
            <a:spLocks noGrp="1"/>
          </p:cNvSpPr>
          <p:nvPr>
            <p:ph type="title"/>
          </p:nvPr>
        </p:nvSpPr>
        <p:spPr>
          <a:xfrm>
            <a:off x="237331" y="240105"/>
            <a:ext cx="7556500" cy="539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Calibri"/>
              <a:buNone/>
            </a:pPr>
            <a:r>
              <a:rPr lang="en-GB"/>
              <a:t>Rounding Operation</a:t>
            </a:r>
            <a:endParaRPr/>
          </a:p>
        </p:txBody>
      </p:sp>
      <p:sp>
        <p:nvSpPr>
          <p:cNvPr id="356" name="Google Shape;356;p10"/>
          <p:cNvSpPr txBox="1">
            <a:spLocks noGrp="1"/>
          </p:cNvSpPr>
          <p:nvPr>
            <p:ph type="ftr" idx="11"/>
          </p:nvPr>
        </p:nvSpPr>
        <p:spPr>
          <a:xfrm>
            <a:off x="1114426" y="4568400"/>
            <a:ext cx="7042149" cy="576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Evaluation of Quantization Methods for Neural Networks</a:t>
            </a:r>
            <a:endParaRPr/>
          </a:p>
        </p:txBody>
      </p:sp>
      <p:sp>
        <p:nvSpPr>
          <p:cNvPr id="357" name="Google Shape;357;p10"/>
          <p:cNvSpPr txBox="1">
            <a:spLocks noGrp="1"/>
          </p:cNvSpPr>
          <p:nvPr>
            <p:ph type="sldNum" idx="12"/>
          </p:nvPr>
        </p:nvSpPr>
        <p:spPr>
          <a:xfrm>
            <a:off x="2" y="4568400"/>
            <a:ext cx="1114424" cy="572286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75600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10</a:t>
            </a:fld>
            <a:endParaRPr/>
          </a:p>
        </p:txBody>
      </p:sp>
      <p:sp>
        <p:nvSpPr>
          <p:cNvPr id="358" name="Google Shape;358;p10"/>
          <p:cNvSpPr txBox="1">
            <a:spLocks noGrp="1"/>
          </p:cNvSpPr>
          <p:nvPr>
            <p:ph type="body" idx="1"/>
          </p:nvPr>
        </p:nvSpPr>
        <p:spPr>
          <a:xfrm>
            <a:off x="411675" y="1110523"/>
            <a:ext cx="3667500" cy="126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</a:pPr>
            <a:r>
              <a:rPr lang="en-GB" b="1" i="1" dirty="0"/>
              <a:t>Round-to-nearest</a:t>
            </a:r>
            <a:endParaRPr dirty="0"/>
          </a:p>
          <a:p>
            <a:pPr marL="180975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GB" sz="1200" dirty="0"/>
              <a:t>The value is rounded to the nearest integer value.</a:t>
            </a:r>
            <a:endParaRPr dirty="0"/>
          </a:p>
          <a:p>
            <a:pPr marL="180975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50"/>
              <a:buNone/>
            </a:pPr>
            <a:endParaRPr dirty="0"/>
          </a:p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</a:pPr>
            <a:r>
              <a:rPr lang="en-GB" b="1" i="1" dirty="0"/>
              <a:t>SQuant-hessian</a:t>
            </a: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endParaRPr b="1" i="1" dirty="0"/>
          </a:p>
        </p:txBody>
      </p:sp>
      <p:sp>
        <p:nvSpPr>
          <p:cNvPr id="359" name="Google Shape;359;p10"/>
          <p:cNvSpPr/>
          <p:nvPr/>
        </p:nvSpPr>
        <p:spPr>
          <a:xfrm>
            <a:off x="6513639" y="619156"/>
            <a:ext cx="1331367" cy="576000"/>
          </a:xfrm>
          <a:prstGeom prst="rect">
            <a:avLst/>
          </a:prstGeom>
          <a:solidFill>
            <a:srgbClr val="F9CCCC"/>
          </a:solidFill>
          <a:ln w="12700" cap="flat" cmpd="sng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5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3.14</a:t>
            </a:r>
            <a:endParaRPr sz="135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10"/>
          <p:cNvSpPr/>
          <p:nvPr/>
        </p:nvSpPr>
        <p:spPr>
          <a:xfrm>
            <a:off x="4656917" y="1581769"/>
            <a:ext cx="1331367" cy="576000"/>
          </a:xfrm>
          <a:prstGeom prst="rect">
            <a:avLst/>
          </a:prstGeom>
          <a:solidFill>
            <a:srgbClr val="F9CCCC"/>
          </a:solidFill>
          <a:ln w="12700" cap="flat" cmpd="sng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10"/>
          <p:cNvSpPr/>
          <p:nvPr/>
        </p:nvSpPr>
        <p:spPr>
          <a:xfrm>
            <a:off x="5565279" y="2901774"/>
            <a:ext cx="1331367" cy="576000"/>
          </a:xfrm>
          <a:prstGeom prst="rect">
            <a:avLst/>
          </a:prstGeom>
          <a:solidFill>
            <a:srgbClr val="F9CCCC"/>
          </a:solidFill>
          <a:ln w="12700" cap="flat" cmpd="sng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10"/>
          <p:cNvSpPr/>
          <p:nvPr/>
        </p:nvSpPr>
        <p:spPr>
          <a:xfrm>
            <a:off x="7656208" y="2901774"/>
            <a:ext cx="1331367" cy="576000"/>
          </a:xfrm>
          <a:prstGeom prst="rect">
            <a:avLst/>
          </a:prstGeom>
          <a:solidFill>
            <a:srgbClr val="F9CCCC"/>
          </a:solidFill>
          <a:ln w="12700" cap="flat" cmpd="sng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10"/>
          <p:cNvSpPr txBox="1"/>
          <p:nvPr/>
        </p:nvSpPr>
        <p:spPr>
          <a:xfrm>
            <a:off x="7093064" y="3018992"/>
            <a:ext cx="358445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or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10"/>
          <p:cNvSpPr txBox="1"/>
          <p:nvPr/>
        </p:nvSpPr>
        <p:spPr>
          <a:xfrm>
            <a:off x="6306343" y="247616"/>
            <a:ext cx="1850232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Value to be rounded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65" name="Google Shape;365;p10"/>
          <p:cNvCxnSpPr>
            <a:stCxn id="359" idx="1"/>
            <a:endCxn id="360" idx="0"/>
          </p:cNvCxnSpPr>
          <p:nvPr/>
        </p:nvCxnSpPr>
        <p:spPr>
          <a:xfrm flipH="1">
            <a:off x="5322639" y="907156"/>
            <a:ext cx="1191000" cy="674700"/>
          </a:xfrm>
          <a:prstGeom prst="bentConnector2">
            <a:avLst/>
          </a:prstGeom>
          <a:noFill/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366" name="Google Shape;366;p10"/>
          <p:cNvCxnSpPr>
            <a:stCxn id="359" idx="2"/>
            <a:endCxn id="361" idx="0"/>
          </p:cNvCxnSpPr>
          <p:nvPr/>
        </p:nvCxnSpPr>
        <p:spPr>
          <a:xfrm rot="5400000">
            <a:off x="5851823" y="1574356"/>
            <a:ext cx="1706700" cy="948300"/>
          </a:xfrm>
          <a:prstGeom prst="bentConnector3">
            <a:avLst>
              <a:gd name="adj1" fmla="val 50000"/>
            </a:avLst>
          </a:prstGeom>
          <a:noFill/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367" name="Google Shape;367;p10"/>
          <p:cNvCxnSpPr>
            <a:stCxn id="359" idx="2"/>
            <a:endCxn id="362" idx="0"/>
          </p:cNvCxnSpPr>
          <p:nvPr/>
        </p:nvCxnSpPr>
        <p:spPr>
          <a:xfrm rot="-5400000" flipH="1">
            <a:off x="6897323" y="1477156"/>
            <a:ext cx="1706700" cy="1142700"/>
          </a:xfrm>
          <a:prstGeom prst="bentConnector3">
            <a:avLst>
              <a:gd name="adj1" fmla="val 50000"/>
            </a:avLst>
          </a:prstGeom>
          <a:noFill/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368" name="Google Shape;368;p10"/>
          <p:cNvSpPr txBox="1"/>
          <p:nvPr/>
        </p:nvSpPr>
        <p:spPr>
          <a:xfrm>
            <a:off x="4832620" y="589969"/>
            <a:ext cx="1448593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50" b="1" i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Round-to-nearest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10"/>
          <p:cNvSpPr txBox="1"/>
          <p:nvPr/>
        </p:nvSpPr>
        <p:spPr>
          <a:xfrm>
            <a:off x="6356254" y="2108464"/>
            <a:ext cx="1742498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50" b="1" i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SQuant-hessian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10"/>
          <p:cNvSpPr txBox="1"/>
          <p:nvPr/>
        </p:nvSpPr>
        <p:spPr>
          <a:xfrm>
            <a:off x="289232" y="2217078"/>
            <a:ext cx="35646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GB" sz="1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The value may be rounded to the smallest or the largest  nearest  integer value.</a:t>
            </a:r>
            <a:endParaRPr dirty="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7" name="Google Shape;397;p11" descr="Diagram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78532" y="2763838"/>
            <a:ext cx="1786524" cy="1530248"/>
          </a:xfrm>
          <a:prstGeom prst="rect">
            <a:avLst/>
          </a:prstGeom>
          <a:noFill/>
          <a:ln>
            <a:noFill/>
          </a:ln>
        </p:spPr>
      </p:pic>
      <p:sp>
        <p:nvSpPr>
          <p:cNvPr id="376" name="Google Shape;376;p11"/>
          <p:cNvSpPr txBox="1">
            <a:spLocks noGrp="1"/>
          </p:cNvSpPr>
          <p:nvPr>
            <p:ph type="title"/>
          </p:nvPr>
        </p:nvSpPr>
        <p:spPr>
          <a:xfrm>
            <a:off x="237331" y="240105"/>
            <a:ext cx="7556500" cy="539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Calibri"/>
              <a:buNone/>
            </a:pPr>
            <a:r>
              <a:rPr lang="en-GB"/>
              <a:t>Quantization in Neural Network</a:t>
            </a:r>
            <a:endParaRPr/>
          </a:p>
        </p:txBody>
      </p:sp>
      <p:sp>
        <p:nvSpPr>
          <p:cNvPr id="377" name="Google Shape;377;p11"/>
          <p:cNvSpPr txBox="1">
            <a:spLocks noGrp="1"/>
          </p:cNvSpPr>
          <p:nvPr>
            <p:ph type="ftr" idx="11"/>
          </p:nvPr>
        </p:nvSpPr>
        <p:spPr>
          <a:xfrm>
            <a:off x="1114426" y="4568400"/>
            <a:ext cx="7042149" cy="576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Evaluation of Quantization Methods for Neural Networks</a:t>
            </a:r>
            <a:endParaRPr/>
          </a:p>
        </p:txBody>
      </p:sp>
      <p:sp>
        <p:nvSpPr>
          <p:cNvPr id="378" name="Google Shape;378;p11"/>
          <p:cNvSpPr txBox="1">
            <a:spLocks noGrp="1"/>
          </p:cNvSpPr>
          <p:nvPr>
            <p:ph type="sldNum" idx="12"/>
          </p:nvPr>
        </p:nvSpPr>
        <p:spPr>
          <a:xfrm>
            <a:off x="2" y="4568400"/>
            <a:ext cx="1114424" cy="572286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75600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11</a:t>
            </a:fld>
            <a:endParaRPr/>
          </a:p>
        </p:txBody>
      </p:sp>
      <p:pic>
        <p:nvPicPr>
          <p:cNvPr id="379" name="Google Shape;379;p11" descr="Diagram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78532" y="651759"/>
            <a:ext cx="1786524" cy="153024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80" name="Google Shape;380;p11"/>
          <p:cNvCxnSpPr/>
          <p:nvPr/>
        </p:nvCxnSpPr>
        <p:spPr>
          <a:xfrm>
            <a:off x="1602387" y="1092307"/>
            <a:ext cx="921715" cy="0"/>
          </a:xfrm>
          <a:prstGeom prst="straightConnector1">
            <a:avLst/>
          </a:prstGeom>
          <a:noFill/>
          <a:ln w="15875" cap="flat" cmpd="sng">
            <a:solidFill>
              <a:schemeClr val="dk1"/>
            </a:solidFill>
            <a:prstDash val="solid"/>
            <a:miter lim="800000"/>
            <a:headEnd type="oval" w="med" len="med"/>
            <a:tailEnd type="oval" w="med" len="med"/>
          </a:ln>
        </p:spPr>
      </p:cxnSp>
      <p:sp>
        <p:nvSpPr>
          <p:cNvPr id="381" name="Google Shape;381;p11"/>
          <p:cNvSpPr txBox="1"/>
          <p:nvPr/>
        </p:nvSpPr>
        <p:spPr>
          <a:xfrm>
            <a:off x="2524102" y="928824"/>
            <a:ext cx="1649396" cy="7155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Weights: 32bits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Biases : 32 bits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82" name="Google Shape;382;p11"/>
          <p:cNvCxnSpPr/>
          <p:nvPr/>
        </p:nvCxnSpPr>
        <p:spPr>
          <a:xfrm>
            <a:off x="1591566" y="3221444"/>
            <a:ext cx="921715" cy="0"/>
          </a:xfrm>
          <a:prstGeom prst="straightConnector1">
            <a:avLst/>
          </a:prstGeom>
          <a:noFill/>
          <a:ln w="15875" cap="flat" cmpd="sng">
            <a:solidFill>
              <a:schemeClr val="dk1"/>
            </a:solidFill>
            <a:prstDash val="solid"/>
            <a:miter lim="800000"/>
            <a:headEnd type="oval" w="med" len="med"/>
            <a:tailEnd type="oval" w="med" len="med"/>
          </a:ln>
        </p:spPr>
      </p:cxnSp>
      <p:sp>
        <p:nvSpPr>
          <p:cNvPr id="383" name="Google Shape;383;p11"/>
          <p:cNvSpPr txBox="1"/>
          <p:nvPr/>
        </p:nvSpPr>
        <p:spPr>
          <a:xfrm>
            <a:off x="2654577" y="3039805"/>
            <a:ext cx="1649396" cy="7155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Weights: 8bits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Biases : 8 bits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84" name="Google Shape;384;p11"/>
          <p:cNvGrpSpPr/>
          <p:nvPr/>
        </p:nvGrpSpPr>
        <p:grpSpPr>
          <a:xfrm>
            <a:off x="6273681" y="163847"/>
            <a:ext cx="2666653" cy="3735923"/>
            <a:chOff x="130790" y="50"/>
            <a:chExt cx="2666653" cy="3735923"/>
          </a:xfrm>
        </p:grpSpPr>
        <p:sp>
          <p:nvSpPr>
            <p:cNvPr id="385" name="Google Shape;385;p11"/>
            <p:cNvSpPr/>
            <p:nvPr/>
          </p:nvSpPr>
          <p:spPr>
            <a:xfrm>
              <a:off x="130790" y="50"/>
              <a:ext cx="1939634" cy="969817"/>
            </a:xfrm>
            <a:prstGeom prst="roundRect">
              <a:avLst>
                <a:gd name="adj" fmla="val 10000"/>
              </a:avLst>
            </a:prstGeom>
            <a:solidFill>
              <a:srgbClr val="C71719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" name="Google Shape;386;p11"/>
            <p:cNvSpPr txBox="1"/>
            <p:nvPr/>
          </p:nvSpPr>
          <p:spPr>
            <a:xfrm>
              <a:off x="159195" y="28455"/>
              <a:ext cx="1882824" cy="91300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1425" tIns="34275" rIns="51425" bIns="342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700"/>
                <a:buFont typeface="Calibri"/>
                <a:buNone/>
              </a:pPr>
              <a:r>
                <a:rPr lang="en-GB" sz="2700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Effect of quantization</a:t>
              </a:r>
              <a:endParaRPr sz="27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7" name="Google Shape;387;p11"/>
            <p:cNvSpPr/>
            <p:nvPr/>
          </p:nvSpPr>
          <p:spPr>
            <a:xfrm>
              <a:off x="324754" y="969867"/>
              <a:ext cx="324754" cy="589357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0"/>
                  </a:moveTo>
                  <a:lnTo>
                    <a:pt x="0" y="120000"/>
                  </a:lnTo>
                  <a:lnTo>
                    <a:pt x="120000" y="120000"/>
                  </a:lnTo>
                </a:path>
              </a:pathLst>
            </a:custGeom>
            <a:noFill/>
            <a:ln w="12700" cap="flat" cmpd="sng">
              <a:solidFill>
                <a:srgbClr val="9E1013"/>
              </a:solidFill>
              <a:prstDash val="solid"/>
              <a:miter lim="800000"/>
              <a:headEnd type="none" w="sm" len="sm"/>
              <a:tailEnd type="none" w="sm" len="sm"/>
            </a:ln>
          </p:spPr>
        </p:sp>
        <p:sp>
          <p:nvSpPr>
            <p:cNvPr id="388" name="Google Shape;388;p11"/>
            <p:cNvSpPr/>
            <p:nvPr/>
          </p:nvSpPr>
          <p:spPr>
            <a:xfrm>
              <a:off x="649508" y="1212321"/>
              <a:ext cx="2147935" cy="693807"/>
            </a:xfrm>
            <a:prstGeom prst="roundRect">
              <a:avLst>
                <a:gd name="adj" fmla="val 10000"/>
              </a:avLst>
            </a:prstGeom>
            <a:solidFill>
              <a:schemeClr val="lt1">
                <a:alpha val="89803"/>
              </a:schemeClr>
            </a:solidFill>
            <a:ln w="12700" cap="flat" cmpd="sng">
              <a:solidFill>
                <a:srgbClr val="C71719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" name="Google Shape;389;p11"/>
            <p:cNvSpPr txBox="1"/>
            <p:nvPr/>
          </p:nvSpPr>
          <p:spPr>
            <a:xfrm>
              <a:off x="669829" y="1232642"/>
              <a:ext cx="2107293" cy="65316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6650" tIns="17775" rIns="26650" bIns="177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rPr lang="en-GB" sz="1400" b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Accuracy</a:t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0" name="Google Shape;390;p11"/>
            <p:cNvSpPr/>
            <p:nvPr/>
          </p:nvSpPr>
          <p:spPr>
            <a:xfrm>
              <a:off x="324754" y="969867"/>
              <a:ext cx="324754" cy="1469738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0"/>
                  </a:moveTo>
                  <a:lnTo>
                    <a:pt x="0" y="120000"/>
                  </a:lnTo>
                  <a:lnTo>
                    <a:pt x="120000" y="120000"/>
                  </a:lnTo>
                </a:path>
              </a:pathLst>
            </a:custGeom>
            <a:noFill/>
            <a:ln w="12700" cap="flat" cmpd="sng">
              <a:solidFill>
                <a:srgbClr val="9E1013"/>
              </a:solidFill>
              <a:prstDash val="solid"/>
              <a:miter lim="800000"/>
              <a:headEnd type="none" w="sm" len="sm"/>
              <a:tailEnd type="none" w="sm" len="sm"/>
            </a:ln>
          </p:spPr>
        </p:sp>
        <p:sp>
          <p:nvSpPr>
            <p:cNvPr id="391" name="Google Shape;391;p11"/>
            <p:cNvSpPr/>
            <p:nvPr/>
          </p:nvSpPr>
          <p:spPr>
            <a:xfrm>
              <a:off x="649508" y="2148583"/>
              <a:ext cx="2147935" cy="582045"/>
            </a:xfrm>
            <a:prstGeom prst="roundRect">
              <a:avLst>
                <a:gd name="adj" fmla="val 10000"/>
              </a:avLst>
            </a:prstGeom>
            <a:solidFill>
              <a:schemeClr val="lt1">
                <a:alpha val="89803"/>
              </a:schemeClr>
            </a:solidFill>
            <a:ln w="12700" cap="flat" cmpd="sng">
              <a:solidFill>
                <a:srgbClr val="C71719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" name="Google Shape;392;p11"/>
            <p:cNvSpPr txBox="1"/>
            <p:nvPr/>
          </p:nvSpPr>
          <p:spPr>
            <a:xfrm>
              <a:off x="666556" y="2165631"/>
              <a:ext cx="2113839" cy="54794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6650" tIns="17775" rIns="26650" bIns="177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rPr lang="en-GB" sz="1400" b="1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Inference</a:t>
              </a:r>
              <a:r>
                <a:rPr lang="en-GB" sz="240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r>
                <a:rPr lang="en-GB" sz="1400" b="1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time</a:t>
              </a:r>
              <a:endParaRPr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3" name="Google Shape;393;p11"/>
            <p:cNvSpPr/>
            <p:nvPr/>
          </p:nvSpPr>
          <p:spPr>
            <a:xfrm>
              <a:off x="324754" y="969867"/>
              <a:ext cx="324754" cy="2553712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0"/>
                  </a:moveTo>
                  <a:lnTo>
                    <a:pt x="0" y="120000"/>
                  </a:lnTo>
                  <a:lnTo>
                    <a:pt x="120000" y="120000"/>
                  </a:lnTo>
                </a:path>
              </a:pathLst>
            </a:custGeom>
            <a:noFill/>
            <a:ln w="12700" cap="flat" cmpd="sng">
              <a:solidFill>
                <a:srgbClr val="9E1013"/>
              </a:solidFill>
              <a:prstDash val="solid"/>
              <a:miter lim="800000"/>
              <a:headEnd type="none" w="sm" len="sm"/>
              <a:tailEnd type="none" w="sm" len="sm"/>
            </a:ln>
          </p:spPr>
        </p:sp>
        <p:sp>
          <p:nvSpPr>
            <p:cNvPr id="394" name="Google Shape;394;p11"/>
            <p:cNvSpPr/>
            <p:nvPr/>
          </p:nvSpPr>
          <p:spPr>
            <a:xfrm>
              <a:off x="649508" y="3185476"/>
              <a:ext cx="2147935" cy="550497"/>
            </a:xfrm>
            <a:prstGeom prst="roundRect">
              <a:avLst>
                <a:gd name="adj" fmla="val 10000"/>
              </a:avLst>
            </a:prstGeom>
            <a:solidFill>
              <a:schemeClr val="lt1">
                <a:alpha val="89803"/>
              </a:schemeClr>
            </a:solidFill>
            <a:ln w="12700" cap="flat" cmpd="sng">
              <a:solidFill>
                <a:srgbClr val="C71719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" name="Google Shape;395;p11"/>
            <p:cNvSpPr txBox="1"/>
            <p:nvPr/>
          </p:nvSpPr>
          <p:spPr>
            <a:xfrm>
              <a:off x="660990" y="3198228"/>
              <a:ext cx="2083441" cy="53774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6650" tIns="17775" rIns="26650" bIns="177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rPr lang="en-GB" sz="1400" b="1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Model size</a:t>
              </a:r>
              <a:endParaRPr sz="7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96" name="Google Shape;396;p11"/>
          <p:cNvSpPr txBox="1"/>
          <p:nvPr/>
        </p:nvSpPr>
        <p:spPr>
          <a:xfrm>
            <a:off x="2441502" y="3798584"/>
            <a:ext cx="2958207" cy="715581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5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Weights, biases and outputs of activations are quantized separately for each layer.</a:t>
            </a:r>
            <a:endParaRPr sz="135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11"/>
          <p:cNvSpPr txBox="1"/>
          <p:nvPr/>
        </p:nvSpPr>
        <p:spPr>
          <a:xfrm>
            <a:off x="1851885" y="2271668"/>
            <a:ext cx="2110254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8-bit quantization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11"/>
          <p:cNvSpPr/>
          <p:nvPr/>
        </p:nvSpPr>
        <p:spPr>
          <a:xfrm rot="5400000">
            <a:off x="1104119" y="2298810"/>
            <a:ext cx="827444" cy="464696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12700" cap="flat" cmpd="sng">
            <a:solidFill>
              <a:srgbClr val="91121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12"/>
          <p:cNvSpPr txBox="1">
            <a:spLocks noGrp="1"/>
          </p:cNvSpPr>
          <p:nvPr>
            <p:ph type="title"/>
          </p:nvPr>
        </p:nvSpPr>
        <p:spPr>
          <a:xfrm>
            <a:off x="237330" y="240105"/>
            <a:ext cx="8906670" cy="539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Calibri"/>
              <a:buNone/>
            </a:pPr>
            <a:r>
              <a:rPr lang="en-GB"/>
              <a:t>Types of Quantization (Based on How Quantization is Applied)</a:t>
            </a:r>
            <a:endParaRPr/>
          </a:p>
        </p:txBody>
      </p:sp>
      <p:sp>
        <p:nvSpPr>
          <p:cNvPr id="406" name="Google Shape;406;p12"/>
          <p:cNvSpPr txBox="1">
            <a:spLocks noGrp="1"/>
          </p:cNvSpPr>
          <p:nvPr>
            <p:ph type="ftr" idx="11"/>
          </p:nvPr>
        </p:nvSpPr>
        <p:spPr>
          <a:xfrm>
            <a:off x="1114426" y="4568400"/>
            <a:ext cx="7042149" cy="576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Evaluation of Quantization Methods for Neural Networks</a:t>
            </a:r>
            <a:endParaRPr dirty="0"/>
          </a:p>
        </p:txBody>
      </p:sp>
      <p:sp>
        <p:nvSpPr>
          <p:cNvPr id="407" name="Google Shape;407;p12"/>
          <p:cNvSpPr txBox="1">
            <a:spLocks noGrp="1"/>
          </p:cNvSpPr>
          <p:nvPr>
            <p:ph type="sldNum" idx="12"/>
          </p:nvPr>
        </p:nvSpPr>
        <p:spPr>
          <a:xfrm>
            <a:off x="2" y="4568400"/>
            <a:ext cx="1114424" cy="572286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75600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12</a:t>
            </a:fld>
            <a:endParaRPr/>
          </a:p>
        </p:txBody>
      </p:sp>
      <p:grpSp>
        <p:nvGrpSpPr>
          <p:cNvPr id="408" name="Google Shape;408;p12"/>
          <p:cNvGrpSpPr/>
          <p:nvPr/>
        </p:nvGrpSpPr>
        <p:grpSpPr>
          <a:xfrm>
            <a:off x="770407" y="733762"/>
            <a:ext cx="7141710" cy="1449746"/>
            <a:chOff x="0" y="242149"/>
            <a:chExt cx="7141710" cy="1449746"/>
          </a:xfrm>
        </p:grpSpPr>
        <p:sp>
          <p:nvSpPr>
            <p:cNvPr id="409" name="Google Shape;409;p12"/>
            <p:cNvSpPr/>
            <p:nvPr/>
          </p:nvSpPr>
          <p:spPr>
            <a:xfrm>
              <a:off x="3582362" y="826249"/>
              <a:ext cx="2451264" cy="279532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0"/>
                  </a:moveTo>
                  <a:lnTo>
                    <a:pt x="0" y="67343"/>
                  </a:lnTo>
                  <a:lnTo>
                    <a:pt x="120000" y="67343"/>
                  </a:lnTo>
                  <a:lnTo>
                    <a:pt x="120000" y="120000"/>
                  </a:lnTo>
                </a:path>
              </a:pathLst>
            </a:custGeom>
            <a:noFill/>
            <a:ln w="12700" cap="flat" cmpd="sng">
              <a:solidFill>
                <a:srgbClr val="9E1013"/>
              </a:solidFill>
              <a:prstDash val="solid"/>
              <a:miter lim="800000"/>
              <a:headEnd type="none" w="sm" len="sm"/>
              <a:tailEnd type="none" w="sm" len="sm"/>
            </a:ln>
          </p:spPr>
        </p:sp>
        <p:sp>
          <p:nvSpPr>
            <p:cNvPr id="410" name="Google Shape;410;p12"/>
            <p:cNvSpPr/>
            <p:nvPr/>
          </p:nvSpPr>
          <p:spPr>
            <a:xfrm>
              <a:off x="3534621" y="826249"/>
              <a:ext cx="91440" cy="281547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62651" y="0"/>
                  </a:moveTo>
                  <a:lnTo>
                    <a:pt x="62651" y="67720"/>
                  </a:lnTo>
                  <a:lnTo>
                    <a:pt x="60000" y="67720"/>
                  </a:lnTo>
                  <a:lnTo>
                    <a:pt x="60000" y="120000"/>
                  </a:lnTo>
                </a:path>
              </a:pathLst>
            </a:custGeom>
            <a:noFill/>
            <a:ln w="12700" cap="flat" cmpd="sng">
              <a:solidFill>
                <a:srgbClr val="9E1013"/>
              </a:solidFill>
              <a:prstDash val="solid"/>
              <a:miter lim="800000"/>
              <a:headEnd type="none" w="sm" len="sm"/>
              <a:tailEnd type="none" w="sm" len="sm"/>
            </a:ln>
          </p:spPr>
        </p:sp>
        <p:sp>
          <p:nvSpPr>
            <p:cNvPr id="411" name="Google Shape;411;p12"/>
            <p:cNvSpPr/>
            <p:nvPr/>
          </p:nvSpPr>
          <p:spPr>
            <a:xfrm>
              <a:off x="1108084" y="826249"/>
              <a:ext cx="2474278" cy="277739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120000" y="0"/>
                  </a:moveTo>
                  <a:lnTo>
                    <a:pt x="120000" y="67003"/>
                  </a:lnTo>
                  <a:lnTo>
                    <a:pt x="0" y="67003"/>
                  </a:lnTo>
                  <a:lnTo>
                    <a:pt x="0" y="120000"/>
                  </a:lnTo>
                </a:path>
              </a:pathLst>
            </a:custGeom>
            <a:noFill/>
            <a:ln w="12700" cap="flat" cmpd="sng">
              <a:solidFill>
                <a:srgbClr val="9E1013"/>
              </a:solidFill>
              <a:prstDash val="solid"/>
              <a:miter lim="800000"/>
              <a:headEnd type="none" w="sm" len="sm"/>
              <a:tailEnd type="none" w="sm" len="sm"/>
            </a:ln>
          </p:spPr>
        </p:sp>
        <p:sp>
          <p:nvSpPr>
            <p:cNvPr id="412" name="Google Shape;412;p12"/>
            <p:cNvSpPr/>
            <p:nvPr/>
          </p:nvSpPr>
          <p:spPr>
            <a:xfrm>
              <a:off x="2474278" y="242149"/>
              <a:ext cx="2216168" cy="584099"/>
            </a:xfrm>
            <a:prstGeom prst="rect">
              <a:avLst/>
            </a:prstGeom>
            <a:solidFill>
              <a:srgbClr val="C71719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" name="Google Shape;413;p12"/>
            <p:cNvSpPr txBox="1"/>
            <p:nvPr/>
          </p:nvSpPr>
          <p:spPr>
            <a:xfrm>
              <a:off x="2474278" y="242149"/>
              <a:ext cx="2216168" cy="5840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0150" tIns="10150" rIns="10150" bIns="1015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Calibri"/>
                <a:buNone/>
              </a:pPr>
              <a:r>
                <a:rPr lang="en-GB" sz="1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Quantization Types</a:t>
              </a:r>
              <a:endParaRPr/>
            </a:p>
          </p:txBody>
        </p:sp>
        <p:sp>
          <p:nvSpPr>
            <p:cNvPr id="414" name="Google Shape;414;p12"/>
            <p:cNvSpPr/>
            <p:nvPr/>
          </p:nvSpPr>
          <p:spPr>
            <a:xfrm>
              <a:off x="0" y="1103988"/>
              <a:ext cx="2216168" cy="584099"/>
            </a:xfrm>
            <a:prstGeom prst="rect">
              <a:avLst/>
            </a:prstGeom>
            <a:solidFill>
              <a:srgbClr val="C71719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" name="Google Shape;415;p12"/>
            <p:cNvSpPr txBox="1"/>
            <p:nvPr/>
          </p:nvSpPr>
          <p:spPr>
            <a:xfrm>
              <a:off x="0" y="1103988"/>
              <a:ext cx="2216168" cy="5840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875" tIns="8875" rIns="8875" bIns="88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Calibri"/>
                <a:buNone/>
              </a:pPr>
              <a:r>
                <a:rPr lang="en-GB"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Quantization aware training (QAT)</a:t>
              </a:r>
              <a:endParaRPr/>
            </a:p>
          </p:txBody>
        </p:sp>
        <p:sp>
          <p:nvSpPr>
            <p:cNvPr id="416" name="Google Shape;416;p12"/>
            <p:cNvSpPr/>
            <p:nvPr/>
          </p:nvSpPr>
          <p:spPr>
            <a:xfrm>
              <a:off x="2472257" y="1107796"/>
              <a:ext cx="2216168" cy="584099"/>
            </a:xfrm>
            <a:prstGeom prst="rect">
              <a:avLst/>
            </a:prstGeom>
            <a:solidFill>
              <a:srgbClr val="C71719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" name="Google Shape;417;p12"/>
            <p:cNvSpPr txBox="1"/>
            <p:nvPr/>
          </p:nvSpPr>
          <p:spPr>
            <a:xfrm>
              <a:off x="2472257" y="1107796"/>
              <a:ext cx="2216168" cy="5840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875" tIns="8875" rIns="8875" bIns="88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Calibri"/>
                <a:buNone/>
              </a:pPr>
              <a:r>
                <a:rPr lang="en-GB"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Post training quantization (PTQ)</a:t>
              </a:r>
              <a:endParaRPr/>
            </a:p>
          </p:txBody>
        </p:sp>
        <p:sp>
          <p:nvSpPr>
            <p:cNvPr id="418" name="Google Shape;418;p12"/>
            <p:cNvSpPr/>
            <p:nvPr/>
          </p:nvSpPr>
          <p:spPr>
            <a:xfrm>
              <a:off x="4925542" y="1105781"/>
              <a:ext cx="2216168" cy="584099"/>
            </a:xfrm>
            <a:prstGeom prst="rect">
              <a:avLst/>
            </a:prstGeom>
            <a:solidFill>
              <a:srgbClr val="C71719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Google Shape;419;p12"/>
            <p:cNvSpPr txBox="1"/>
            <p:nvPr/>
          </p:nvSpPr>
          <p:spPr>
            <a:xfrm>
              <a:off x="4925542" y="1105781"/>
              <a:ext cx="2216168" cy="5840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875" tIns="8875" rIns="8875" bIns="88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Calibri"/>
                <a:buNone/>
              </a:pPr>
              <a:r>
                <a:rPr lang="en-GB"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Data free quantization (DFQ)</a:t>
              </a:r>
              <a:endParaRPr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FA61F00-2F7D-9A69-4ACF-06F1DCDBC5B1}"/>
              </a:ext>
            </a:extLst>
          </p:cNvPr>
          <p:cNvSpPr txBox="1"/>
          <p:nvPr/>
        </p:nvSpPr>
        <p:spPr>
          <a:xfrm>
            <a:off x="833906" y="2203621"/>
            <a:ext cx="76085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✘ Model retrained 	                 ✔ Model not retrained 	         ✔ Model not retrained</a:t>
            </a:r>
            <a:endParaRPr lang="en-GB" sz="1200" dirty="0"/>
          </a:p>
          <a:p>
            <a:endParaRPr lang="en-NL" sz="12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34460C4-D853-EE64-E789-0590531BAF3A}"/>
              </a:ext>
            </a:extLst>
          </p:cNvPr>
          <p:cNvSpPr txBox="1"/>
          <p:nvPr/>
        </p:nvSpPr>
        <p:spPr>
          <a:xfrm>
            <a:off x="831236" y="2507077"/>
            <a:ext cx="76085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✘ Requires </a:t>
            </a:r>
            <a:r>
              <a:rPr lang="en-GB" sz="12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labeled</a:t>
            </a:r>
            <a:r>
              <a:rPr lang="en-GB" sz="1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data 	                 ✘ Requires </a:t>
            </a:r>
            <a:r>
              <a:rPr lang="en-GB" sz="12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unlabeled</a:t>
            </a:r>
            <a:r>
              <a:rPr lang="en-GB" sz="1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data 	         ✔ Requires no data</a:t>
            </a:r>
            <a:endParaRPr lang="en-NL" sz="1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FCC0F34-4E0C-3470-7031-87ADFF822787}"/>
              </a:ext>
            </a:extLst>
          </p:cNvPr>
          <p:cNvSpPr txBox="1"/>
          <p:nvPr/>
        </p:nvSpPr>
        <p:spPr>
          <a:xfrm>
            <a:off x="834086" y="2834018"/>
            <a:ext cx="76085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✘ Model parameters updated                ✔ Model parameters not updated 	         ✘ Model parameters updated </a:t>
            </a:r>
            <a:endParaRPr lang="en-NL" sz="1200" dirty="0"/>
          </a:p>
        </p:txBody>
      </p:sp>
      <p:sp>
        <p:nvSpPr>
          <p:cNvPr id="6" name="Left Brace 5">
            <a:extLst>
              <a:ext uri="{FF2B5EF4-FFF2-40B4-BE49-F238E27FC236}">
                <a16:creationId xmlns:a16="http://schemas.microsoft.com/office/drawing/2014/main" id="{D6AD8563-A1B5-CA44-4D10-771F533A923F}"/>
              </a:ext>
            </a:extLst>
          </p:cNvPr>
          <p:cNvSpPr/>
          <p:nvPr/>
        </p:nvSpPr>
        <p:spPr>
          <a:xfrm rot="16200000">
            <a:off x="4290483" y="-486909"/>
            <a:ext cx="276998" cy="7455187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14688E8-6B2B-8180-449E-E719181151AE}"/>
              </a:ext>
            </a:extLst>
          </p:cNvPr>
          <p:cNvSpPr txBox="1"/>
          <p:nvPr/>
        </p:nvSpPr>
        <p:spPr>
          <a:xfrm>
            <a:off x="3242664" y="3308384"/>
            <a:ext cx="4654768" cy="4087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✔ Quantization parameters updated</a:t>
            </a:r>
            <a:endParaRPr lang="en-GB" sz="1200" dirty="0"/>
          </a:p>
        </p:txBody>
      </p:sp>
    </p:spTree>
    <p:extLst>
      <p:ext uri="{BB962C8B-B14F-4D97-AF65-F5344CB8AC3E}">
        <p14:creationId xmlns:p14="http://schemas.microsoft.com/office/powerpoint/2010/main" val="30140003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  <p:bldP spid="5" grpId="0"/>
      <p:bldP spid="6" grpId="0" animBg="1"/>
      <p:bldP spid="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13"/>
          <p:cNvSpPr txBox="1">
            <a:spLocks noGrp="1"/>
          </p:cNvSpPr>
          <p:nvPr>
            <p:ph type="title"/>
          </p:nvPr>
        </p:nvSpPr>
        <p:spPr>
          <a:xfrm>
            <a:off x="237331" y="240105"/>
            <a:ext cx="7556500" cy="539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642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GB" sz="2800"/>
              <a:t>Quantization Support in Frameworks</a:t>
            </a:r>
            <a:endParaRPr sz="2800"/>
          </a:p>
        </p:txBody>
      </p:sp>
      <p:sp>
        <p:nvSpPr>
          <p:cNvPr id="429" name="Google Shape;429;p13"/>
          <p:cNvSpPr txBox="1">
            <a:spLocks noGrp="1"/>
          </p:cNvSpPr>
          <p:nvPr>
            <p:ph type="ftr" idx="11"/>
          </p:nvPr>
        </p:nvSpPr>
        <p:spPr>
          <a:xfrm>
            <a:off x="1114426" y="4568400"/>
            <a:ext cx="7042149" cy="576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Evaluation of Quantization Methods for Neural Networks</a:t>
            </a:r>
            <a:endParaRPr/>
          </a:p>
        </p:txBody>
      </p:sp>
      <p:sp>
        <p:nvSpPr>
          <p:cNvPr id="430" name="Google Shape;430;p13"/>
          <p:cNvSpPr txBox="1">
            <a:spLocks noGrp="1"/>
          </p:cNvSpPr>
          <p:nvPr>
            <p:ph type="sldNum" idx="12"/>
          </p:nvPr>
        </p:nvSpPr>
        <p:spPr>
          <a:xfrm>
            <a:off x="2" y="4568400"/>
            <a:ext cx="1114424" cy="572286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75600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13</a:t>
            </a:fld>
            <a:endParaRPr/>
          </a:p>
        </p:txBody>
      </p:sp>
      <p:graphicFrame>
        <p:nvGraphicFramePr>
          <p:cNvPr id="431" name="Google Shape;431;p13"/>
          <p:cNvGraphicFramePr/>
          <p:nvPr>
            <p:extLst>
              <p:ext uri="{D42A27DB-BD31-4B8C-83A1-F6EECF244321}">
                <p14:modId xmlns:p14="http://schemas.microsoft.com/office/powerpoint/2010/main" val="2803934974"/>
              </p:ext>
            </p:extLst>
          </p:nvPr>
        </p:nvGraphicFramePr>
        <p:xfrm>
          <a:off x="157735" y="650322"/>
          <a:ext cx="8828525" cy="1211620"/>
        </p:xfrm>
        <a:graphic>
          <a:graphicData uri="http://schemas.openxmlformats.org/drawingml/2006/table">
            <a:tbl>
              <a:tblPr firstRow="1" bandRow="1">
                <a:noFill/>
                <a:tableStyleId>{2525947D-79E6-44B2-B12A-532D9E6C3FB6}</a:tableStyleId>
              </a:tblPr>
              <a:tblGrid>
                <a:gridCol w="2732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7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47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349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 u="none" strike="noStrike" cap="none"/>
                        <a:t>Frameworks</a:t>
                      </a:r>
                      <a:endParaRPr sz="1350" u="none" strike="noStrike" cap="none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 u="none" strike="noStrike" cap="none"/>
                        <a:t>Types of layers</a:t>
                      </a:r>
                      <a:endParaRPr sz="1350" u="none" strike="noStrike" cap="none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 u="none" strike="noStrike" cap="none"/>
                        <a:t>Supported quantization methods</a:t>
                      </a:r>
                      <a:endParaRPr sz="1350" u="none" strike="noStrike" cap="none"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1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-GB" sz="1400" i="1" u="none" strike="noStrike" cap="none" dirty="0"/>
                        <a:t>TensorFlow Lite</a:t>
                      </a:r>
                      <a:endParaRPr sz="1350" u="none" strike="noStrike" cap="none" dirty="0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i="1" u="none" strike="noStrike" cap="none"/>
                        <a:t>Keras </a:t>
                      </a:r>
                      <a:endParaRPr sz="1350" u="none" strike="noStrike" cap="none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GB" sz="1200" u="none" strike="noStrike" cap="none"/>
                        <a:t>PTQ and QAT</a:t>
                      </a:r>
                      <a:endParaRPr sz="1350" u="none" strike="noStrike" cap="none"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49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-GB" sz="1400" i="1" u="none" strike="noStrike" cap="none"/>
                        <a:t>QKeras</a:t>
                      </a:r>
                      <a:endParaRPr sz="1350" u="none" strike="noStrike" cap="none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i="1" u="none" strike="noStrike" cap="none" dirty="0"/>
                        <a:t>QKeras</a:t>
                      </a:r>
                      <a:endParaRPr sz="1350" u="none" strike="noStrike" cap="none" dirty="0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u="none" strike="noStrike" cap="none" dirty="0"/>
                        <a:t>QAT</a:t>
                      </a:r>
                      <a:endParaRPr sz="1350" u="none" strike="noStrike" cap="none" dirty="0"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49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-GB" sz="1400" i="1" u="none" strike="noStrike" cap="none" dirty="0"/>
                        <a:t>SQuant</a:t>
                      </a:r>
                      <a:endParaRPr sz="1350" u="none" strike="noStrike" cap="none" dirty="0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i="1" u="none" strike="noStrike" cap="none"/>
                        <a:t>PyTorch</a:t>
                      </a:r>
                      <a:r>
                        <a:rPr lang="en-GB" sz="1200" u="none" strike="noStrike" cap="none"/>
                        <a:t> </a:t>
                      </a:r>
                      <a:endParaRPr sz="1350" u="none" strike="noStrike" cap="none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u="none" strike="noStrike" cap="none" dirty="0"/>
                        <a:t>DFQ</a:t>
                      </a:r>
                      <a:endParaRPr sz="1350" u="none" strike="noStrike" cap="none" dirty="0"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32" name="Google Shape;432;p13"/>
          <p:cNvSpPr txBox="1"/>
          <p:nvPr/>
        </p:nvSpPr>
        <p:spPr>
          <a:xfrm>
            <a:off x="237331" y="1861902"/>
            <a:ext cx="7556500" cy="539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9285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GB" sz="1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Quantization capabilities of these frameworks</a:t>
            </a:r>
            <a:endParaRPr sz="14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33" name="Google Shape;433;p13"/>
          <p:cNvGraphicFramePr/>
          <p:nvPr>
            <p:extLst>
              <p:ext uri="{D42A27DB-BD31-4B8C-83A1-F6EECF244321}">
                <p14:modId xmlns:p14="http://schemas.microsoft.com/office/powerpoint/2010/main" val="55278367"/>
              </p:ext>
            </p:extLst>
          </p:nvPr>
        </p:nvGraphicFramePr>
        <p:xfrm>
          <a:off x="157735" y="2272159"/>
          <a:ext cx="8828530" cy="2509816"/>
        </p:xfrm>
        <a:graphic>
          <a:graphicData uri="http://schemas.openxmlformats.org/drawingml/2006/table">
            <a:tbl>
              <a:tblPr>
                <a:noFill/>
                <a:tableStyleId>{2525947D-79E6-44B2-B12A-532D9E6C3FB6}</a:tableStyleId>
              </a:tblPr>
              <a:tblGrid>
                <a:gridCol w="7706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59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704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1704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1491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1667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1667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216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8671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86712">
                  <a:extLst>
                    <a:ext uri="{9D8B030D-6E8A-4147-A177-3AD203B41FA5}">
                      <a16:colId xmlns:a16="http://schemas.microsoft.com/office/drawing/2014/main" val="3225586499"/>
                    </a:ext>
                  </a:extLst>
                </a:gridCol>
                <a:gridCol w="786712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786712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667954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70259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424842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50" b="1" i="0" u="none" strike="noStrike" cap="non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4650" marR="4650" marT="4650" marB="0" anchor="ctr">
                    <a:solidFill>
                      <a:srgbClr val="C8191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50" b="1" i="0" u="none" strike="noStrike" cap="non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4650" marR="4650" marT="4650" marB="0" anchor="ctr">
                    <a:solidFill>
                      <a:srgbClr val="C81919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 b="1" u="none" strike="noStrike" cap="non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Types of quantization</a:t>
                      </a:r>
                      <a:endParaRPr sz="1350" b="1" i="0" u="none" strike="noStrike" cap="non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4650" marR="4650" marT="4650" marB="0" anchor="ctr">
                    <a:solidFill>
                      <a:srgbClr val="C8191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NL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 b="1" u="none" strike="noStrike" cap="none" dirty="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Precisions supported</a:t>
                      </a:r>
                      <a:endParaRPr sz="1350" b="1" i="0" u="none" strike="noStrike" cap="none" dirty="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4650" marR="4650" marT="4650" marB="0" anchor="ctr">
                    <a:solidFill>
                      <a:srgbClr val="C8191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N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NL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 b="1" u="none" strike="noStrike" cap="none" dirty="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Clipping range</a:t>
                      </a:r>
                      <a:endParaRPr sz="1350" b="1" i="0" u="none" strike="noStrike" cap="none" dirty="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4650" marR="4650" marT="4650" marB="0" anchor="ctr">
                    <a:solidFill>
                      <a:srgbClr val="C8191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N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50" b="1" i="0" u="none" strike="noStrike" cap="none" dirty="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4650" marR="4650" marT="4650" marB="0" anchor="ctr">
                    <a:solidFill>
                      <a:srgbClr val="C81919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 b="1" u="none" strike="noStrike" cap="non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Type of clipping</a:t>
                      </a:r>
                      <a:endParaRPr sz="1350" b="1" i="0" u="none" strike="noStrike" cap="non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4650" marR="4650" marT="4650" marB="0" anchor="ctr">
                    <a:solidFill>
                      <a:srgbClr val="C8191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NL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 b="1" u="none" strike="noStrike" cap="non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Rounding operation</a:t>
                      </a:r>
                      <a:endParaRPr sz="1350" b="1" i="0" u="none" strike="noStrike" cap="non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4650" marR="4650" marT="4650" marB="0" anchor="ctr">
                    <a:solidFill>
                      <a:srgbClr val="C8191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N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1487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1" i="0" u="none" strike="noStrike" cap="non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4650" marR="4650" marT="4650" marB="0" anchor="ctr">
                    <a:solidFill>
                      <a:srgbClr val="C8191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 b="0" u="none" strike="noStrike" cap="none">
                          <a:solidFill>
                            <a:schemeClr val="lt1"/>
                          </a:solidFill>
                        </a:rPr>
                        <a:t>parameters</a:t>
                      </a:r>
                      <a:endParaRPr sz="1050" b="0" i="0" u="none" strike="noStrike" cap="non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4650" marR="4650" marT="4650" marB="0" anchor="ctr">
                    <a:solidFill>
                      <a:srgbClr val="C8191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 b="0" u="none" strike="noStrike" cap="none">
                          <a:solidFill>
                            <a:schemeClr val="lt1"/>
                          </a:solidFill>
                        </a:rPr>
                        <a:t>Uniform</a:t>
                      </a:r>
                      <a:endParaRPr sz="1050" b="0" i="0" u="none" strike="noStrike" cap="non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4650" marR="4650" marT="4650" marB="0" anchor="ctr">
                    <a:solidFill>
                      <a:srgbClr val="C8191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 b="0" u="none" strike="noStrike" cap="none">
                          <a:solidFill>
                            <a:schemeClr val="lt1"/>
                          </a:solidFill>
                        </a:rPr>
                        <a:t>Non-uniform</a:t>
                      </a:r>
                      <a:endParaRPr sz="1050" b="0" i="0" u="none" strike="noStrike" cap="non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4650" marR="4650" marT="4650" marB="0" anchor="ctr">
                    <a:solidFill>
                      <a:srgbClr val="C8191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 b="0" u="none" strike="noStrike" cap="none">
                          <a:solidFill>
                            <a:schemeClr val="lt1"/>
                          </a:solidFill>
                        </a:rPr>
                        <a:t>16</a:t>
                      </a:r>
                      <a:endParaRPr sz="1050" b="0" i="0" u="none" strike="noStrike" cap="non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4650" marR="4650" marT="4650" marB="0" anchor="ctr">
                    <a:solidFill>
                      <a:srgbClr val="C8191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 b="0" u="none" strike="noStrike" cap="none">
                          <a:solidFill>
                            <a:schemeClr val="lt1"/>
                          </a:solidFill>
                        </a:rPr>
                        <a:t>8</a:t>
                      </a:r>
                      <a:endParaRPr sz="1050" b="0" i="0" u="none" strike="noStrike" cap="non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4650" marR="4650" marT="4650" marB="0" anchor="ctr">
                    <a:solidFill>
                      <a:srgbClr val="C8191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 b="0" u="none" strike="noStrike" cap="none">
                          <a:solidFill>
                            <a:schemeClr val="lt1"/>
                          </a:solidFill>
                        </a:rPr>
                        <a:t>&lt;8</a:t>
                      </a:r>
                      <a:endParaRPr sz="1050" b="0" i="0" u="none" strike="noStrike" cap="non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4650" marR="4650" marT="4650" marB="0" anchor="ctr">
                    <a:solidFill>
                      <a:srgbClr val="C8191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 b="0" u="none" strike="noStrike" cap="none">
                          <a:solidFill>
                            <a:schemeClr val="lt1"/>
                          </a:solidFill>
                        </a:rPr>
                        <a:t>Min-Max clipping</a:t>
                      </a:r>
                      <a:endParaRPr sz="1050" b="0" i="0" u="none" strike="noStrike" cap="non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4650" marR="4650" marT="4650" marB="0" anchor="ctr">
                    <a:solidFill>
                      <a:srgbClr val="C8191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 b="0" u="none" strike="noStrike" cap="none">
                          <a:solidFill>
                            <a:schemeClr val="lt1"/>
                          </a:solidFill>
                        </a:rPr>
                        <a:t>MSE based range setting</a:t>
                      </a:r>
                      <a:endParaRPr sz="1050" b="0" i="0" u="none" strike="noStrike" cap="non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4650" marR="4650" marT="4650" marB="0" anchor="ctr">
                    <a:solidFill>
                      <a:srgbClr val="C8191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 dirty="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BN method</a:t>
                      </a:r>
                      <a:endParaRPr sz="1050" b="0" i="0" u="none" strike="noStrike" cap="none" dirty="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4650" marR="4650" marT="4650" marB="0" anchor="ctr">
                    <a:solidFill>
                      <a:srgbClr val="C8191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 b="0" u="none" strike="noStrike" cap="none">
                          <a:solidFill>
                            <a:schemeClr val="lt1"/>
                          </a:solidFill>
                        </a:rPr>
                        <a:t>Symmetric</a:t>
                      </a:r>
                      <a:endParaRPr sz="1050" b="0" i="0" u="none" strike="noStrike" cap="non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4650" marR="4650" marT="4650" marB="0" anchor="ctr">
                    <a:solidFill>
                      <a:srgbClr val="C8191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 b="0" u="none" strike="noStrike" cap="none">
                          <a:solidFill>
                            <a:schemeClr val="lt1"/>
                          </a:solidFill>
                        </a:rPr>
                        <a:t>Asymmetric</a:t>
                      </a:r>
                      <a:endParaRPr sz="1050" b="0" i="0" u="none" strike="noStrike" cap="non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4650" marR="4650" marT="4650" marB="0" anchor="ctr">
                    <a:solidFill>
                      <a:srgbClr val="C8191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 b="0" u="none" strike="noStrike" cap="none">
                          <a:solidFill>
                            <a:schemeClr val="lt1"/>
                          </a:solidFill>
                        </a:rPr>
                        <a:t>Round to nearest</a:t>
                      </a:r>
                      <a:endParaRPr sz="1050" b="0" i="0" u="none" strike="noStrike" cap="non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4650" marR="4650" marT="4650" marB="0" anchor="ctr">
                    <a:solidFill>
                      <a:srgbClr val="C8191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 b="0" u="none" strike="noStrike" cap="none">
                          <a:solidFill>
                            <a:schemeClr val="lt1"/>
                          </a:solidFill>
                        </a:rPr>
                        <a:t>SQuant hessian</a:t>
                      </a:r>
                      <a:endParaRPr sz="1050" b="0" i="0" u="none" strike="noStrike" cap="non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4650" marR="4650" marT="4650" marB="0" anchor="ctr">
                    <a:solidFill>
                      <a:srgbClr val="C8191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0007"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 b="1" u="none" strike="noStrike" cap="none" dirty="0"/>
                        <a:t>TensorFlow 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 b="1" u="none" strike="noStrike" cap="none" dirty="0"/>
                        <a:t>Lite</a:t>
                      </a:r>
                      <a:endParaRPr sz="1050" b="1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4650" marR="4650" marT="4650" marB="0" anchor="ctr">
                    <a:solidFill>
                      <a:srgbClr val="EB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 b="0" u="none" strike="noStrike" cap="none" dirty="0"/>
                        <a:t>Weights and biases</a:t>
                      </a:r>
                      <a:endParaRPr sz="8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4650" marR="4650" marT="4650" marB="0" anchor="ctr">
                    <a:solidFill>
                      <a:srgbClr val="EBCCCC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u="none" strike="noStrike" cap="none" dirty="0"/>
                        <a:t>✔</a:t>
                      </a: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4650" marR="4650" marT="4650" marB="0" anchor="ctr">
                    <a:solidFill>
                      <a:srgbClr val="EBCCCC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4650" marR="4650" marT="4650" marB="0" anchor="ctr">
                    <a:solidFill>
                      <a:srgbClr val="EBCCCC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u="none" strike="noStrike" cap="none"/>
                        <a:t>✔</a:t>
                      </a:r>
                      <a:endParaRPr sz="11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4650" marR="4650" marT="4650" marB="0" anchor="ctr">
                    <a:solidFill>
                      <a:srgbClr val="EBCCCC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u="none" strike="noStrike" cap="none"/>
                        <a:t>✔</a:t>
                      </a:r>
                      <a:endParaRPr sz="11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4650" marR="4650" marT="4650" marB="0" anchor="ctr">
                    <a:solidFill>
                      <a:srgbClr val="EBCCCC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4650" marR="4650" marT="4650" marB="0" anchor="ctr">
                    <a:solidFill>
                      <a:srgbClr val="EBCCCC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u="none" strike="noStrike" cap="none" dirty="0"/>
                        <a:t>✔</a:t>
                      </a: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4650" marR="4650" marT="4650" marB="0" anchor="ctr">
                    <a:solidFill>
                      <a:srgbClr val="EBCCCC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4650" marR="4650" marT="4650" marB="0" anchor="ctr">
                    <a:solidFill>
                      <a:srgbClr val="EBCCCC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4650" marR="4650" marT="4650" marB="0" anchor="ctr">
                    <a:solidFill>
                      <a:srgbClr val="EB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u="none" strike="noStrike" cap="none"/>
                        <a:t>✔</a:t>
                      </a:r>
                      <a:endParaRPr sz="11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4650" marR="4650" marT="4650" marB="0" anchor="ctr">
                    <a:solidFill>
                      <a:srgbClr val="EB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4650" marR="4650" marT="4650" marB="0" anchor="ctr">
                    <a:solidFill>
                      <a:srgbClr val="EBCCCC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u="none" strike="noStrike" cap="none"/>
                        <a:t>✔</a:t>
                      </a:r>
                      <a:endParaRPr sz="11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4650" marR="4650" marT="4650" marB="0" anchor="ctr">
                    <a:solidFill>
                      <a:srgbClr val="EBCCCC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4650" marR="4650" marT="4650" marB="0" anchor="ctr">
                    <a:solidFill>
                      <a:srgbClr val="EB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3452">
                <a:tc vMerge="1">
                  <a:txBody>
                    <a:bodyPr/>
                    <a:lstStyle/>
                    <a:p>
                      <a:endParaRPr lang="en-N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 b="0" u="none" strike="noStrike" cap="none"/>
                        <a:t>Activations</a:t>
                      </a:r>
                      <a:endParaRPr sz="8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4650" marR="4650" marT="4650" marB="0" anchor="ctr">
                    <a:solidFill>
                      <a:srgbClr val="EBCCCC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NL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4650" marR="4650" marT="4650" marB="0" anchor="ctr">
                    <a:solidFill>
                      <a:srgbClr val="EBCCCC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NL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NL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4650" marR="4650" marT="4650" marB="0" anchor="ctr">
                    <a:solidFill>
                      <a:srgbClr val="EBCCCC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NL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4650" marR="4650" marT="4650" marB="0" anchor="ctr">
                    <a:solidFill>
                      <a:srgbClr val="EBCCCC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N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4650" marR="4650" marT="4650" marB="0" anchor="ctr">
                    <a:solidFill>
                      <a:srgbClr val="EB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u="none" strike="noStrike" cap="none"/>
                        <a:t>✔</a:t>
                      </a:r>
                      <a:endParaRPr sz="11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4650" marR="4650" marT="4650" marB="0" anchor="ctr">
                    <a:solidFill>
                      <a:srgbClr val="EBCCCC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NL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4650" marR="4650" marT="4650" marB="0" anchor="ctr">
                    <a:solidFill>
                      <a:srgbClr val="EB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0007"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 b="1" u="none" strike="noStrike" cap="none"/>
                        <a:t>SQuant</a:t>
                      </a:r>
                      <a:endParaRPr sz="1050" b="1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4650" marR="4650" marT="4650" marB="0" anchor="ctr">
                    <a:solidFill>
                      <a:srgbClr val="F5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 b="0" u="none" strike="noStrike" cap="none"/>
                        <a:t>Weights</a:t>
                      </a:r>
                      <a:endParaRPr sz="8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4650" marR="4650" marT="4650" marB="0" anchor="ctr">
                    <a:solidFill>
                      <a:srgbClr val="F5E7E7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u="none" strike="noStrike" cap="none" dirty="0"/>
                        <a:t>✔</a:t>
                      </a: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Calibri"/>
                        <a:cs typeface="Calibri"/>
                        <a:sym typeface="Calibri"/>
                      </a:endParaRPr>
                    </a:p>
                  </a:txBody>
                  <a:tcPr marL="4650" marR="4650" marT="4650" marB="0" anchor="ctr">
                    <a:solidFill>
                      <a:srgbClr val="F5E7E7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4650" marR="4650" marT="4650" marB="0" anchor="ctr">
                    <a:solidFill>
                      <a:srgbClr val="F5E7E7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u="none" strike="noStrike" cap="none" dirty="0"/>
                        <a:t>✔</a:t>
                      </a: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Calibri"/>
                        <a:cs typeface="Calibri"/>
                        <a:sym typeface="Calibri"/>
                      </a:endParaRPr>
                    </a:p>
                  </a:txBody>
                  <a:tcPr marL="4650" marR="4650" marT="4650" marB="0" anchor="ctr">
                    <a:solidFill>
                      <a:srgbClr val="F5E7E7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u="none" strike="noStrike" cap="none" dirty="0"/>
                        <a:t>✔</a:t>
                      </a:r>
                    </a:p>
                  </a:txBody>
                  <a:tcPr marL="4650" marR="4650" marT="4650" marB="0" anchor="ctr">
                    <a:solidFill>
                      <a:srgbClr val="F5E7E7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u="none" strike="noStrike" cap="none" dirty="0"/>
                        <a:t>✔</a:t>
                      </a: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Calibri"/>
                        <a:cs typeface="Calibri"/>
                        <a:sym typeface="Calibri"/>
                      </a:endParaRPr>
                    </a:p>
                  </a:txBody>
                  <a:tcPr marL="4650" marR="4650" marT="4650" marB="0" anchor="ctr">
                    <a:solidFill>
                      <a:srgbClr val="F5E7E7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4650" marR="4650" marT="4650" marB="0" anchor="ctr">
                    <a:solidFill>
                      <a:srgbClr val="F5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rPr lang="en-GB" sz="1100" b="0" u="none" strike="noStrike" cap="none" dirty="0"/>
                        <a:t>✔</a:t>
                      </a: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4650" marR="4650" marT="4650" marB="0" anchor="ctr">
                    <a:solidFill>
                      <a:srgbClr val="F5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4650" marR="4650" marT="4650" marB="0" anchor="ctr">
                    <a:solidFill>
                      <a:srgbClr val="F5E7E7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rPr lang="en-GB" sz="1100" b="0" u="none" strike="noStrike" cap="none" dirty="0"/>
                        <a:t>✔</a:t>
                      </a: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Calibri"/>
                        <a:cs typeface="Calibri"/>
                        <a:sym typeface="Calibri"/>
                      </a:endParaRPr>
                    </a:p>
                  </a:txBody>
                  <a:tcPr marL="4650" marR="4650" marT="4650" marB="0" anchor="ctr">
                    <a:solidFill>
                      <a:srgbClr val="F5E7E7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4650" marR="4650" marT="4650" marB="0" anchor="ctr">
                    <a:solidFill>
                      <a:srgbClr val="F5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4650" marR="4650" marT="4650" marB="0" anchor="ctr">
                    <a:solidFill>
                      <a:srgbClr val="F5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u="none" strike="noStrike" cap="none"/>
                        <a:t>✔</a:t>
                      </a:r>
                      <a:endParaRPr sz="11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4650" marR="4650" marT="4650" marB="0" anchor="ctr">
                    <a:solidFill>
                      <a:srgbClr val="F5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0007">
                <a:tc vMerge="1">
                  <a:txBody>
                    <a:bodyPr/>
                    <a:lstStyle/>
                    <a:p>
                      <a:endParaRPr lang="en-N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 b="0" u="none" strike="noStrike" cap="none"/>
                        <a:t>Activations</a:t>
                      </a:r>
                      <a:endParaRPr sz="8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4650" marR="4650" marT="4650" marB="0" anchor="ctr">
                    <a:solidFill>
                      <a:srgbClr val="F5E7E7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u="none" strike="noStrike" cap="none" dirty="0"/>
                        <a:t>✔</a:t>
                      </a: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4650" marR="4650" marT="4650" marB="0" anchor="ctr">
                    <a:solidFill>
                      <a:srgbClr val="F5E7E7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4650" marR="4650" marT="4650" marB="0" anchor="ctr">
                    <a:solidFill>
                      <a:srgbClr val="F5E7E7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u="none" strike="noStrike" cap="none" dirty="0"/>
                        <a:t>✔</a:t>
                      </a: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4650" marR="4650" marT="4650" marB="0" anchor="ctr">
                    <a:solidFill>
                      <a:srgbClr val="F5E7E7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u="none" strike="noStrike" cap="none" dirty="0"/>
                        <a:t>✔</a:t>
                      </a: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4650" marR="4650" marT="4650" marB="0" anchor="ctr">
                    <a:solidFill>
                      <a:srgbClr val="F5E7E7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u="none" strike="noStrike" cap="none" dirty="0"/>
                        <a:t>✔</a:t>
                      </a: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4650" marR="4650" marT="4650" marB="0" anchor="ctr">
                    <a:solidFill>
                      <a:srgbClr val="F5E7E7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4650" marR="4650" marT="4650" marB="0" anchor="ctr">
                    <a:solidFill>
                      <a:srgbClr val="F5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4650" marR="4650" marT="4650" marB="0" anchor="ctr">
                    <a:solidFill>
                      <a:srgbClr val="F5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  <a:tabLst/>
                        <a:defRPr/>
                      </a:pPr>
                      <a:r>
                        <a:rPr lang="en-GB" sz="1100" b="0" u="none" strike="noStrike" cap="none" dirty="0"/>
                        <a:t>✔</a:t>
                      </a:r>
                      <a:endParaRPr lang="en-GB" sz="11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4650" marR="4650" marT="4650" marB="0" anchor="ctr">
                    <a:solidFill>
                      <a:srgbClr val="F5E7E7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rPr lang="en-GB" sz="1100" b="0" u="none" strike="noStrike" cap="none" dirty="0"/>
                        <a:t>✔</a:t>
                      </a: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4650" marR="4650" marT="4650" marB="0" anchor="ctr">
                    <a:solidFill>
                      <a:srgbClr val="F5E7E7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4650" marR="4650" marT="4650" marB="0" anchor="ctr">
                    <a:solidFill>
                      <a:srgbClr val="F5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u="none" strike="noStrike" cap="none"/>
                        <a:t>✔</a:t>
                      </a:r>
                      <a:endParaRPr sz="11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4650" marR="4650" marT="4650" marB="0" anchor="ctr">
                    <a:solidFill>
                      <a:srgbClr val="F5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4650" marR="4650" marT="4650" marB="0" anchor="ctr">
                    <a:solidFill>
                      <a:srgbClr val="F5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0007"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 b="1" u="none" strike="noStrike" cap="none"/>
                        <a:t>QKeras</a:t>
                      </a:r>
                      <a:endParaRPr sz="1050" b="1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4650" marR="4650" marT="4650" marB="0" anchor="ctr">
                    <a:solidFill>
                      <a:srgbClr val="EB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 b="0" u="none" strike="noStrike" cap="none"/>
                        <a:t>Weights and biases</a:t>
                      </a:r>
                      <a:endParaRPr sz="8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4650" marR="4650" marT="4650" marB="0" anchor="ctr">
                    <a:solidFill>
                      <a:srgbClr val="EBCCCC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u="none" strike="noStrike" cap="none"/>
                        <a:t>✔</a:t>
                      </a:r>
                      <a:endParaRPr sz="11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4650" marR="4650" marT="4650" marB="0" anchor="ctr">
                    <a:solidFill>
                      <a:srgbClr val="EBCCCC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u="none" strike="noStrike" cap="none"/>
                        <a:t>✔</a:t>
                      </a:r>
                      <a:endParaRPr sz="11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4650" marR="4650" marT="4650" marB="0" anchor="ctr">
                    <a:solidFill>
                      <a:srgbClr val="EBCCCC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u="none" strike="noStrike" cap="none"/>
                        <a:t>✔</a:t>
                      </a:r>
                      <a:endParaRPr sz="11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4650" marR="4650" marT="4650" marB="0" anchor="ctr">
                    <a:solidFill>
                      <a:srgbClr val="EBCCCC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u="none" strike="noStrike" cap="none"/>
                        <a:t>✔</a:t>
                      </a:r>
                      <a:endParaRPr sz="11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4650" marR="4650" marT="4650" marB="0" anchor="ctr">
                    <a:solidFill>
                      <a:srgbClr val="EBCCCC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u="none" strike="noStrike" cap="none"/>
                        <a:t>✔</a:t>
                      </a:r>
                      <a:endParaRPr sz="11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4650" marR="4650" marT="4650" marB="0" anchor="ctr">
                    <a:solidFill>
                      <a:srgbClr val="EBCCCC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u="none" strike="noStrike" cap="none"/>
                        <a:t>✔</a:t>
                      </a:r>
                      <a:endParaRPr sz="11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4650" marR="4650" marT="4650" marB="0" anchor="ctr">
                    <a:solidFill>
                      <a:srgbClr val="EBCCCC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4650" marR="4650" marT="4650" marB="0" anchor="ctr">
                    <a:solidFill>
                      <a:srgbClr val="EBCCCC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4650" marR="4650" marT="4650" marB="0" anchor="ctr">
                    <a:solidFill>
                      <a:srgbClr val="EB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u="none" strike="noStrike" cap="none"/>
                        <a:t>✔</a:t>
                      </a:r>
                      <a:endParaRPr sz="11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4650" marR="4650" marT="4650" marB="0" anchor="ctr">
                    <a:solidFill>
                      <a:srgbClr val="EB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4650" marR="4650" marT="4650" marB="0" anchor="ctr">
                    <a:solidFill>
                      <a:srgbClr val="EBCCCC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u="none" strike="noStrike" cap="none"/>
                        <a:t>✔</a:t>
                      </a:r>
                      <a:endParaRPr sz="11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4650" marR="4650" marT="4650" marB="0" anchor="ctr">
                    <a:solidFill>
                      <a:srgbClr val="EBCCCC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4650" marR="4650" marT="4650" marB="0" anchor="ctr">
                    <a:solidFill>
                      <a:srgbClr val="EB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0007">
                <a:tc vMerge="1">
                  <a:txBody>
                    <a:bodyPr/>
                    <a:lstStyle/>
                    <a:p>
                      <a:endParaRPr lang="en-N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 b="0" u="none" strike="noStrike" cap="none"/>
                        <a:t>Activations</a:t>
                      </a:r>
                      <a:endParaRPr sz="8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4650" marR="4650" marT="4650" marB="0" anchor="ctr">
                    <a:solidFill>
                      <a:srgbClr val="EBCCCC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NL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NL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NL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NL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NL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NL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4650" marR="4650" marT="4650" marB="0" anchor="ctr">
                    <a:solidFill>
                      <a:srgbClr val="EBCCCC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N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4650" marR="4650" marT="4650" marB="0" anchor="ctr">
                    <a:solidFill>
                      <a:srgbClr val="EB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u="none" strike="noStrike" cap="none" dirty="0"/>
                        <a:t>✔</a:t>
                      </a: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4650" marR="4650" marT="4650" marB="0" anchor="ctr">
                    <a:solidFill>
                      <a:srgbClr val="EBCCCC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NL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4650" marR="4650" marT="4650" marB="0" anchor="ctr">
                    <a:solidFill>
                      <a:srgbClr val="EB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14"/>
          <p:cNvSpPr txBox="1">
            <a:spLocks noGrp="1"/>
          </p:cNvSpPr>
          <p:nvPr>
            <p:ph type="title"/>
          </p:nvPr>
        </p:nvSpPr>
        <p:spPr>
          <a:xfrm>
            <a:off x="237331" y="240105"/>
            <a:ext cx="7556500" cy="539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Calibri"/>
              <a:buNone/>
            </a:pPr>
            <a:r>
              <a:rPr lang="en-GB"/>
              <a:t>Experimental Plan Summary</a:t>
            </a:r>
            <a:endParaRPr/>
          </a:p>
        </p:txBody>
      </p:sp>
      <p:sp>
        <p:nvSpPr>
          <p:cNvPr id="440" name="Google Shape;440;p14"/>
          <p:cNvSpPr txBox="1">
            <a:spLocks noGrp="1"/>
          </p:cNvSpPr>
          <p:nvPr>
            <p:ph type="ftr" idx="11"/>
          </p:nvPr>
        </p:nvSpPr>
        <p:spPr>
          <a:xfrm>
            <a:off x="1114426" y="4568400"/>
            <a:ext cx="7042149" cy="576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Evaluation of Quantization Methods for Neural Networks</a:t>
            </a:r>
            <a:endParaRPr/>
          </a:p>
        </p:txBody>
      </p:sp>
      <p:sp>
        <p:nvSpPr>
          <p:cNvPr id="441" name="Google Shape;441;p14"/>
          <p:cNvSpPr txBox="1">
            <a:spLocks noGrp="1"/>
          </p:cNvSpPr>
          <p:nvPr>
            <p:ph type="sldNum" idx="12"/>
          </p:nvPr>
        </p:nvSpPr>
        <p:spPr>
          <a:xfrm>
            <a:off x="2" y="4568400"/>
            <a:ext cx="1114424" cy="572286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75600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14</a:t>
            </a:fld>
            <a:endParaRPr/>
          </a:p>
        </p:txBody>
      </p:sp>
      <p:sp>
        <p:nvSpPr>
          <p:cNvPr id="442" name="Google Shape;442;p14"/>
          <p:cNvSpPr txBox="1"/>
          <p:nvPr/>
        </p:nvSpPr>
        <p:spPr>
          <a:xfrm>
            <a:off x="215650" y="3604295"/>
            <a:ext cx="1795167" cy="539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lang="en-GB" sz="20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Datasets</a:t>
            </a:r>
            <a:endParaRPr sz="20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43" name="Google Shape;443;p14"/>
          <p:cNvGraphicFramePr/>
          <p:nvPr>
            <p:extLst>
              <p:ext uri="{D42A27DB-BD31-4B8C-83A1-F6EECF244321}">
                <p14:modId xmlns:p14="http://schemas.microsoft.com/office/powerpoint/2010/main" val="1073982971"/>
              </p:ext>
            </p:extLst>
          </p:nvPr>
        </p:nvGraphicFramePr>
        <p:xfrm>
          <a:off x="1150912" y="3812924"/>
          <a:ext cx="6810400" cy="956911"/>
        </p:xfrm>
        <a:graphic>
          <a:graphicData uri="http://schemas.openxmlformats.org/drawingml/2006/table">
            <a:tbl>
              <a:tblPr>
                <a:noFill/>
                <a:tableStyleId>{2525947D-79E6-44B2-B12A-532D9E6C3FB6}</a:tableStyleId>
              </a:tblPr>
              <a:tblGrid>
                <a:gridCol w="1315200">
                  <a:extLst>
                    <a:ext uri="{9D8B030D-6E8A-4147-A177-3AD203B41FA5}">
                      <a16:colId xmlns:a16="http://schemas.microsoft.com/office/drawing/2014/main" val="821588125"/>
                    </a:ext>
                  </a:extLst>
                </a:gridCol>
                <a:gridCol w="1315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40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9972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3954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05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GB" sz="1100" b="1" i="0" u="none" strike="noStrike" cap="none" dirty="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NN </a:t>
                      </a:r>
                      <a:r>
                        <a:rPr lang="en-GB" sz="1100" b="1" i="0" u="none" strike="noStrike" cap="none" dirty="0" err="1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usecases</a:t>
                      </a:r>
                      <a:endParaRPr lang="en-GB" sz="1100" dirty="0"/>
                    </a:p>
                  </a:txBody>
                  <a:tcPr marL="9525" marR="9525" marT="9525" marB="0" anchor="ctr">
                    <a:solidFill>
                      <a:srgbClr val="C8191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u="none" strike="noStrike" cap="none" dirty="0">
                          <a:solidFill>
                            <a:schemeClr val="lt1"/>
                          </a:solidFill>
                        </a:rPr>
                        <a:t>Dataset</a:t>
                      </a:r>
                      <a:endParaRPr sz="1100" b="1" i="0" u="none" strike="noStrike" cap="none" dirty="0">
                        <a:solidFill>
                          <a:schemeClr val="lt1"/>
                        </a:solidFill>
                        <a:latin typeface="Arimo"/>
                        <a:ea typeface="Arimo"/>
                        <a:cs typeface="Arimo"/>
                        <a:sym typeface="Arimo"/>
                      </a:endParaRPr>
                    </a:p>
                  </a:txBody>
                  <a:tcPr marL="9525" marR="9525" marT="9525" marB="0" anchor="ctr">
                    <a:solidFill>
                      <a:srgbClr val="C8191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u="none" strike="noStrike" cap="none" dirty="0">
                          <a:solidFill>
                            <a:schemeClr val="lt1"/>
                          </a:solidFill>
                        </a:rPr>
                        <a:t>Number of classes</a:t>
                      </a:r>
                      <a:endParaRPr sz="1100" b="1" i="0" u="none" strike="noStrike" cap="none" dirty="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ctr">
                    <a:solidFill>
                      <a:srgbClr val="C8191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u="none" strike="noStrike" cap="none" dirty="0">
                          <a:solidFill>
                            <a:schemeClr val="lt1"/>
                          </a:solidFill>
                        </a:rPr>
                        <a:t>Number of training images</a:t>
                      </a:r>
                      <a:endParaRPr sz="1100" b="1" i="0" u="none" strike="noStrike" cap="none" dirty="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ctr">
                    <a:solidFill>
                      <a:srgbClr val="C8191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u="none" strike="noStrike" cap="none" dirty="0">
                          <a:solidFill>
                            <a:schemeClr val="lt1"/>
                          </a:solidFill>
                        </a:rPr>
                        <a:t>Number of  testing images</a:t>
                      </a:r>
                      <a:endParaRPr sz="1100" b="1" i="0" u="none" strike="noStrike" cap="none" dirty="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ctr">
                    <a:solidFill>
                      <a:srgbClr val="C8191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9815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GB" sz="1050" b="1" u="none" strike="noStrike" cap="none" dirty="0" err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lmage</a:t>
                      </a:r>
                      <a:br>
                        <a:rPr lang="en-GB" sz="1050" b="1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r>
                        <a:rPr lang="en-GB" sz="1000" b="1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classification</a:t>
                      </a:r>
                      <a:endParaRPr lang="en-GB" sz="700" b="1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ctr">
                    <a:solidFill>
                      <a:srgbClr val="F9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b="1" u="none" strike="noStrike" cap="none"/>
                        <a:t>Oxford iiit pet (Oxford)</a:t>
                      </a:r>
                      <a:endParaRPr sz="1000" b="1" i="0" u="none" strike="noStrike" cap="none">
                        <a:solidFill>
                          <a:srgbClr val="000000"/>
                        </a:solidFill>
                        <a:latin typeface="Arimo"/>
                        <a:ea typeface="Arimo"/>
                        <a:cs typeface="Arimo"/>
                        <a:sym typeface="Arimo"/>
                      </a:endParaRPr>
                    </a:p>
                  </a:txBody>
                  <a:tcPr marL="9525" marR="9525" marT="9525" marB="0" anchor="ctr">
                    <a:solidFill>
                      <a:srgbClr val="F9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/>
                        <a:t>37</a:t>
                      </a:r>
                      <a:endParaRPr sz="11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ctr">
                    <a:solidFill>
                      <a:srgbClr val="F9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/>
                        <a:t>3673</a:t>
                      </a:r>
                      <a:endParaRPr sz="11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ctr">
                    <a:solidFill>
                      <a:srgbClr val="F9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/>
                        <a:t>3662</a:t>
                      </a:r>
                      <a:endParaRPr sz="11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ctr">
                    <a:solidFill>
                      <a:srgbClr val="F9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9815">
                <a:tc vMerge="1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1" i="0" u="none" strike="noStrike" cap="none" dirty="0">
                        <a:solidFill>
                          <a:srgbClr val="000000"/>
                        </a:solidFill>
                        <a:latin typeface="Arimo"/>
                        <a:ea typeface="Arimo"/>
                        <a:cs typeface="Arimo"/>
                        <a:sym typeface="Arimo"/>
                      </a:endParaRPr>
                    </a:p>
                  </a:txBody>
                  <a:tcPr marL="9525" marR="9525" marT="9525" marB="0" anchor="ctr">
                    <a:solidFill>
                      <a:srgbClr val="F5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b="1" u="none" strike="noStrike" cap="none" dirty="0"/>
                        <a:t>Cifar10</a:t>
                      </a:r>
                      <a:endParaRPr sz="1000" b="1" i="0" u="none" strike="noStrike" cap="none" dirty="0">
                        <a:solidFill>
                          <a:srgbClr val="000000"/>
                        </a:solidFill>
                        <a:latin typeface="Arimo"/>
                        <a:ea typeface="Arimo"/>
                        <a:cs typeface="Arimo"/>
                        <a:sym typeface="Arimo"/>
                      </a:endParaRPr>
                    </a:p>
                  </a:txBody>
                  <a:tcPr marL="9525" marR="9525" marT="9525" marB="0" anchor="ctr">
                    <a:solidFill>
                      <a:srgbClr val="F9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 dirty="0"/>
                        <a:t>10</a:t>
                      </a: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ctr">
                    <a:solidFill>
                      <a:srgbClr val="F9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 dirty="0"/>
                        <a:t>50000</a:t>
                      </a: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ctr">
                    <a:solidFill>
                      <a:srgbClr val="F9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 dirty="0"/>
                        <a:t>10000</a:t>
                      </a: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ctr">
                    <a:solidFill>
                      <a:srgbClr val="F9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777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GB" sz="1000" b="1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Object detection</a:t>
                      </a:r>
                      <a:endParaRPr lang="en-GB" sz="1000" b="1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ctr">
                    <a:solidFill>
                      <a:srgbClr val="F5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b="1" u="none" strike="noStrike" cap="none" dirty="0"/>
                        <a:t>Pascal-VOC</a:t>
                      </a:r>
                      <a:endParaRPr sz="1000" b="1" i="0" u="none" strike="noStrike" cap="none" dirty="0">
                        <a:solidFill>
                          <a:srgbClr val="000000"/>
                        </a:solidFill>
                        <a:latin typeface="Arimo"/>
                        <a:ea typeface="Arimo"/>
                        <a:cs typeface="Arimo"/>
                        <a:sym typeface="Arimo"/>
                      </a:endParaRPr>
                    </a:p>
                  </a:txBody>
                  <a:tcPr marL="9525" marR="9525" marT="9525" marB="0" anchor="ctr">
                    <a:solidFill>
                      <a:srgbClr val="F5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 dirty="0"/>
                        <a:t>20</a:t>
                      </a: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ctr">
                    <a:solidFill>
                      <a:srgbClr val="F5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 dirty="0"/>
                        <a:t>15672</a:t>
                      </a: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ctr">
                    <a:solidFill>
                      <a:srgbClr val="F5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 dirty="0"/>
                        <a:t>16720</a:t>
                      </a: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ctr">
                    <a:solidFill>
                      <a:srgbClr val="F5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44" name="Google Shape;444;p14"/>
          <p:cNvSpPr txBox="1"/>
          <p:nvPr/>
        </p:nvSpPr>
        <p:spPr>
          <a:xfrm>
            <a:off x="244226" y="618187"/>
            <a:ext cx="1795167" cy="539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lang="en-GB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Architectures</a:t>
            </a:r>
            <a:endParaRPr sz="20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45" name="Google Shape;445;p14"/>
          <p:cNvGraphicFramePr/>
          <p:nvPr>
            <p:extLst>
              <p:ext uri="{D42A27DB-BD31-4B8C-83A1-F6EECF244321}">
                <p14:modId xmlns:p14="http://schemas.microsoft.com/office/powerpoint/2010/main" val="3733888677"/>
              </p:ext>
            </p:extLst>
          </p:nvPr>
        </p:nvGraphicFramePr>
        <p:xfrm>
          <a:off x="1141809" y="1006825"/>
          <a:ext cx="6824600" cy="2418950"/>
        </p:xfrm>
        <a:graphic>
          <a:graphicData uri="http://schemas.openxmlformats.org/drawingml/2006/table">
            <a:tbl>
              <a:tblPr>
                <a:noFill/>
                <a:tableStyleId>{2525947D-79E6-44B2-B12A-532D9E6C3FB6}</a:tableStyleId>
              </a:tblPr>
              <a:tblGrid>
                <a:gridCol w="931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9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31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31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03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03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32900"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i="0" u="none" strike="noStrike" cap="none" dirty="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NN </a:t>
                      </a:r>
                      <a:r>
                        <a:rPr lang="en-GB" sz="1100" b="1" i="0" u="none" strike="noStrike" cap="none" dirty="0" err="1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usecases</a:t>
                      </a:r>
                      <a:r>
                        <a:rPr lang="en-GB" sz="1100" b="1" i="0" u="none" strike="noStrike" cap="none" dirty="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endParaRPr dirty="0"/>
                    </a:p>
                  </a:txBody>
                  <a:tcPr marL="9525" marR="9525" marT="9525" marB="0" anchor="ctr">
                    <a:solidFill>
                      <a:srgbClr val="C81919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050"/>
                        <a:buFont typeface="Calibri"/>
                        <a:buNone/>
                      </a:pPr>
                      <a:r>
                        <a:rPr lang="en-GB" sz="1050" b="1" i="0" u="none" strike="noStrike" cap="non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Model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 b="1" i="0" u="none" strike="noStrike" cap="non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Architectures</a:t>
                      </a:r>
                      <a:endParaRPr/>
                    </a:p>
                  </a:txBody>
                  <a:tcPr marL="9525" marR="9525" marT="9525" marB="0" anchor="ctr">
                    <a:solidFill>
                      <a:srgbClr val="C81919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 b="1" i="0" u="none" strike="noStrike" cap="non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Model Information</a:t>
                      </a:r>
                      <a:endParaRPr/>
                    </a:p>
                  </a:txBody>
                  <a:tcPr marL="9525" marR="9525" marT="9525" marB="0" anchor="ctr">
                    <a:solidFill>
                      <a:srgbClr val="C8191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N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NL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50" b="1" i="0" u="none" strike="noStrike" cap="non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 b="1" i="0" u="none" strike="noStrike" cap="non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Evaluation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 b="1" i="0" u="none" strike="noStrike" cap="non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Metric</a:t>
                      </a:r>
                      <a:endParaRPr/>
                    </a:p>
                  </a:txBody>
                  <a:tcPr marL="9525" marR="9525" marT="9525" marB="0" anchor="ctr">
                    <a:solidFill>
                      <a:srgbClr val="C8191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2900">
                <a:tc vMerge="1">
                  <a:txBody>
                    <a:bodyPr/>
                    <a:lstStyle/>
                    <a:p>
                      <a:endParaRPr lang="en-NL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N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 b="1" u="none" strike="noStrike" cap="non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Number of layers</a:t>
                      </a:r>
                      <a:endParaRPr sz="1050" b="1" i="0" u="none" strike="noStrike" cap="non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ctr">
                    <a:solidFill>
                      <a:srgbClr val="C8191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 b="1" u="none" strike="noStrike" cap="non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Number of parameter (Millions)</a:t>
                      </a:r>
                      <a:endParaRPr sz="1050" b="1" i="0" u="none" strike="noStrike" cap="non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ctr">
                    <a:solidFill>
                      <a:srgbClr val="C8191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 b="1" u="none" strike="noStrike" cap="non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Training image size</a:t>
                      </a:r>
                      <a:endParaRPr sz="1050" b="1" i="0" u="none" strike="noStrike" cap="non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ctr">
                    <a:solidFill>
                      <a:srgbClr val="C81919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N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025">
                <a:tc row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u="none" strike="noStrike" cap="none" dirty="0" err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lmage</a:t>
                      </a:r>
                      <a:br>
                        <a:rPr lang="en-GB" sz="1100" b="1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r>
                        <a:rPr lang="en-GB" sz="1050" b="1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classification</a:t>
                      </a:r>
                      <a:endParaRPr sz="800" b="1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ctr">
                    <a:solidFill>
                      <a:srgbClr val="F9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MobileNet</a:t>
                      </a:r>
                      <a:endParaRPr sz="11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ctr">
                    <a:solidFill>
                      <a:srgbClr val="F9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90</a:t>
                      </a:r>
                      <a:endParaRPr sz="11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ctr">
                    <a:solidFill>
                      <a:srgbClr val="F9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20.6</a:t>
                      </a:r>
                      <a:endParaRPr sz="11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ctr">
                    <a:solidFill>
                      <a:srgbClr val="F9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128 x 128 x 3</a:t>
                      </a: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ctr">
                    <a:solidFill>
                      <a:srgbClr val="F9CCCC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Accuracy</a:t>
                      </a:r>
                      <a:endParaRPr/>
                    </a:p>
                  </a:txBody>
                  <a:tcPr marL="9525" marR="9525" marT="9525" marB="0" anchor="ctr">
                    <a:solidFill>
                      <a:srgbClr val="F9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4175">
                <a:tc vMerge="1">
                  <a:txBody>
                    <a:bodyPr/>
                    <a:lstStyle/>
                    <a:p>
                      <a:endParaRPr lang="en-N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ResNet50</a:t>
                      </a:r>
                      <a:endParaRPr sz="11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ctr">
                    <a:solidFill>
                      <a:srgbClr val="F9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179</a:t>
                      </a:r>
                      <a:endParaRPr sz="11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ctr">
                    <a:solidFill>
                      <a:srgbClr val="F9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57.8</a:t>
                      </a:r>
                      <a:endParaRPr sz="11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ctr">
                    <a:solidFill>
                      <a:srgbClr val="F9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128 x 128 x 3</a:t>
                      </a: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ctr">
                    <a:solidFill>
                      <a:srgbClr val="F9CCCC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N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4175">
                <a:tc vMerge="1">
                  <a:txBody>
                    <a:bodyPr/>
                    <a:lstStyle/>
                    <a:p>
                      <a:endParaRPr lang="en-N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InceptionV3</a:t>
                      </a:r>
                      <a:endParaRPr sz="105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ctr">
                    <a:solidFill>
                      <a:srgbClr val="F9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315</a:t>
                      </a:r>
                      <a:endParaRPr sz="11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ctr">
                    <a:solidFill>
                      <a:srgbClr val="F9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30.8</a:t>
                      </a:r>
                      <a:endParaRPr sz="11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ctr">
                    <a:solidFill>
                      <a:srgbClr val="F9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128 x 128 x 3</a:t>
                      </a: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ctr">
                    <a:solidFill>
                      <a:srgbClr val="F9CCCC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N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5025">
                <a:tc rowSpan="4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 b="1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Object detection</a:t>
                      </a:r>
                      <a:endParaRPr sz="1050" b="1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ctr">
                    <a:solidFill>
                      <a:srgbClr val="F5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EfficientDet-LiteO</a:t>
                      </a:r>
                      <a:endParaRPr sz="105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ctr">
                    <a:solidFill>
                      <a:srgbClr val="F5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237</a:t>
                      </a:r>
                      <a:endParaRPr sz="11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ctr">
                    <a:solidFill>
                      <a:srgbClr val="F5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3.2</a:t>
                      </a:r>
                      <a:endParaRPr sz="11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ctr">
                    <a:solidFill>
                      <a:srgbClr val="F5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224 x 224 x 3</a:t>
                      </a: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ctr">
                    <a:solidFill>
                      <a:srgbClr val="F5E7E7"/>
                    </a:solidFill>
                  </a:tcPr>
                </a:tc>
                <a:tc rowSpan="4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Mean Average Precision (mAP)</a:t>
                      </a:r>
                      <a:endParaRPr/>
                    </a:p>
                  </a:txBody>
                  <a:tcPr marL="9525" marR="9525" marT="9525" marB="0" anchor="ctr">
                    <a:solidFill>
                      <a:srgbClr val="F5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8250">
                <a:tc vMerge="1">
                  <a:txBody>
                    <a:bodyPr/>
                    <a:lstStyle/>
                    <a:p>
                      <a:endParaRPr lang="en-N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SSD_MobileNet</a:t>
                      </a:r>
                      <a:endParaRPr sz="105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ctr">
                    <a:solidFill>
                      <a:srgbClr val="F5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*</a:t>
                      </a:r>
                      <a:endParaRPr sz="14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ctr">
                    <a:solidFill>
                      <a:srgbClr val="F5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*</a:t>
                      </a:r>
                      <a:endParaRPr sz="14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ctr">
                    <a:solidFill>
                      <a:srgbClr val="F5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320 x 320 x 3</a:t>
                      </a: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ctr">
                    <a:solidFill>
                      <a:srgbClr val="F5E7E7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N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8250">
                <a:tc vMerge="1">
                  <a:txBody>
                    <a:bodyPr/>
                    <a:lstStyle/>
                    <a:p>
                      <a:endParaRPr lang="en-N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CenterNet</a:t>
                      </a:r>
                      <a:endParaRPr sz="105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ctr">
                    <a:solidFill>
                      <a:srgbClr val="F5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*</a:t>
                      </a:r>
                      <a:endParaRPr sz="14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ctr">
                    <a:solidFill>
                      <a:srgbClr val="F5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*</a:t>
                      </a:r>
                      <a:endParaRPr sz="14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ctr">
                    <a:solidFill>
                      <a:srgbClr val="F5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512 x 512 x 3</a:t>
                      </a: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ctr">
                    <a:solidFill>
                      <a:srgbClr val="F5E7E7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N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8250">
                <a:tc vMerge="1">
                  <a:txBody>
                    <a:bodyPr/>
                    <a:lstStyle/>
                    <a:p>
                      <a:endParaRPr lang="en-N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 u="none" strike="noStrike" cap="none" dirty="0" err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RetinaNet</a:t>
                      </a:r>
                      <a:endParaRPr sz="105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ctr">
                    <a:solidFill>
                      <a:srgbClr val="F5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*</a:t>
                      </a:r>
                      <a:endParaRPr sz="14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ctr">
                    <a:solidFill>
                      <a:srgbClr val="F5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*</a:t>
                      </a:r>
                      <a:endParaRPr sz="14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ctr">
                    <a:solidFill>
                      <a:srgbClr val="F5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512 x 512 x 3</a:t>
                      </a: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ctr">
                    <a:solidFill>
                      <a:srgbClr val="F5E7E7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N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446" name="Google Shape;446;p14"/>
          <p:cNvSpPr txBox="1"/>
          <p:nvPr/>
        </p:nvSpPr>
        <p:spPr>
          <a:xfrm>
            <a:off x="997892" y="3425796"/>
            <a:ext cx="6979322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* Denotes that theses values was not able to be calculated due to the format these models where saved</a:t>
            </a:r>
            <a:endParaRPr sz="1200" b="0" i="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15"/>
          <p:cNvSpPr txBox="1">
            <a:spLocks noGrp="1"/>
          </p:cNvSpPr>
          <p:nvPr>
            <p:ph type="title"/>
          </p:nvPr>
        </p:nvSpPr>
        <p:spPr>
          <a:xfrm>
            <a:off x="237331" y="240105"/>
            <a:ext cx="7556500" cy="539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Calibri"/>
              <a:buNone/>
            </a:pPr>
            <a:r>
              <a:rPr lang="en-GB" b="1"/>
              <a:t>Image Classification: Objectives</a:t>
            </a:r>
            <a:br>
              <a:rPr lang="en-GB" b="1"/>
            </a:br>
            <a:endParaRPr/>
          </a:p>
        </p:txBody>
      </p:sp>
      <p:sp>
        <p:nvSpPr>
          <p:cNvPr id="453" name="Google Shape;453;p15"/>
          <p:cNvSpPr txBox="1">
            <a:spLocks noGrp="1"/>
          </p:cNvSpPr>
          <p:nvPr>
            <p:ph type="ftr" idx="11"/>
          </p:nvPr>
        </p:nvSpPr>
        <p:spPr>
          <a:xfrm>
            <a:off x="1114426" y="4568400"/>
            <a:ext cx="7042149" cy="576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Evaluation of Quantization Methods for Neural Networks</a:t>
            </a:r>
            <a:endParaRPr/>
          </a:p>
        </p:txBody>
      </p:sp>
      <p:sp>
        <p:nvSpPr>
          <p:cNvPr id="454" name="Google Shape;454;p15"/>
          <p:cNvSpPr txBox="1">
            <a:spLocks noGrp="1"/>
          </p:cNvSpPr>
          <p:nvPr>
            <p:ph type="sldNum" idx="12"/>
          </p:nvPr>
        </p:nvSpPr>
        <p:spPr>
          <a:xfrm>
            <a:off x="2" y="4568400"/>
            <a:ext cx="1114424" cy="572286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75600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15</a:t>
            </a:fld>
            <a:endParaRPr/>
          </a:p>
        </p:txBody>
      </p:sp>
      <p:sp>
        <p:nvSpPr>
          <p:cNvPr id="455" name="Google Shape;455;p15"/>
          <p:cNvSpPr txBox="1">
            <a:spLocks noGrp="1"/>
          </p:cNvSpPr>
          <p:nvPr>
            <p:ph type="body" idx="1"/>
          </p:nvPr>
        </p:nvSpPr>
        <p:spPr>
          <a:xfrm>
            <a:off x="857249" y="706091"/>
            <a:ext cx="7556501" cy="12233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523875" lvl="2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AutoNum type="arabicPeriod"/>
            </a:pPr>
            <a:r>
              <a:rPr lang="en-GB" sz="1800" dirty="0"/>
              <a:t>16-bit quantization using TensorFlow Lite</a:t>
            </a:r>
            <a:endParaRPr sz="1800" dirty="0"/>
          </a:p>
          <a:p>
            <a:pPr marL="523875" lvl="2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AutoNum type="arabicPeriod"/>
            </a:pPr>
            <a:r>
              <a:rPr lang="en-GB" sz="1800" dirty="0"/>
              <a:t>8-bit quantization using TensorFlow Lite </a:t>
            </a:r>
            <a:endParaRPr sz="1800" dirty="0"/>
          </a:p>
          <a:p>
            <a:pPr marL="523875" lvl="2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AutoNum type="arabicPeriod"/>
            </a:pPr>
            <a:r>
              <a:rPr lang="en-GB" sz="1800" dirty="0"/>
              <a:t>32,16 and 8-bit quantization using QKeras.</a:t>
            </a:r>
            <a:endParaRPr sz="1800" dirty="0"/>
          </a:p>
          <a:p>
            <a:pPr marL="523875" lvl="2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AutoNum type="arabicPeriod"/>
            </a:pPr>
            <a:r>
              <a:rPr lang="en-GB" sz="1800" dirty="0"/>
              <a:t>8,6 and 4-bit quantization using SQuant.</a:t>
            </a:r>
            <a:endParaRPr sz="18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16"/>
          <p:cNvSpPr txBox="1">
            <a:spLocks noGrp="1"/>
          </p:cNvSpPr>
          <p:nvPr>
            <p:ph type="title"/>
          </p:nvPr>
        </p:nvSpPr>
        <p:spPr>
          <a:xfrm>
            <a:off x="237331" y="240105"/>
            <a:ext cx="8528050" cy="539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642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GB" sz="2800" b="1"/>
              <a:t>Objective 1: 16-bit quantization using TensorFlow Lite</a:t>
            </a:r>
            <a:endParaRPr/>
          </a:p>
        </p:txBody>
      </p:sp>
      <p:sp>
        <p:nvSpPr>
          <p:cNvPr id="461" name="Google Shape;461;p16"/>
          <p:cNvSpPr txBox="1">
            <a:spLocks noGrp="1"/>
          </p:cNvSpPr>
          <p:nvPr>
            <p:ph type="ftr" idx="11"/>
          </p:nvPr>
        </p:nvSpPr>
        <p:spPr>
          <a:xfrm>
            <a:off x="1114426" y="4568400"/>
            <a:ext cx="7042149" cy="576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Evaluation of Quantization Methods for Neural Networks</a:t>
            </a:r>
            <a:endParaRPr/>
          </a:p>
        </p:txBody>
      </p:sp>
      <p:sp>
        <p:nvSpPr>
          <p:cNvPr id="462" name="Google Shape;462;p16"/>
          <p:cNvSpPr txBox="1">
            <a:spLocks noGrp="1"/>
          </p:cNvSpPr>
          <p:nvPr>
            <p:ph type="sldNum" idx="12"/>
          </p:nvPr>
        </p:nvSpPr>
        <p:spPr>
          <a:xfrm>
            <a:off x="2" y="4568400"/>
            <a:ext cx="1114424" cy="572286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75600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16</a:t>
            </a:fld>
            <a:endParaRPr/>
          </a:p>
        </p:txBody>
      </p:sp>
      <p:sp>
        <p:nvSpPr>
          <p:cNvPr id="463" name="Google Shape;463;p16"/>
          <p:cNvSpPr txBox="1"/>
          <p:nvPr/>
        </p:nvSpPr>
        <p:spPr>
          <a:xfrm>
            <a:off x="55410" y="1146023"/>
            <a:ext cx="4080072" cy="13849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Observed that even though the quantization precision for the NN layers is set as 16-bits, the obtained quantized model uses the precision 8-bits. </a:t>
            </a:r>
            <a:endParaRPr dirty="0"/>
          </a:p>
          <a:p>
            <a:pPr marL="285750" marR="0" lvl="0" indent="-2095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 sz="1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095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 sz="1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br>
              <a:rPr lang="en-GB" sz="1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16"/>
          <p:cNvSpPr txBox="1"/>
          <p:nvPr/>
        </p:nvSpPr>
        <p:spPr>
          <a:xfrm>
            <a:off x="0" y="780859"/>
            <a:ext cx="1492365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</a:pPr>
            <a:r>
              <a:rPr lang="en-GB" sz="135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QAT</a:t>
            </a:r>
            <a:endParaRPr sz="135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16"/>
          <p:cNvSpPr txBox="1"/>
          <p:nvPr/>
        </p:nvSpPr>
        <p:spPr>
          <a:xfrm>
            <a:off x="153518" y="3825798"/>
            <a:ext cx="4080071" cy="461665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the best of our knowledge, the option of 16-bit QAT is not available in </a:t>
            </a:r>
            <a:r>
              <a:rPr lang="en-GB" sz="1200" i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TensorFlow Lite</a:t>
            </a:r>
            <a:r>
              <a:rPr lang="en-GB" sz="1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16"/>
          <p:cNvSpPr txBox="1"/>
          <p:nvPr/>
        </p:nvSpPr>
        <p:spPr>
          <a:xfrm>
            <a:off x="4881687" y="3827007"/>
            <a:ext cx="4145953" cy="646331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i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All the layers quantized except the input and output layer</a:t>
            </a:r>
            <a:endParaRPr sz="1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GB" sz="1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Model size compression: ∼75%</a:t>
            </a:r>
            <a:endParaRPr dirty="0"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GB" sz="1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Change in accuracy : &lt;1%</a:t>
            </a:r>
            <a:endParaRPr dirty="0"/>
          </a:p>
        </p:txBody>
      </p:sp>
      <p:sp>
        <p:nvSpPr>
          <p:cNvPr id="467" name="Google Shape;467;p16"/>
          <p:cNvSpPr txBox="1"/>
          <p:nvPr/>
        </p:nvSpPr>
        <p:spPr>
          <a:xfrm>
            <a:off x="4881687" y="780859"/>
            <a:ext cx="1492365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</a:pPr>
            <a:r>
              <a:rPr lang="en-GB" sz="135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PTQ</a:t>
            </a:r>
            <a:endParaRPr sz="135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68" name="Google Shape;468;p16"/>
          <p:cNvGraphicFramePr/>
          <p:nvPr>
            <p:extLst>
              <p:ext uri="{D42A27DB-BD31-4B8C-83A1-F6EECF244321}">
                <p14:modId xmlns:p14="http://schemas.microsoft.com/office/powerpoint/2010/main" val="3205888522"/>
              </p:ext>
            </p:extLst>
          </p:nvPr>
        </p:nvGraphicFramePr>
        <p:xfrm>
          <a:off x="4501356" y="973250"/>
          <a:ext cx="4637888" cy="265844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" name="Google Shape;521;p20">
            <a:extLst>
              <a:ext uri="{FF2B5EF4-FFF2-40B4-BE49-F238E27FC236}">
                <a16:creationId xmlns:a16="http://schemas.microsoft.com/office/drawing/2014/main" id="{C344C3A8-3F0E-45AD-CC93-0B2BCC33232B}"/>
              </a:ext>
            </a:extLst>
          </p:cNvPr>
          <p:cNvSpPr/>
          <p:nvPr/>
        </p:nvSpPr>
        <p:spPr>
          <a:xfrm>
            <a:off x="1639614" y="1805152"/>
            <a:ext cx="2678805" cy="1739709"/>
          </a:xfrm>
          <a:prstGeom prst="wedgeRoundRectCallout">
            <a:avLst>
              <a:gd name="adj1" fmla="val 140843"/>
              <a:gd name="adj2" fmla="val -161290"/>
              <a:gd name="adj3" fmla="val 16667"/>
            </a:avLst>
          </a:prstGeom>
          <a:solidFill>
            <a:schemeClr val="accent1"/>
          </a:solidFill>
          <a:ln w="12700" cap="flat" cmpd="sng">
            <a:solidFill>
              <a:srgbClr val="91121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5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It is interesting to notice that the model compression percentage is not 50%, this is due to the fact the 32-bit precision models are saved in the format h5 which may contain other values that model parameters and </a:t>
            </a:r>
            <a:r>
              <a:rPr lang="en-GB" sz="13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model architectures. </a:t>
            </a:r>
            <a:endParaRPr sz="1350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6" grpId="0" animBg="1"/>
      <p:bldP spid="467" grpId="0"/>
      <p:bldGraphic spid="468" grpId="0">
        <p:bldAsOne/>
      </p:bldGraphic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17"/>
          <p:cNvSpPr txBox="1">
            <a:spLocks noGrp="1"/>
          </p:cNvSpPr>
          <p:nvPr>
            <p:ph type="title"/>
          </p:nvPr>
        </p:nvSpPr>
        <p:spPr>
          <a:xfrm>
            <a:off x="237330" y="240105"/>
            <a:ext cx="8335169" cy="539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642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GB" sz="2800" b="1" dirty="0"/>
              <a:t>Objective 2: 8-bit quantization using TensorFlow Lite</a:t>
            </a:r>
            <a:endParaRPr dirty="0"/>
          </a:p>
        </p:txBody>
      </p:sp>
      <p:sp>
        <p:nvSpPr>
          <p:cNvPr id="474" name="Google Shape;474;p17"/>
          <p:cNvSpPr txBox="1">
            <a:spLocks noGrp="1"/>
          </p:cNvSpPr>
          <p:nvPr>
            <p:ph type="ftr" idx="11"/>
          </p:nvPr>
        </p:nvSpPr>
        <p:spPr>
          <a:xfrm>
            <a:off x="1114426" y="4568400"/>
            <a:ext cx="7042149" cy="576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Evaluation of Quantization Methods for Neural Networks</a:t>
            </a:r>
            <a:endParaRPr/>
          </a:p>
        </p:txBody>
      </p:sp>
      <p:sp>
        <p:nvSpPr>
          <p:cNvPr id="475" name="Google Shape;475;p17"/>
          <p:cNvSpPr txBox="1">
            <a:spLocks noGrp="1"/>
          </p:cNvSpPr>
          <p:nvPr>
            <p:ph type="sldNum" idx="12"/>
          </p:nvPr>
        </p:nvSpPr>
        <p:spPr>
          <a:xfrm>
            <a:off x="2" y="4568400"/>
            <a:ext cx="1114424" cy="572286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75600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17</a:t>
            </a:fld>
            <a:endParaRPr/>
          </a:p>
        </p:txBody>
      </p:sp>
      <p:sp>
        <p:nvSpPr>
          <p:cNvPr id="476" name="Google Shape;476;p17"/>
          <p:cNvSpPr txBox="1"/>
          <p:nvPr/>
        </p:nvSpPr>
        <p:spPr>
          <a:xfrm>
            <a:off x="225326" y="4024070"/>
            <a:ext cx="4145953" cy="646331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i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All the layers quantized except the input layer</a:t>
            </a:r>
            <a:endParaRPr sz="1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GB" sz="1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Model size compression: ∼85%</a:t>
            </a:r>
            <a:endParaRPr dirty="0"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GB" sz="1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Change in accuracy : &lt;1%</a:t>
            </a:r>
            <a:endParaRPr dirty="0"/>
          </a:p>
        </p:txBody>
      </p:sp>
      <p:sp>
        <p:nvSpPr>
          <p:cNvPr id="477" name="Google Shape;477;p17"/>
          <p:cNvSpPr txBox="1"/>
          <p:nvPr/>
        </p:nvSpPr>
        <p:spPr>
          <a:xfrm>
            <a:off x="4583520" y="587867"/>
            <a:ext cx="1492365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</a:pPr>
            <a:r>
              <a:rPr lang="en-GB" sz="135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PTQ</a:t>
            </a:r>
            <a:endParaRPr sz="135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17"/>
          <p:cNvSpPr txBox="1"/>
          <p:nvPr/>
        </p:nvSpPr>
        <p:spPr>
          <a:xfrm>
            <a:off x="6284" y="599641"/>
            <a:ext cx="1492365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</a:pPr>
            <a:r>
              <a:rPr lang="en-GB" sz="135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QAT</a:t>
            </a:r>
            <a:endParaRPr sz="135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79" name="Google Shape;479;p17"/>
          <p:cNvGraphicFramePr/>
          <p:nvPr>
            <p:extLst>
              <p:ext uri="{D42A27DB-BD31-4B8C-83A1-F6EECF244321}">
                <p14:modId xmlns:p14="http://schemas.microsoft.com/office/powerpoint/2010/main" val="915787533"/>
              </p:ext>
            </p:extLst>
          </p:nvPr>
        </p:nvGraphicFramePr>
        <p:xfrm>
          <a:off x="68754" y="807838"/>
          <a:ext cx="4500134" cy="19201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481" name="Google Shape;481;p17"/>
          <p:cNvGraphicFramePr/>
          <p:nvPr/>
        </p:nvGraphicFramePr>
        <p:xfrm>
          <a:off x="4568888" y="1037105"/>
          <a:ext cx="4500134" cy="216329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482" name="Google Shape;482;p17"/>
          <p:cNvSpPr txBox="1"/>
          <p:nvPr/>
        </p:nvSpPr>
        <p:spPr>
          <a:xfrm>
            <a:off x="4779810" y="4024071"/>
            <a:ext cx="4145953" cy="646331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i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All the layers quantized except the input and output layer</a:t>
            </a:r>
            <a:endParaRPr sz="1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GB" sz="1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Model size compression: ∼85%</a:t>
            </a:r>
            <a:endParaRPr dirty="0"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GB" sz="1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Change in accuracy : &lt;1%</a:t>
            </a:r>
            <a:endParaRPr dirty="0"/>
          </a:p>
        </p:txBody>
      </p:sp>
      <p:graphicFrame>
        <p:nvGraphicFramePr>
          <p:cNvPr id="2" name="Google Shape;480;p17">
            <a:extLst>
              <a:ext uri="{FF2B5EF4-FFF2-40B4-BE49-F238E27FC236}">
                <a16:creationId xmlns:a16="http://schemas.microsoft.com/office/drawing/2014/main" id="{BC9DDA25-1A1C-99B0-957C-845691DEA3E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00245538"/>
              </p:ext>
            </p:extLst>
          </p:nvPr>
        </p:nvGraphicFramePr>
        <p:xfrm>
          <a:off x="-3142" y="2761376"/>
          <a:ext cx="4565716" cy="139834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22143688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6" grpId="0" animBg="1"/>
      <p:bldP spid="477" grpId="0"/>
      <p:bldGraphic spid="481" grpId="0">
        <p:bldAsOne/>
      </p:bldGraphic>
      <p:bldP spid="482" grpId="0" animBg="1"/>
      <p:bldGraphic spid="2" grpId="0">
        <p:bldAsOne/>
      </p:bldGraphic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18"/>
          <p:cNvSpPr txBox="1">
            <a:spLocks noGrp="1"/>
          </p:cNvSpPr>
          <p:nvPr>
            <p:ph type="title"/>
          </p:nvPr>
        </p:nvSpPr>
        <p:spPr>
          <a:xfrm>
            <a:off x="237331" y="240105"/>
            <a:ext cx="8642350" cy="539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642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GB" sz="2800" b="1" dirty="0"/>
              <a:t>Objective 3: 32,16 and 8-bit quantization using QKeras.</a:t>
            </a:r>
            <a:endParaRPr dirty="0"/>
          </a:p>
        </p:txBody>
      </p:sp>
      <p:sp>
        <p:nvSpPr>
          <p:cNvPr id="489" name="Google Shape;489;p18"/>
          <p:cNvSpPr txBox="1">
            <a:spLocks noGrp="1"/>
          </p:cNvSpPr>
          <p:nvPr>
            <p:ph type="ftr" idx="11"/>
          </p:nvPr>
        </p:nvSpPr>
        <p:spPr>
          <a:xfrm>
            <a:off x="1114426" y="4568400"/>
            <a:ext cx="7042149" cy="576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Evaluation of Quantization Methods for Neural Networks</a:t>
            </a:r>
            <a:endParaRPr/>
          </a:p>
        </p:txBody>
      </p:sp>
      <p:sp>
        <p:nvSpPr>
          <p:cNvPr id="490" name="Google Shape;490;p18"/>
          <p:cNvSpPr txBox="1">
            <a:spLocks noGrp="1"/>
          </p:cNvSpPr>
          <p:nvPr>
            <p:ph type="sldNum" idx="12"/>
          </p:nvPr>
        </p:nvSpPr>
        <p:spPr>
          <a:xfrm>
            <a:off x="2" y="4568400"/>
            <a:ext cx="1114424" cy="572286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75600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18</a:t>
            </a:fld>
            <a:endParaRPr/>
          </a:p>
        </p:txBody>
      </p:sp>
      <p:sp>
        <p:nvSpPr>
          <p:cNvPr id="491" name="Google Shape;491;p18"/>
          <p:cNvSpPr txBox="1"/>
          <p:nvPr/>
        </p:nvSpPr>
        <p:spPr>
          <a:xfrm>
            <a:off x="2153875" y="4024312"/>
            <a:ext cx="5466259" cy="461624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GB" sz="1200" i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Change in accuracy : &gt;95%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Might be due to the conversion of the model from </a:t>
            </a:r>
            <a:r>
              <a:rPr lang="en-US" sz="1200" i="1" dirty="0">
                <a:latin typeface="Calibri" panose="020F0502020204030204" pitchFamily="34" charset="0"/>
                <a:cs typeface="Calibri" panose="020F0502020204030204" pitchFamily="34" charset="0"/>
              </a:rPr>
              <a:t>TensorFlow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 to </a:t>
            </a:r>
            <a:r>
              <a:rPr lang="en-US" sz="1200" i="1" dirty="0">
                <a:latin typeface="Calibri" panose="020F0502020204030204" pitchFamily="34" charset="0"/>
                <a:cs typeface="Calibri" panose="020F0502020204030204" pitchFamily="34" charset="0"/>
              </a:rPr>
              <a:t>QKeras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  <a:endParaRPr sz="1200" i="1" dirty="0">
              <a:solidFill>
                <a:schemeClr val="dk1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492" name="Google Shape;492;p18"/>
          <p:cNvSpPr txBox="1"/>
          <p:nvPr/>
        </p:nvSpPr>
        <p:spPr>
          <a:xfrm>
            <a:off x="144783" y="686084"/>
            <a:ext cx="1492365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</a:pPr>
            <a:r>
              <a:rPr lang="en-GB" sz="135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QAT</a:t>
            </a:r>
            <a:endParaRPr sz="135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93" name="Google Shape;493;p18"/>
          <p:cNvGraphicFramePr/>
          <p:nvPr>
            <p:extLst>
              <p:ext uri="{D42A27DB-BD31-4B8C-83A1-F6EECF244321}">
                <p14:modId xmlns:p14="http://schemas.microsoft.com/office/powerpoint/2010/main" val="907549720"/>
              </p:ext>
            </p:extLst>
          </p:nvPr>
        </p:nvGraphicFramePr>
        <p:xfrm>
          <a:off x="2027751" y="1211989"/>
          <a:ext cx="4942115" cy="258649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B1EDC0BE-B894-3E44-9AD1-4249D0050FBC}"/>
              </a:ext>
            </a:extLst>
          </p:cNvPr>
          <p:cNvSpPr txBox="1"/>
          <p:nvPr/>
        </p:nvSpPr>
        <p:spPr>
          <a:xfrm>
            <a:off x="4124954" y="779143"/>
            <a:ext cx="13809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ResNet50</a:t>
            </a:r>
            <a:endParaRPr lang="en-NL" sz="1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19"/>
          <p:cNvSpPr txBox="1">
            <a:spLocks noGrp="1"/>
          </p:cNvSpPr>
          <p:nvPr>
            <p:ph type="title"/>
          </p:nvPr>
        </p:nvSpPr>
        <p:spPr>
          <a:xfrm>
            <a:off x="237330" y="240105"/>
            <a:ext cx="8106569" cy="539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642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GB" sz="2800"/>
              <a:t>Objective 4: 8,6 and 4-bit quantization using SQuant.</a:t>
            </a:r>
            <a:endParaRPr/>
          </a:p>
        </p:txBody>
      </p:sp>
      <p:sp>
        <p:nvSpPr>
          <p:cNvPr id="500" name="Google Shape;500;p19"/>
          <p:cNvSpPr txBox="1">
            <a:spLocks noGrp="1"/>
          </p:cNvSpPr>
          <p:nvPr>
            <p:ph type="ftr" idx="11"/>
          </p:nvPr>
        </p:nvSpPr>
        <p:spPr>
          <a:xfrm>
            <a:off x="1114426" y="4568400"/>
            <a:ext cx="7042149" cy="576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Evaluation of Quantization Methods for Neural Networks</a:t>
            </a:r>
            <a:endParaRPr/>
          </a:p>
        </p:txBody>
      </p:sp>
      <p:sp>
        <p:nvSpPr>
          <p:cNvPr id="501" name="Google Shape;501;p19"/>
          <p:cNvSpPr txBox="1">
            <a:spLocks noGrp="1"/>
          </p:cNvSpPr>
          <p:nvPr>
            <p:ph type="sldNum" idx="12"/>
          </p:nvPr>
        </p:nvSpPr>
        <p:spPr>
          <a:xfrm>
            <a:off x="2" y="4568400"/>
            <a:ext cx="1114424" cy="572286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75600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19</a:t>
            </a:fld>
            <a:endParaRPr/>
          </a:p>
        </p:txBody>
      </p:sp>
      <p:sp>
        <p:nvSpPr>
          <p:cNvPr id="502" name="Google Shape;502;p19"/>
          <p:cNvSpPr txBox="1"/>
          <p:nvPr/>
        </p:nvSpPr>
        <p:spPr>
          <a:xfrm>
            <a:off x="237331" y="240105"/>
            <a:ext cx="8370888" cy="539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9642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endParaRPr sz="28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p19"/>
          <p:cNvSpPr txBox="1"/>
          <p:nvPr/>
        </p:nvSpPr>
        <p:spPr>
          <a:xfrm>
            <a:off x="1114426" y="4568400"/>
            <a:ext cx="7042149" cy="576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b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Title of the presentation - by tab Insert -&gt; Header text and Footer text</a:t>
            </a:r>
            <a:endParaRPr sz="1100" b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19"/>
          <p:cNvSpPr txBox="1"/>
          <p:nvPr/>
        </p:nvSpPr>
        <p:spPr>
          <a:xfrm>
            <a:off x="2" y="4568400"/>
            <a:ext cx="1114424" cy="572286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75600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100" b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19</a:t>
            </a:fld>
            <a:endParaRPr sz="1100" b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p19"/>
          <p:cNvSpPr txBox="1"/>
          <p:nvPr/>
        </p:nvSpPr>
        <p:spPr>
          <a:xfrm>
            <a:off x="1114426" y="4568400"/>
            <a:ext cx="7042149" cy="576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b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Evaluation of Quantization methods for Neural Networks</a:t>
            </a:r>
            <a:endParaRPr sz="1100" b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19"/>
          <p:cNvSpPr txBox="1"/>
          <p:nvPr/>
        </p:nvSpPr>
        <p:spPr>
          <a:xfrm>
            <a:off x="2" y="4568400"/>
            <a:ext cx="1114424" cy="572286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75600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100" b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19</a:t>
            </a:fld>
            <a:endParaRPr sz="1100" b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" name="Google Shape;507;p19"/>
          <p:cNvSpPr txBox="1"/>
          <p:nvPr/>
        </p:nvSpPr>
        <p:spPr>
          <a:xfrm>
            <a:off x="2569606" y="3307155"/>
            <a:ext cx="4519139" cy="1384995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i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All the layers quantized except the input layer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i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i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i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i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i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p19"/>
          <p:cNvSpPr txBox="1"/>
          <p:nvPr/>
        </p:nvSpPr>
        <p:spPr>
          <a:xfrm>
            <a:off x="80628" y="619692"/>
            <a:ext cx="1492365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</a:pPr>
            <a:r>
              <a:rPr lang="en-GB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DFQ</a:t>
            </a:r>
            <a:endParaRPr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509" name="Google Shape;509;p19"/>
          <p:cNvGraphicFramePr/>
          <p:nvPr>
            <p:extLst>
              <p:ext uri="{D42A27DB-BD31-4B8C-83A1-F6EECF244321}">
                <p14:modId xmlns:p14="http://schemas.microsoft.com/office/powerpoint/2010/main" val="2954034571"/>
              </p:ext>
            </p:extLst>
          </p:nvPr>
        </p:nvGraphicFramePr>
        <p:xfrm>
          <a:off x="69895" y="805030"/>
          <a:ext cx="4386772" cy="257365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10" name="Google Shape;510;p19"/>
          <p:cNvGraphicFramePr/>
          <p:nvPr>
            <p:extLst>
              <p:ext uri="{D42A27DB-BD31-4B8C-83A1-F6EECF244321}">
                <p14:modId xmlns:p14="http://schemas.microsoft.com/office/powerpoint/2010/main" val="983467371"/>
              </p:ext>
            </p:extLst>
          </p:nvPr>
        </p:nvGraphicFramePr>
        <p:xfrm>
          <a:off x="4628707" y="711561"/>
          <a:ext cx="4289459" cy="257365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511" name="Google Shape;511;p19"/>
          <p:cNvGraphicFramePr/>
          <p:nvPr/>
        </p:nvGraphicFramePr>
        <p:xfrm>
          <a:off x="2720972" y="3589775"/>
          <a:ext cx="4216400" cy="1017565"/>
        </p:xfrm>
        <a:graphic>
          <a:graphicData uri="http://schemas.openxmlformats.org/drawingml/2006/table">
            <a:tbl>
              <a:tblPr firstRow="1" bandRow="1">
                <a:noFill/>
                <a:tableStyleId>{2525947D-79E6-44B2-B12A-532D9E6C3FB6}</a:tableStyleId>
              </a:tblPr>
              <a:tblGrid>
                <a:gridCol w="2108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8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28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/>
                        <a:t>Quantization bit precision</a:t>
                      </a:r>
                      <a:endParaRPr sz="11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/>
                        <a:t>Change in accuracy(%)</a:t>
                      </a:r>
                      <a:endParaRPr sz="11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28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u="none" strike="noStrike" cap="none"/>
                        <a:t>8</a:t>
                      </a:r>
                      <a:endParaRPr sz="10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u="none" strike="noStrike" cap="none"/>
                        <a:t>&lt;1</a:t>
                      </a:r>
                      <a:endParaRPr sz="10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28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u="none" strike="noStrike" cap="none"/>
                        <a:t>6</a:t>
                      </a:r>
                      <a:endParaRPr sz="10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u="none" strike="noStrike" cap="none"/>
                        <a:t>&lt;5</a:t>
                      </a:r>
                      <a:endParaRPr sz="10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28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u="none" strike="noStrike" cap="none"/>
                        <a:t>4</a:t>
                      </a:r>
                      <a:endParaRPr sz="10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u="none" strike="noStrike" cap="none"/>
                        <a:t>&lt;25</a:t>
                      </a:r>
                      <a:endParaRPr sz="10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DCDBB2EF-A9A0-0022-84A6-8EFFD3C8CF97}"/>
              </a:ext>
            </a:extLst>
          </p:cNvPr>
          <p:cNvSpPr txBox="1"/>
          <p:nvPr/>
        </p:nvSpPr>
        <p:spPr>
          <a:xfrm>
            <a:off x="1183758" y="717874"/>
            <a:ext cx="23995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Input layer precision: 8 bits</a:t>
            </a:r>
            <a:endParaRPr lang="en-NL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A570505-7D11-76EC-808B-AE81C3D32F43}"/>
              </a:ext>
            </a:extLst>
          </p:cNvPr>
          <p:cNvSpPr txBox="1"/>
          <p:nvPr/>
        </p:nvSpPr>
        <p:spPr>
          <a:xfrm>
            <a:off x="5888988" y="711560"/>
            <a:ext cx="23995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Input layer precision: 32 bits</a:t>
            </a:r>
            <a:endParaRPr lang="en-NL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09243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7" grpId="0" animBg="1"/>
      <p:bldGraphic spid="510" grpId="0">
        <p:bldAsOne/>
      </p:bldGraphic>
      <p:bldP spid="3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20"/>
          <p:cNvSpPr txBox="1">
            <a:spLocks noGrp="1"/>
          </p:cNvSpPr>
          <p:nvPr>
            <p:ph type="title"/>
          </p:nvPr>
        </p:nvSpPr>
        <p:spPr>
          <a:xfrm>
            <a:off x="237331" y="240105"/>
            <a:ext cx="7556500" cy="539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Calibri"/>
              <a:buNone/>
            </a:pPr>
            <a:r>
              <a:rPr lang="en-GB" b="1"/>
              <a:t>Object Detection-Objective</a:t>
            </a:r>
            <a:br>
              <a:rPr lang="en-GB" b="1"/>
            </a:br>
            <a:br>
              <a:rPr lang="en-GB" b="1"/>
            </a:br>
            <a:endParaRPr/>
          </a:p>
        </p:txBody>
      </p:sp>
      <p:sp>
        <p:nvSpPr>
          <p:cNvPr id="518" name="Google Shape;518;p20"/>
          <p:cNvSpPr txBox="1">
            <a:spLocks noGrp="1"/>
          </p:cNvSpPr>
          <p:nvPr>
            <p:ph type="ftr" idx="11"/>
          </p:nvPr>
        </p:nvSpPr>
        <p:spPr>
          <a:xfrm>
            <a:off x="1114426" y="4568400"/>
            <a:ext cx="7042149" cy="576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Evaluation of Quantization Methods for Neural Networks</a:t>
            </a:r>
            <a:endParaRPr/>
          </a:p>
        </p:txBody>
      </p:sp>
      <p:sp>
        <p:nvSpPr>
          <p:cNvPr id="519" name="Google Shape;519;p20"/>
          <p:cNvSpPr txBox="1">
            <a:spLocks noGrp="1"/>
          </p:cNvSpPr>
          <p:nvPr>
            <p:ph type="sldNum" idx="12"/>
          </p:nvPr>
        </p:nvSpPr>
        <p:spPr>
          <a:xfrm>
            <a:off x="2" y="4568400"/>
            <a:ext cx="1114424" cy="572286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75600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20</a:t>
            </a:fld>
            <a:endParaRPr/>
          </a:p>
        </p:txBody>
      </p:sp>
      <p:sp>
        <p:nvSpPr>
          <p:cNvPr id="520" name="Google Shape;520;p20"/>
          <p:cNvSpPr txBox="1">
            <a:spLocks noGrp="1"/>
          </p:cNvSpPr>
          <p:nvPr>
            <p:ph type="body" idx="1"/>
          </p:nvPr>
        </p:nvSpPr>
        <p:spPr>
          <a:xfrm>
            <a:off x="557214" y="779143"/>
            <a:ext cx="7556501" cy="4507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523875" lvl="2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AutoNum type="arabicPeriod"/>
            </a:pPr>
            <a:r>
              <a:rPr lang="en-GB"/>
              <a:t>16 and 8-bit quantization using TensorFlow Lite.</a:t>
            </a:r>
            <a:endParaRPr/>
          </a:p>
        </p:txBody>
      </p:sp>
      <p:sp>
        <p:nvSpPr>
          <p:cNvPr id="521" name="Google Shape;521;p20"/>
          <p:cNvSpPr/>
          <p:nvPr/>
        </p:nvSpPr>
        <p:spPr>
          <a:xfrm>
            <a:off x="5032036" y="1361735"/>
            <a:ext cx="1854539" cy="1086676"/>
          </a:xfrm>
          <a:prstGeom prst="wedgeRoundRectCallout">
            <a:avLst>
              <a:gd name="adj1" fmla="val -42780"/>
              <a:gd name="adj2" fmla="val -86574"/>
              <a:gd name="adj3" fmla="val 16667"/>
            </a:avLst>
          </a:prstGeom>
          <a:solidFill>
            <a:schemeClr val="accent1"/>
          </a:solidFill>
          <a:ln w="12700" cap="flat" cmpd="sng">
            <a:solidFill>
              <a:srgbClr val="91121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Only one framework is experimented due to time constraints</a:t>
            </a:r>
            <a:endParaRPr sz="135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21"/>
          <p:cNvSpPr txBox="1">
            <a:spLocks noGrp="1"/>
          </p:cNvSpPr>
          <p:nvPr>
            <p:ph type="title"/>
          </p:nvPr>
        </p:nvSpPr>
        <p:spPr>
          <a:xfrm>
            <a:off x="237330" y="240105"/>
            <a:ext cx="8956675" cy="539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642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GB" sz="2800" b="1" dirty="0"/>
              <a:t>Objective 5: 16 and 8-bit quantization using TensorFlow Lite</a:t>
            </a:r>
            <a:endParaRPr dirty="0"/>
          </a:p>
        </p:txBody>
      </p:sp>
      <p:sp>
        <p:nvSpPr>
          <p:cNvPr id="527" name="Google Shape;527;p21"/>
          <p:cNvSpPr txBox="1">
            <a:spLocks noGrp="1"/>
          </p:cNvSpPr>
          <p:nvPr>
            <p:ph type="ftr" idx="11"/>
          </p:nvPr>
        </p:nvSpPr>
        <p:spPr>
          <a:xfrm>
            <a:off x="1114426" y="4568400"/>
            <a:ext cx="7042149" cy="576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Evaluation of Quantization Methods for Neural Networks</a:t>
            </a:r>
            <a:endParaRPr/>
          </a:p>
        </p:txBody>
      </p:sp>
      <p:sp>
        <p:nvSpPr>
          <p:cNvPr id="528" name="Google Shape;528;p21"/>
          <p:cNvSpPr txBox="1">
            <a:spLocks noGrp="1"/>
          </p:cNvSpPr>
          <p:nvPr>
            <p:ph type="sldNum" idx="12"/>
          </p:nvPr>
        </p:nvSpPr>
        <p:spPr>
          <a:xfrm>
            <a:off x="2" y="4568400"/>
            <a:ext cx="1114424" cy="572286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75600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21</a:t>
            </a:fld>
            <a:endParaRPr/>
          </a:p>
        </p:txBody>
      </p:sp>
      <p:sp>
        <p:nvSpPr>
          <p:cNvPr id="529" name="Google Shape;529;p21"/>
          <p:cNvSpPr txBox="1"/>
          <p:nvPr/>
        </p:nvSpPr>
        <p:spPr>
          <a:xfrm>
            <a:off x="1114426" y="4568400"/>
            <a:ext cx="7042149" cy="576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b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Evaluation of Quantization methods for Neural Networks</a:t>
            </a:r>
            <a:endParaRPr sz="1100" b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0" name="Google Shape;530;p21"/>
          <p:cNvSpPr txBox="1"/>
          <p:nvPr/>
        </p:nvSpPr>
        <p:spPr>
          <a:xfrm>
            <a:off x="2" y="4568400"/>
            <a:ext cx="1114424" cy="572286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75600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100" b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21</a:t>
            </a:fld>
            <a:endParaRPr sz="1100" b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1" name="Google Shape;531;p21"/>
          <p:cNvSpPr txBox="1"/>
          <p:nvPr/>
        </p:nvSpPr>
        <p:spPr>
          <a:xfrm>
            <a:off x="5905027" y="3861178"/>
            <a:ext cx="1756381" cy="276999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GB" sz="1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Change in </a:t>
            </a:r>
            <a:r>
              <a:rPr lang="en-GB" sz="12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mAP</a:t>
            </a:r>
            <a:r>
              <a:rPr lang="en-GB" sz="1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: &lt;2%</a:t>
            </a:r>
            <a:endParaRPr dirty="0"/>
          </a:p>
        </p:txBody>
      </p:sp>
      <p:sp>
        <p:nvSpPr>
          <p:cNvPr id="532" name="Google Shape;532;p21"/>
          <p:cNvSpPr txBox="1"/>
          <p:nvPr/>
        </p:nvSpPr>
        <p:spPr>
          <a:xfrm>
            <a:off x="33892" y="1455479"/>
            <a:ext cx="4486490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</a:pPr>
            <a:r>
              <a:rPr lang="en-GB" sz="135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16 and 8-bit quantization using PTQ for  </a:t>
            </a:r>
            <a:r>
              <a:rPr lang="en-GB" sz="1350" b="1" i="1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SSD_MobileNet</a:t>
            </a:r>
            <a:r>
              <a:rPr lang="en-GB" sz="135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35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5" name="Google Shape;535;p21"/>
          <p:cNvSpPr txBox="1"/>
          <p:nvPr/>
        </p:nvSpPr>
        <p:spPr>
          <a:xfrm>
            <a:off x="125872" y="624018"/>
            <a:ext cx="4355922" cy="2707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GB" sz="135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16 and 8-bit quantization check for </a:t>
            </a:r>
            <a:r>
              <a:rPr lang="en-GB" sz="1350" b="1" i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Efficientdet-Lite0,</a:t>
            </a:r>
            <a:r>
              <a:rPr lang="en-GB" sz="135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</a:p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</a:pPr>
            <a:r>
              <a:rPr lang="en-GB" sz="1350" b="1" i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SSD _</a:t>
            </a:r>
            <a:r>
              <a:rPr lang="en-GB" sz="1350" b="1" i="1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MobileNet</a:t>
            </a:r>
            <a:r>
              <a:rPr lang="en-GB" sz="1350" b="1" i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GB" sz="1350" b="1" i="1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CenterNet</a:t>
            </a:r>
            <a:r>
              <a:rPr lang="en-GB" sz="1350" b="1" i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GB" sz="135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and</a:t>
            </a:r>
            <a:r>
              <a:rPr lang="en-GB" sz="1350" b="1" i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GB" sz="1350" b="1" i="1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RetinaNet</a:t>
            </a:r>
            <a:r>
              <a:rPr lang="en-GB" sz="1350" b="1" i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GB" sz="135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br>
              <a:rPr lang="en-GB" sz="135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35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6" name="Google Shape;536;p21"/>
          <p:cNvSpPr txBox="1"/>
          <p:nvPr/>
        </p:nvSpPr>
        <p:spPr>
          <a:xfrm>
            <a:off x="125872" y="1093231"/>
            <a:ext cx="4280907" cy="261610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Only </a:t>
            </a:r>
            <a:r>
              <a:rPr lang="en-GB" sz="1050" i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SSD_MobileNet </a:t>
            </a:r>
            <a:r>
              <a:rPr lang="en-GB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was successfully quantized using TensorFlow Lite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537" name="Google Shape;537;p21"/>
          <p:cNvGraphicFramePr/>
          <p:nvPr>
            <p:extLst>
              <p:ext uri="{D42A27DB-BD31-4B8C-83A1-F6EECF244321}">
                <p14:modId xmlns:p14="http://schemas.microsoft.com/office/powerpoint/2010/main" val="2571057843"/>
              </p:ext>
            </p:extLst>
          </p:nvPr>
        </p:nvGraphicFramePr>
        <p:xfrm>
          <a:off x="557214" y="1804998"/>
          <a:ext cx="3518114" cy="135469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38" name="Google Shape;538;p21"/>
          <p:cNvSpPr txBox="1"/>
          <p:nvPr/>
        </p:nvSpPr>
        <p:spPr>
          <a:xfrm>
            <a:off x="78166" y="3154379"/>
            <a:ext cx="4486490" cy="1531475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539" name="Google Shape;539;p21"/>
          <p:cNvGraphicFramePr/>
          <p:nvPr>
            <p:extLst>
              <p:ext uri="{D42A27DB-BD31-4B8C-83A1-F6EECF244321}">
                <p14:modId xmlns:p14="http://schemas.microsoft.com/office/powerpoint/2010/main" val="211743320"/>
              </p:ext>
            </p:extLst>
          </p:nvPr>
        </p:nvGraphicFramePr>
        <p:xfrm>
          <a:off x="5043704" y="1920916"/>
          <a:ext cx="3502100" cy="1826880"/>
        </p:xfrm>
        <a:graphic>
          <a:graphicData uri="http://schemas.openxmlformats.org/drawingml/2006/table">
            <a:tbl>
              <a:tblPr>
                <a:noFill/>
                <a:tableStyleId>{2525947D-79E6-44B2-B12A-532D9E6C3FB6}</a:tableStyleId>
              </a:tblPr>
              <a:tblGrid>
                <a:gridCol w="1254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1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215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11725"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u="none" strike="noStrike" cap="none" dirty="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Serial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Number</a:t>
                      </a:r>
                      <a:endParaRPr sz="1100" b="1" i="0" u="none" strike="noStrike" cap="none" dirty="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ctr">
                    <a:solidFill>
                      <a:srgbClr val="C81919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i="1" u="none" strike="noStrike" cap="none" dirty="0">
                          <a:solidFill>
                            <a:schemeClr val="lt1"/>
                          </a:solidFill>
                          <a:latin typeface="Calibri"/>
                          <a:cs typeface="Calibri"/>
                          <a:sym typeface="Calibri"/>
                        </a:rPr>
                        <a:t>Unquantized</a:t>
                      </a:r>
                      <a:endParaRPr dirty="0"/>
                    </a:p>
                  </a:txBody>
                  <a:tcPr marL="9525" marR="9525" marT="9525" marB="0" anchor="ctr">
                    <a:solidFill>
                      <a:srgbClr val="C8191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NL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u="none" strike="noStrike" cap="none" dirty="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Change in </a:t>
                      </a:r>
                      <a:r>
                        <a:rPr lang="en-GB" sz="1100" b="1" u="none" strike="noStrike" cap="none" dirty="0" err="1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mAP</a:t>
                      </a:r>
                      <a:r>
                        <a:rPr lang="en-GB" sz="1100" b="1" u="none" strike="noStrike" cap="none" dirty="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(%)</a:t>
                      </a:r>
                      <a:endParaRPr sz="1100" b="1" i="0" u="none" strike="noStrike" cap="none" dirty="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ctr">
                    <a:solidFill>
                      <a:srgbClr val="C8191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8275">
                <a:tc vMerge="1">
                  <a:txBody>
                    <a:bodyPr/>
                    <a:lstStyle/>
                    <a:p>
                      <a:endParaRPr lang="en-N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Calibri"/>
                        <a:buNone/>
                      </a:pPr>
                      <a:r>
                        <a:rPr lang="en-GB" sz="1100" b="1" u="none" strike="noStrike" cap="non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First N layers</a:t>
                      </a:r>
                      <a:endParaRPr sz="1100" b="1" i="0" u="none" strike="noStrike" cap="non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ctr">
                    <a:solidFill>
                      <a:srgbClr val="C8191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i="0" u="none" strike="noStrike" cap="non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Suspected Layers</a:t>
                      </a:r>
                      <a:endParaRPr/>
                    </a:p>
                  </a:txBody>
                  <a:tcPr marL="9525" marR="9525" marT="9525" marB="0" anchor="ctr">
                    <a:solidFill>
                      <a:srgbClr val="C81919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N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17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/>
                        <a:t>1</a:t>
                      </a:r>
                      <a:endParaRPr sz="11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/>
                        <a:t>0</a:t>
                      </a:r>
                      <a:endParaRPr sz="11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/>
                        <a:t>0</a:t>
                      </a:r>
                      <a:endParaRPr sz="11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/>
                        <a:t>90.44</a:t>
                      </a:r>
                      <a:endParaRPr sz="11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17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 dirty="0"/>
                        <a:t>2</a:t>
                      </a: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/>
                        <a:t>1</a:t>
                      </a:r>
                      <a:endParaRPr sz="11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/>
                        <a:t>0</a:t>
                      </a:r>
                      <a:endParaRPr sz="11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/>
                        <a:t>3.15</a:t>
                      </a:r>
                      <a:endParaRPr sz="11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17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/>
                        <a:t>3</a:t>
                      </a:r>
                      <a:endParaRPr sz="11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/>
                        <a:t>5</a:t>
                      </a:r>
                      <a:endParaRPr sz="11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/>
                        <a:t>0</a:t>
                      </a:r>
                      <a:endParaRPr sz="11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/>
                        <a:t>1.31</a:t>
                      </a:r>
                      <a:endParaRPr sz="11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17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/>
                        <a:t>4</a:t>
                      </a:r>
                      <a:endParaRPr sz="11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/>
                        <a:t>0</a:t>
                      </a:r>
                      <a:endParaRPr sz="11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/>
                        <a:t>1</a:t>
                      </a:r>
                      <a:endParaRPr sz="11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/>
                        <a:t>86.87</a:t>
                      </a:r>
                      <a:endParaRPr sz="11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17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/>
                        <a:t>5</a:t>
                      </a:r>
                      <a:endParaRPr sz="11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/>
                        <a:t>1</a:t>
                      </a:r>
                      <a:endParaRPr sz="11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/>
                        <a:t>1</a:t>
                      </a:r>
                      <a:endParaRPr sz="11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/>
                        <a:t>1.24</a:t>
                      </a:r>
                      <a:endParaRPr sz="11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17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/>
                        <a:t>6</a:t>
                      </a:r>
                      <a:endParaRPr sz="11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/>
                        <a:t>5</a:t>
                      </a:r>
                      <a:endParaRPr sz="11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/>
                        <a:t>1</a:t>
                      </a:r>
                      <a:endParaRPr sz="11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 dirty="0"/>
                        <a:t>1.33</a:t>
                      </a: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540" name="Google Shape;540;p21"/>
          <p:cNvGraphicFramePr/>
          <p:nvPr>
            <p:extLst>
              <p:ext uri="{D42A27DB-BD31-4B8C-83A1-F6EECF244321}">
                <p14:modId xmlns:p14="http://schemas.microsoft.com/office/powerpoint/2010/main" val="3780365270"/>
              </p:ext>
            </p:extLst>
          </p:nvPr>
        </p:nvGraphicFramePr>
        <p:xfrm>
          <a:off x="175894" y="3203816"/>
          <a:ext cx="4278500" cy="1432600"/>
        </p:xfrm>
        <a:graphic>
          <a:graphicData uri="http://schemas.openxmlformats.org/drawingml/2006/table">
            <a:tbl>
              <a:tblPr firstRow="1" bandRow="1">
                <a:noFill/>
                <a:tableStyleId>{2525947D-79E6-44B2-B12A-532D9E6C3FB6}</a:tableStyleId>
              </a:tblPr>
              <a:tblGrid>
                <a:gridCol w="1182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0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261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26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en-GB" sz="1000" u="none" strike="noStrike" cap="none"/>
                        <a:t>Quantization bit precision</a:t>
                      </a:r>
                      <a:endParaRPr sz="10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u="none" strike="noStrike" cap="none" dirty="0"/>
                        <a:t>16</a:t>
                      </a:r>
                      <a:endParaRPr sz="1000" u="none" strike="noStrike" cap="none"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u="none" strike="noStrike" cap="none"/>
                        <a:t>8</a:t>
                      </a:r>
                      <a:endParaRPr sz="10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16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en-GB" sz="1000" u="none" strike="noStrike" cap="none"/>
                        <a:t>Change in mAP (%)</a:t>
                      </a:r>
                      <a:endParaRPr sz="10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u="none" strike="noStrike" cap="none"/>
                        <a:t>&lt;2</a:t>
                      </a:r>
                      <a:endParaRPr sz="10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u="none" strike="noStrike" cap="none"/>
                        <a:t>&gt;95</a:t>
                      </a:r>
                      <a:endParaRPr sz="10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26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u="none" strike="noStrike" cap="none"/>
                        <a:t>Model compression (%)</a:t>
                      </a:r>
                      <a:endParaRPr sz="10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∼</a:t>
                      </a:r>
                      <a:r>
                        <a:rPr lang="en-GB" sz="1000" u="none" strike="noStrike" cap="none" dirty="0"/>
                        <a:t>75</a:t>
                      </a:r>
                      <a:endParaRPr sz="1000" u="none" strike="noStrike" cap="none"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∼</a:t>
                      </a:r>
                      <a:r>
                        <a:rPr lang="en-GB" sz="1000" u="none" strike="noStrike" cap="none" dirty="0"/>
                        <a:t>85</a:t>
                      </a:r>
                      <a:endParaRPr sz="1000" u="none" strike="noStrike" cap="none" dirty="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26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u="none" strike="noStrike" cap="none" dirty="0"/>
                        <a:t>Remarks</a:t>
                      </a:r>
                      <a:endParaRPr sz="1000" u="none" strike="noStrike" cap="none"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u="none" strike="noStrike" cap="none"/>
                        <a:t>Quantize all layers expect input and output layers</a:t>
                      </a:r>
                      <a:endParaRPr sz="10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u="none" strike="noStrike" cap="none" dirty="0"/>
                        <a:t>The change in </a:t>
                      </a:r>
                      <a:r>
                        <a:rPr lang="en-GB" sz="1000" u="none" strike="noStrike" cap="none" dirty="0" err="1"/>
                        <a:t>mAP</a:t>
                      </a:r>
                      <a:r>
                        <a:rPr lang="en-GB" sz="1000" u="none" strike="noStrike" cap="none" dirty="0"/>
                        <a:t> not acceptable</a:t>
                      </a:r>
                      <a:endParaRPr sz="1000" u="none" strike="noStrike" cap="none" dirty="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41" name="Google Shape;541;p21"/>
          <p:cNvSpPr txBox="1"/>
          <p:nvPr/>
        </p:nvSpPr>
        <p:spPr>
          <a:xfrm>
            <a:off x="4593252" y="569483"/>
            <a:ext cx="4460560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</a:pPr>
            <a:r>
              <a:rPr lang="en-GB" sz="135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8-bit quantization using PTQ for  </a:t>
            </a:r>
            <a:r>
              <a:rPr lang="en-GB" sz="1350" b="1" i="1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SSD_MobileNet</a:t>
            </a:r>
            <a:r>
              <a:rPr lang="en-GB" sz="1350" b="1" i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GB" sz="135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with suspected layer method.</a:t>
            </a:r>
            <a:endParaRPr sz="135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521;p20">
            <a:extLst>
              <a:ext uri="{FF2B5EF4-FFF2-40B4-BE49-F238E27FC236}">
                <a16:creationId xmlns:a16="http://schemas.microsoft.com/office/drawing/2014/main" id="{A42B02C3-0611-53B7-1063-C8EE818D9E77}"/>
              </a:ext>
            </a:extLst>
          </p:cNvPr>
          <p:cNvSpPr/>
          <p:nvPr/>
        </p:nvSpPr>
        <p:spPr>
          <a:xfrm>
            <a:off x="5047802" y="1205023"/>
            <a:ext cx="3502364" cy="602512"/>
          </a:xfrm>
          <a:prstGeom prst="wedgeRoundRectCallout">
            <a:avLst>
              <a:gd name="adj1" fmla="val -41161"/>
              <a:gd name="adj2" fmla="val -88079"/>
              <a:gd name="adj3" fmla="val 16667"/>
            </a:avLst>
          </a:prstGeom>
          <a:solidFill>
            <a:schemeClr val="accent1"/>
          </a:solidFill>
          <a:ln w="12700" cap="flat" cmpd="sng">
            <a:solidFill>
              <a:srgbClr val="91121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Suspected layers are a set of layers of the NN; quantizing them will lead to a severe drop in accuracy.</a:t>
            </a:r>
            <a:endParaRPr sz="1350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1" grpId="0" animBg="1"/>
      <p:bldP spid="532" grpId="0"/>
      <p:bldGraphic spid="537" grpId="0">
        <p:bldAsOne/>
      </p:bldGraphic>
      <p:bldP spid="538" grpId="0" animBg="1"/>
      <p:bldP spid="541" grpId="0"/>
      <p:bldP spid="2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24"/>
          <p:cNvSpPr txBox="1">
            <a:spLocks noGrp="1"/>
          </p:cNvSpPr>
          <p:nvPr>
            <p:ph type="title"/>
          </p:nvPr>
        </p:nvSpPr>
        <p:spPr>
          <a:xfrm>
            <a:off x="237331" y="240105"/>
            <a:ext cx="7556500" cy="539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Calibri"/>
              <a:buNone/>
            </a:pPr>
            <a:r>
              <a:rPr lang="en-GB"/>
              <a:t>Conclusion</a:t>
            </a:r>
            <a:endParaRPr/>
          </a:p>
        </p:txBody>
      </p:sp>
      <p:sp>
        <p:nvSpPr>
          <p:cNvPr id="605" name="Google Shape;605;p24"/>
          <p:cNvSpPr txBox="1">
            <a:spLocks noGrp="1"/>
          </p:cNvSpPr>
          <p:nvPr>
            <p:ph type="ftr" idx="11"/>
          </p:nvPr>
        </p:nvSpPr>
        <p:spPr>
          <a:xfrm>
            <a:off x="1114426" y="4568400"/>
            <a:ext cx="7042149" cy="576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Evaluation of Quantization Methods for Neural Networks</a:t>
            </a:r>
            <a:endParaRPr/>
          </a:p>
        </p:txBody>
      </p:sp>
      <p:sp>
        <p:nvSpPr>
          <p:cNvPr id="606" name="Google Shape;606;p24"/>
          <p:cNvSpPr txBox="1">
            <a:spLocks noGrp="1"/>
          </p:cNvSpPr>
          <p:nvPr>
            <p:ph type="sldNum" idx="12"/>
          </p:nvPr>
        </p:nvSpPr>
        <p:spPr>
          <a:xfrm>
            <a:off x="2" y="4568400"/>
            <a:ext cx="1114424" cy="572286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75600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22</a:t>
            </a:fld>
            <a:endParaRPr/>
          </a:p>
        </p:txBody>
      </p:sp>
      <p:sp>
        <p:nvSpPr>
          <p:cNvPr id="607" name="Google Shape;607;p24"/>
          <p:cNvSpPr txBox="1"/>
          <p:nvPr/>
        </p:nvSpPr>
        <p:spPr>
          <a:xfrm>
            <a:off x="1114426" y="842963"/>
            <a:ext cx="6336505" cy="18158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</a:pPr>
            <a:r>
              <a:rPr lang="en-US" sz="1600" dirty="0"/>
              <a:t>Implemented Quantization techniques using frameworks </a:t>
            </a:r>
            <a:r>
              <a:rPr lang="en-US" sz="1600" i="1" dirty="0"/>
              <a:t>TensorFlow Lite</a:t>
            </a:r>
            <a:r>
              <a:rPr lang="en-US" sz="1600" dirty="0"/>
              <a:t>, </a:t>
            </a:r>
            <a:r>
              <a:rPr lang="en-US" sz="1600" i="1" dirty="0"/>
              <a:t>SQuant</a:t>
            </a:r>
            <a:r>
              <a:rPr lang="en-US" sz="1600" dirty="0"/>
              <a:t> and </a:t>
            </a:r>
            <a:r>
              <a:rPr lang="en-US" sz="1600" i="1" dirty="0"/>
              <a:t>Qkeras</a:t>
            </a:r>
            <a:r>
              <a:rPr lang="en-US" sz="1600" dirty="0"/>
              <a:t> on image classification and object detection use cases. </a:t>
            </a: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</a:pPr>
            <a:endParaRPr lang="en-US" sz="1600" dirty="0"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</a:pPr>
            <a:r>
              <a:rPr lang="en-US" sz="1600" dirty="0"/>
              <a:t>Investigated the percentage change in accuracy and model compression on different combinations of model architectures and datasets.</a:t>
            </a:r>
            <a:endParaRPr sz="1350" i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521;p20">
            <a:extLst>
              <a:ext uri="{FF2B5EF4-FFF2-40B4-BE49-F238E27FC236}">
                <a16:creationId xmlns:a16="http://schemas.microsoft.com/office/drawing/2014/main" id="{3AA38010-0FD1-DAC7-FDEA-D407D06B6A69}"/>
              </a:ext>
            </a:extLst>
          </p:cNvPr>
          <p:cNvSpPr/>
          <p:nvPr/>
        </p:nvSpPr>
        <p:spPr>
          <a:xfrm>
            <a:off x="382858" y="3323343"/>
            <a:ext cx="2056337" cy="1086676"/>
          </a:xfrm>
          <a:prstGeom prst="wedgeRoundRectCallout">
            <a:avLst>
              <a:gd name="adj1" fmla="val -8087"/>
              <a:gd name="adj2" fmla="val -145033"/>
              <a:gd name="adj3" fmla="val 16667"/>
            </a:avLst>
          </a:prstGeom>
          <a:solidFill>
            <a:schemeClr val="accent1"/>
          </a:solidFill>
          <a:ln w="12700" cap="flat" cmpd="sng">
            <a:solidFill>
              <a:srgbClr val="91121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chemeClr val="bg1"/>
                </a:solidFill>
              </a:rPr>
              <a:t>Some recommendations are made for quantization of NN models used in this work</a:t>
            </a:r>
            <a:endParaRPr sz="1100" dirty="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22"/>
          <p:cNvSpPr txBox="1">
            <a:spLocks noGrp="1"/>
          </p:cNvSpPr>
          <p:nvPr>
            <p:ph type="title"/>
          </p:nvPr>
        </p:nvSpPr>
        <p:spPr>
          <a:xfrm>
            <a:off x="237331" y="240105"/>
            <a:ext cx="7556500" cy="539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Calibri"/>
              <a:buNone/>
            </a:pPr>
            <a:r>
              <a:rPr lang="en-GB"/>
              <a:t>Recommendation for Quantization - 1</a:t>
            </a:r>
            <a:endParaRPr/>
          </a:p>
        </p:txBody>
      </p:sp>
      <p:sp>
        <p:nvSpPr>
          <p:cNvPr id="548" name="Google Shape;548;p22"/>
          <p:cNvSpPr txBox="1">
            <a:spLocks noGrp="1"/>
          </p:cNvSpPr>
          <p:nvPr>
            <p:ph type="ftr" idx="11"/>
          </p:nvPr>
        </p:nvSpPr>
        <p:spPr>
          <a:xfrm>
            <a:off x="1114426" y="4568400"/>
            <a:ext cx="7042149" cy="576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Evaluation of Quantization Methods for Neural Networks</a:t>
            </a:r>
            <a:endParaRPr/>
          </a:p>
        </p:txBody>
      </p:sp>
      <p:sp>
        <p:nvSpPr>
          <p:cNvPr id="549" name="Google Shape;549;p22"/>
          <p:cNvSpPr txBox="1">
            <a:spLocks noGrp="1"/>
          </p:cNvSpPr>
          <p:nvPr>
            <p:ph type="sldNum" idx="12"/>
          </p:nvPr>
        </p:nvSpPr>
        <p:spPr>
          <a:xfrm>
            <a:off x="2" y="4568400"/>
            <a:ext cx="1114424" cy="572286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75600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23</a:t>
            </a:fld>
            <a:endParaRPr/>
          </a:p>
        </p:txBody>
      </p:sp>
      <p:grpSp>
        <p:nvGrpSpPr>
          <p:cNvPr id="550" name="Google Shape;550;p22"/>
          <p:cNvGrpSpPr/>
          <p:nvPr/>
        </p:nvGrpSpPr>
        <p:grpSpPr>
          <a:xfrm>
            <a:off x="557214" y="731782"/>
            <a:ext cx="3628045" cy="3835188"/>
            <a:chOff x="240696" y="398471"/>
            <a:chExt cx="3628045" cy="3835188"/>
          </a:xfrm>
        </p:grpSpPr>
        <p:pic>
          <p:nvPicPr>
            <p:cNvPr id="551" name="Google Shape;551;p22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297550" y="2075138"/>
              <a:ext cx="410770" cy="41077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552" name="Google Shape;552;p22"/>
            <p:cNvGrpSpPr/>
            <p:nvPr/>
          </p:nvGrpSpPr>
          <p:grpSpPr>
            <a:xfrm>
              <a:off x="259126" y="3484847"/>
              <a:ext cx="1577951" cy="748812"/>
              <a:chOff x="538741" y="3335589"/>
              <a:chExt cx="2143766" cy="1024343"/>
            </a:xfrm>
          </p:grpSpPr>
          <p:grpSp>
            <p:nvGrpSpPr>
              <p:cNvPr id="553" name="Google Shape;553;p22"/>
              <p:cNvGrpSpPr/>
              <p:nvPr/>
            </p:nvGrpSpPr>
            <p:grpSpPr>
              <a:xfrm>
                <a:off x="538741" y="3335589"/>
                <a:ext cx="1043072" cy="1023148"/>
                <a:chOff x="1341503" y="1946325"/>
                <a:chExt cx="1155322" cy="1333970"/>
              </a:xfrm>
            </p:grpSpPr>
            <p:pic>
              <p:nvPicPr>
                <p:cNvPr id="554" name="Google Shape;554;p22" descr="Soldier female outline"/>
                <p:cNvPicPr preferRelativeResize="0"/>
                <p:nvPr/>
              </p:nvPicPr>
              <p:blipFill rotWithShape="1">
                <a:blip r:embed="rId4">
                  <a:alphaModFix/>
                </a:blip>
                <a:srcRect/>
                <a:stretch/>
              </p:blipFill>
              <p:spPr>
                <a:xfrm>
                  <a:off x="1461963" y="1946325"/>
                  <a:ext cx="914399" cy="91440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555" name="Google Shape;555;p22"/>
                <p:cNvSpPr txBox="1"/>
                <p:nvPr/>
              </p:nvSpPr>
              <p:spPr>
                <a:xfrm>
                  <a:off x="1341503" y="2841156"/>
                  <a:ext cx="1155322" cy="43913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sp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GB" sz="10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Customers</a:t>
                  </a:r>
                  <a:endParaRPr sz="1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556" name="Google Shape;556;p22"/>
              <p:cNvGrpSpPr/>
              <p:nvPr/>
            </p:nvGrpSpPr>
            <p:grpSpPr>
              <a:xfrm>
                <a:off x="1473055" y="3430284"/>
                <a:ext cx="1209452" cy="929648"/>
                <a:chOff x="1495385" y="1612548"/>
                <a:chExt cx="1721645" cy="922794"/>
              </a:xfrm>
            </p:grpSpPr>
            <p:pic>
              <p:nvPicPr>
                <p:cNvPr id="557" name="Google Shape;557;p22" descr="Diagram&#10;&#10;Description automatically generated"/>
                <p:cNvPicPr preferRelativeResize="0"/>
                <p:nvPr/>
              </p:nvPicPr>
              <p:blipFill rotWithShape="1">
                <a:blip r:embed="rId5">
                  <a:alphaModFix/>
                </a:blip>
                <a:srcRect/>
                <a:stretch/>
              </p:blipFill>
              <p:spPr>
                <a:xfrm>
                  <a:off x="1818932" y="1612548"/>
                  <a:ext cx="849684" cy="485842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558" name="Google Shape;558;p22"/>
                <p:cNvSpPr txBox="1"/>
                <p:nvPr/>
              </p:nvSpPr>
              <p:spPr>
                <a:xfrm>
                  <a:off x="1495385" y="2201012"/>
                  <a:ext cx="1721645" cy="33433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sp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GB" sz="10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NN models</a:t>
                  </a:r>
                  <a:endParaRPr sz="1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sp>
          <p:nvSpPr>
            <p:cNvPr id="559" name="Google Shape;559;p22"/>
            <p:cNvSpPr txBox="1"/>
            <p:nvPr/>
          </p:nvSpPr>
          <p:spPr>
            <a:xfrm>
              <a:off x="1534167" y="955431"/>
              <a:ext cx="2138373" cy="3000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35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Design </a:t>
              </a:r>
              <a:endParaRPr sz="1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0" name="Google Shape;560;p22"/>
            <p:cNvSpPr txBox="1"/>
            <p:nvPr/>
          </p:nvSpPr>
          <p:spPr>
            <a:xfrm>
              <a:off x="1534167" y="1259557"/>
              <a:ext cx="2138373" cy="3000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35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Manufacture</a:t>
              </a:r>
              <a:endParaRPr sz="1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561" name="Google Shape;561;p22" descr="Logo&#10;&#10;Description automatically generated with medium confidence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240696" y="2573620"/>
              <a:ext cx="1105538" cy="397994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562" name="Google Shape;562;p22"/>
            <p:cNvGrpSpPr/>
            <p:nvPr/>
          </p:nvGrpSpPr>
          <p:grpSpPr>
            <a:xfrm>
              <a:off x="2666421" y="829539"/>
              <a:ext cx="804443" cy="856293"/>
              <a:chOff x="6582444" y="344696"/>
              <a:chExt cx="804443" cy="856293"/>
            </a:xfrm>
          </p:grpSpPr>
          <p:pic>
            <p:nvPicPr>
              <p:cNvPr id="563" name="Google Shape;563;p22"/>
              <p:cNvPicPr preferRelativeResize="0"/>
              <p:nvPr/>
            </p:nvPicPr>
            <p:blipFill rotWithShape="1">
              <a:blip r:embed="rId3">
                <a:alphaModFix/>
              </a:blip>
              <a:srcRect/>
              <a:stretch/>
            </p:blipFill>
            <p:spPr>
              <a:xfrm>
                <a:off x="6640130" y="425469"/>
                <a:ext cx="698490" cy="69849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564" name="Google Shape;564;p22"/>
              <p:cNvSpPr/>
              <p:nvPr/>
            </p:nvSpPr>
            <p:spPr>
              <a:xfrm>
                <a:off x="6582444" y="344696"/>
                <a:ext cx="804443" cy="856293"/>
              </a:xfrm>
              <a:prstGeom prst="rect">
                <a:avLst/>
              </a:prstGeom>
              <a:noFill/>
              <a:ln w="28575" cap="flat" cmpd="sng">
                <a:solidFill>
                  <a:srgbClr val="911212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565" name="Google Shape;565;p22"/>
            <p:cNvSpPr/>
            <p:nvPr/>
          </p:nvSpPr>
          <p:spPr>
            <a:xfrm>
              <a:off x="2440589" y="2387680"/>
              <a:ext cx="1408014" cy="783124"/>
            </a:xfrm>
            <a:prstGeom prst="rect">
              <a:avLst/>
            </a:prstGeom>
            <a:solidFill>
              <a:schemeClr val="accent1"/>
            </a:solidFill>
            <a:ln w="12700" cap="flat" cmpd="sng">
              <a:solidFill>
                <a:srgbClr val="91121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Apply quantization for NN deployment</a:t>
              </a:r>
              <a:endParaRPr sz="13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566" name="Google Shape;566;p22"/>
            <p:cNvCxnSpPr/>
            <p:nvPr/>
          </p:nvCxnSpPr>
          <p:spPr>
            <a:xfrm rot="10800000">
              <a:off x="957856" y="3029231"/>
              <a:ext cx="0" cy="412708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567" name="Google Shape;567;p22"/>
            <p:cNvCxnSpPr>
              <a:stCxn id="565" idx="3"/>
              <a:endCxn id="564" idx="3"/>
            </p:cNvCxnSpPr>
            <p:nvPr/>
          </p:nvCxnSpPr>
          <p:spPr>
            <a:xfrm rot="10800000">
              <a:off x="3470903" y="1257642"/>
              <a:ext cx="377700" cy="1521600"/>
            </a:xfrm>
            <a:prstGeom prst="bentConnector3">
              <a:avLst>
                <a:gd name="adj1" fmla="val -70561"/>
              </a:avLst>
            </a:prstGeom>
            <a:noFill/>
            <a:ln w="25400" cap="flat" cmpd="sng">
              <a:solidFill>
                <a:schemeClr val="dk1"/>
              </a:solidFill>
              <a:prstDash val="dash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568" name="Google Shape;568;p22"/>
            <p:cNvCxnSpPr>
              <a:stCxn id="561" idx="3"/>
              <a:endCxn id="565" idx="1"/>
            </p:cNvCxnSpPr>
            <p:nvPr/>
          </p:nvCxnSpPr>
          <p:spPr>
            <a:xfrm>
              <a:off x="1346234" y="2772617"/>
              <a:ext cx="1094400" cy="660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569" name="Google Shape;569;p22"/>
            <p:cNvCxnSpPr>
              <a:endCxn id="559" idx="1"/>
            </p:cNvCxnSpPr>
            <p:nvPr/>
          </p:nvCxnSpPr>
          <p:spPr>
            <a:xfrm rot="-5400000">
              <a:off x="597717" y="1465622"/>
              <a:ext cx="1296600" cy="576300"/>
            </a:xfrm>
            <a:prstGeom prst="bentConnector2">
              <a:avLst/>
            </a:prstGeom>
            <a:noFill/>
            <a:ln w="25400" cap="flat" cmpd="sng">
              <a:solidFill>
                <a:schemeClr val="accent1"/>
              </a:solidFill>
              <a:prstDash val="solid"/>
              <a:miter lim="800000"/>
              <a:headEnd type="oval" w="med" len="med"/>
              <a:tailEnd type="oval" w="med" len="med"/>
            </a:ln>
          </p:spPr>
        </p:cxnSp>
        <p:cxnSp>
          <p:nvCxnSpPr>
            <p:cNvPr id="570" name="Google Shape;570;p22"/>
            <p:cNvCxnSpPr/>
            <p:nvPr/>
          </p:nvCxnSpPr>
          <p:spPr>
            <a:xfrm rot="-5400000">
              <a:off x="739705" y="1603898"/>
              <a:ext cx="1012615" cy="576310"/>
            </a:xfrm>
            <a:prstGeom prst="bentConnector2">
              <a:avLst/>
            </a:prstGeom>
            <a:noFill/>
            <a:ln w="25400" cap="flat" cmpd="sng">
              <a:solidFill>
                <a:schemeClr val="accent1"/>
              </a:solidFill>
              <a:prstDash val="solid"/>
              <a:miter lim="800000"/>
              <a:headEnd type="oval" w="med" len="med"/>
              <a:tailEnd type="oval" w="med" len="med"/>
            </a:ln>
          </p:spPr>
        </p:cxnSp>
        <p:pic>
          <p:nvPicPr>
            <p:cNvPr id="571" name="Google Shape;571;p22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3482152" y="1272060"/>
              <a:ext cx="360000" cy="360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72" name="Google Shape;572;p22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3508741" y="841232"/>
              <a:ext cx="360000" cy="360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73" name="Google Shape;573;p22"/>
            <p:cNvPicPr preferRelativeResize="0"/>
            <p:nvPr/>
          </p:nvPicPr>
          <p:blipFill rotWithShape="1">
            <a:blip r:embed="rId9">
              <a:alphaModFix/>
            </a:blip>
            <a:srcRect/>
            <a:stretch/>
          </p:blipFill>
          <p:spPr>
            <a:xfrm>
              <a:off x="2687971" y="403579"/>
              <a:ext cx="360000" cy="360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74" name="Google Shape;574;p22"/>
            <p:cNvPicPr preferRelativeResize="0"/>
            <p:nvPr/>
          </p:nvPicPr>
          <p:blipFill rotWithShape="1">
            <a:blip r:embed="rId10">
              <a:alphaModFix/>
            </a:blip>
            <a:srcRect/>
            <a:stretch/>
          </p:blipFill>
          <p:spPr>
            <a:xfrm>
              <a:off x="3092186" y="398471"/>
              <a:ext cx="360000" cy="38190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75" name="Google Shape;575;p22"/>
          <p:cNvSpPr/>
          <p:nvPr/>
        </p:nvSpPr>
        <p:spPr>
          <a:xfrm>
            <a:off x="5767461" y="3670423"/>
            <a:ext cx="2098891" cy="778249"/>
          </a:xfrm>
          <a:prstGeom prst="diamond">
            <a:avLst/>
          </a:prstGeom>
          <a:solidFill>
            <a:srgbClr val="BBBBF6"/>
          </a:solidFill>
          <a:ln w="12700" cap="flat" cmpd="sng">
            <a:solidFill>
              <a:srgbClr val="91121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Representative Data</a:t>
            </a:r>
            <a:endParaRPr sz="1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6" name="Google Shape;576;p22"/>
          <p:cNvSpPr/>
          <p:nvPr/>
        </p:nvSpPr>
        <p:spPr>
          <a:xfrm>
            <a:off x="6141011" y="2457929"/>
            <a:ext cx="1351790" cy="761875"/>
          </a:xfrm>
          <a:prstGeom prst="diamond">
            <a:avLst/>
          </a:prstGeom>
          <a:solidFill>
            <a:srgbClr val="BBBBF6"/>
          </a:solidFill>
          <a:ln w="12700" cap="flat" cmpd="sng">
            <a:solidFill>
              <a:srgbClr val="91121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Labelled</a:t>
            </a:r>
            <a:endParaRPr sz="1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7" name="Google Shape;577;p22"/>
          <p:cNvSpPr/>
          <p:nvPr/>
        </p:nvSpPr>
        <p:spPr>
          <a:xfrm>
            <a:off x="5094803" y="1420194"/>
            <a:ext cx="1163782" cy="325642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91121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5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QAT</a:t>
            </a:r>
            <a:endParaRPr sz="1350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8" name="Google Shape;578;p22"/>
          <p:cNvSpPr/>
          <p:nvPr/>
        </p:nvSpPr>
        <p:spPr>
          <a:xfrm>
            <a:off x="7574684" y="1420891"/>
            <a:ext cx="1163782" cy="325642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91121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5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PTQ</a:t>
            </a:r>
            <a:endParaRPr sz="1350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9" name="Google Shape;579;p22"/>
          <p:cNvSpPr/>
          <p:nvPr/>
        </p:nvSpPr>
        <p:spPr>
          <a:xfrm>
            <a:off x="7960355" y="3143459"/>
            <a:ext cx="1163782" cy="325642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91121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DFQ</a:t>
            </a:r>
            <a:endParaRPr sz="135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80" name="Google Shape;580;p22"/>
          <p:cNvCxnSpPr>
            <a:stCxn id="557" idx="3"/>
            <a:endCxn id="575" idx="1"/>
          </p:cNvCxnSpPr>
          <p:nvPr/>
        </p:nvCxnSpPr>
        <p:spPr>
          <a:xfrm rot="10800000" flipH="1">
            <a:off x="1870019" y="4059680"/>
            <a:ext cx="3897300" cy="6600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581" name="Google Shape;581;p22"/>
          <p:cNvCxnSpPr>
            <a:stCxn id="575" idx="0"/>
            <a:endCxn id="576" idx="2"/>
          </p:cNvCxnSpPr>
          <p:nvPr/>
        </p:nvCxnSpPr>
        <p:spPr>
          <a:xfrm rot="10800000">
            <a:off x="6816907" y="3219823"/>
            <a:ext cx="0" cy="450600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582" name="Google Shape;582;p22"/>
          <p:cNvCxnSpPr>
            <a:stCxn id="576" idx="0"/>
            <a:endCxn id="577" idx="2"/>
          </p:cNvCxnSpPr>
          <p:nvPr/>
        </p:nvCxnSpPr>
        <p:spPr>
          <a:xfrm rot="5400000" flipH="1">
            <a:off x="5890656" y="1531679"/>
            <a:ext cx="712200" cy="1140300"/>
          </a:xfrm>
          <a:prstGeom prst="bentConnector3">
            <a:avLst>
              <a:gd name="adj1" fmla="val 50000"/>
            </a:avLst>
          </a:prstGeom>
          <a:noFill/>
          <a:ln w="25400" cap="flat" cmpd="sng">
            <a:solidFill>
              <a:schemeClr val="dk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583" name="Google Shape;583;p22"/>
          <p:cNvCxnSpPr>
            <a:stCxn id="576" idx="0"/>
            <a:endCxn id="578" idx="2"/>
          </p:cNvCxnSpPr>
          <p:nvPr/>
        </p:nvCxnSpPr>
        <p:spPr>
          <a:xfrm rot="-5400000">
            <a:off x="7131156" y="1432379"/>
            <a:ext cx="711300" cy="1339800"/>
          </a:xfrm>
          <a:prstGeom prst="bentConnector3">
            <a:avLst>
              <a:gd name="adj1" fmla="val 50000"/>
            </a:avLst>
          </a:prstGeom>
          <a:noFill/>
          <a:ln w="25400" cap="flat" cmpd="sng">
            <a:solidFill>
              <a:schemeClr val="dk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584" name="Google Shape;584;p22"/>
          <p:cNvCxnSpPr>
            <a:stCxn id="575" idx="3"/>
            <a:endCxn id="579" idx="2"/>
          </p:cNvCxnSpPr>
          <p:nvPr/>
        </p:nvCxnSpPr>
        <p:spPr>
          <a:xfrm rot="10800000" flipH="1">
            <a:off x="7866352" y="3469148"/>
            <a:ext cx="675900" cy="590400"/>
          </a:xfrm>
          <a:prstGeom prst="bentConnector2">
            <a:avLst/>
          </a:prstGeom>
          <a:noFill/>
          <a:ln w="25400" cap="flat" cmpd="sng">
            <a:solidFill>
              <a:schemeClr val="dk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sp>
        <p:nvSpPr>
          <p:cNvPr id="585" name="Google Shape;585;p22"/>
          <p:cNvSpPr txBox="1"/>
          <p:nvPr/>
        </p:nvSpPr>
        <p:spPr>
          <a:xfrm>
            <a:off x="7884713" y="4060280"/>
            <a:ext cx="639172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6" name="Google Shape;586;p22"/>
          <p:cNvSpPr txBox="1"/>
          <p:nvPr/>
        </p:nvSpPr>
        <p:spPr>
          <a:xfrm>
            <a:off x="6330827" y="3308152"/>
            <a:ext cx="639172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Yes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7" name="Google Shape;587;p22"/>
          <p:cNvSpPr txBox="1"/>
          <p:nvPr/>
        </p:nvSpPr>
        <p:spPr>
          <a:xfrm>
            <a:off x="8238998" y="2622160"/>
            <a:ext cx="639172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8" name="Google Shape;588;p22"/>
          <p:cNvSpPr txBox="1"/>
          <p:nvPr/>
        </p:nvSpPr>
        <p:spPr>
          <a:xfrm>
            <a:off x="6258585" y="2164303"/>
            <a:ext cx="639172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Yes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89" name="Google Shape;589;p22"/>
          <p:cNvCxnSpPr>
            <a:stCxn id="576" idx="3"/>
            <a:endCxn id="578" idx="3"/>
          </p:cNvCxnSpPr>
          <p:nvPr/>
        </p:nvCxnSpPr>
        <p:spPr>
          <a:xfrm rot="10800000" flipH="1">
            <a:off x="7492801" y="1583667"/>
            <a:ext cx="1245600" cy="1255200"/>
          </a:xfrm>
          <a:prstGeom prst="bentConnector3">
            <a:avLst>
              <a:gd name="adj1" fmla="val 118358"/>
            </a:avLst>
          </a:prstGeom>
          <a:noFill/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p23"/>
          <p:cNvSpPr txBox="1">
            <a:spLocks noGrp="1"/>
          </p:cNvSpPr>
          <p:nvPr>
            <p:ph type="title"/>
          </p:nvPr>
        </p:nvSpPr>
        <p:spPr>
          <a:xfrm>
            <a:off x="237331" y="240105"/>
            <a:ext cx="7556500" cy="539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Calibri"/>
              <a:buNone/>
            </a:pPr>
            <a:r>
              <a:rPr lang="en-GB"/>
              <a:t>Recommendation for Quantization - 2</a:t>
            </a:r>
            <a:endParaRPr/>
          </a:p>
        </p:txBody>
      </p:sp>
      <p:sp>
        <p:nvSpPr>
          <p:cNvPr id="596" name="Google Shape;596;p23"/>
          <p:cNvSpPr txBox="1">
            <a:spLocks noGrp="1"/>
          </p:cNvSpPr>
          <p:nvPr>
            <p:ph type="ftr" idx="11"/>
          </p:nvPr>
        </p:nvSpPr>
        <p:spPr>
          <a:xfrm>
            <a:off x="1114426" y="4568400"/>
            <a:ext cx="7042149" cy="576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Evaluation of Quantization Methods for Neural Networks</a:t>
            </a:r>
            <a:endParaRPr/>
          </a:p>
        </p:txBody>
      </p:sp>
      <p:sp>
        <p:nvSpPr>
          <p:cNvPr id="597" name="Google Shape;597;p23"/>
          <p:cNvSpPr txBox="1">
            <a:spLocks noGrp="1"/>
          </p:cNvSpPr>
          <p:nvPr>
            <p:ph type="sldNum" idx="12"/>
          </p:nvPr>
        </p:nvSpPr>
        <p:spPr>
          <a:xfrm>
            <a:off x="2" y="4568400"/>
            <a:ext cx="1114424" cy="572286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75600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24</a:t>
            </a:fld>
            <a:endParaRPr/>
          </a:p>
        </p:txBody>
      </p:sp>
      <p:sp>
        <p:nvSpPr>
          <p:cNvPr id="4" name="AutoShape 3">
            <a:extLst>
              <a:ext uri="{FF2B5EF4-FFF2-40B4-BE49-F238E27FC236}">
                <a16:creationId xmlns:a16="http://schemas.microsoft.com/office/drawing/2014/main" id="{F65C9ED4-8FA0-AE85-718E-752628828A93}"/>
              </a:ext>
            </a:extLst>
          </p:cNvPr>
          <p:cNvSpPr>
            <a:spLocks noChangeAspect="1" noChangeArrowheads="1" noTextEdit="1"/>
          </p:cNvSpPr>
          <p:nvPr/>
        </p:nvSpPr>
        <p:spPr bwMode="auto">
          <a:xfrm>
            <a:off x="1048135" y="779143"/>
            <a:ext cx="7394592" cy="26193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NL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42925971-48FC-674C-95D9-1862328369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6073" y="787081"/>
            <a:ext cx="2152655" cy="347663"/>
          </a:xfrm>
          <a:prstGeom prst="rect">
            <a:avLst/>
          </a:prstGeom>
          <a:solidFill>
            <a:srgbClr val="C8191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NL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527BF355-412C-0287-A259-1505706DBC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8727" y="787081"/>
            <a:ext cx="3352808" cy="347663"/>
          </a:xfrm>
          <a:prstGeom prst="rect">
            <a:avLst/>
          </a:prstGeom>
          <a:solidFill>
            <a:srgbClr val="C8191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NL"/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92960251-EE25-A890-12BB-41066CA5B6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61535" y="787081"/>
            <a:ext cx="1866904" cy="347663"/>
          </a:xfrm>
          <a:prstGeom prst="rect">
            <a:avLst/>
          </a:prstGeom>
          <a:solidFill>
            <a:srgbClr val="C8191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NL"/>
          </a:p>
        </p:txBody>
      </p:sp>
      <p:sp>
        <p:nvSpPr>
          <p:cNvPr id="8" name="Rectangle 8">
            <a:extLst>
              <a:ext uri="{FF2B5EF4-FFF2-40B4-BE49-F238E27FC236}">
                <a16:creationId xmlns:a16="http://schemas.microsoft.com/office/drawing/2014/main" id="{77247F84-7E71-CBC8-6D57-132081E98D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6073" y="1134743"/>
            <a:ext cx="2152655" cy="346075"/>
          </a:xfrm>
          <a:prstGeom prst="rect">
            <a:avLst/>
          </a:prstGeom>
          <a:solidFill>
            <a:srgbClr val="C8191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NL"/>
          </a:p>
        </p:txBody>
      </p:sp>
      <p:sp>
        <p:nvSpPr>
          <p:cNvPr id="9" name="Rectangle 9">
            <a:extLst>
              <a:ext uri="{FF2B5EF4-FFF2-40B4-BE49-F238E27FC236}">
                <a16:creationId xmlns:a16="http://schemas.microsoft.com/office/drawing/2014/main" id="{9C038B90-31C7-F994-9A33-3A01D2B4CA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8727" y="1134743"/>
            <a:ext cx="1676404" cy="346075"/>
          </a:xfrm>
          <a:prstGeom prst="rect">
            <a:avLst/>
          </a:prstGeom>
          <a:solidFill>
            <a:srgbClr val="C8191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NL"/>
          </a:p>
        </p:txBody>
      </p:sp>
      <p:sp>
        <p:nvSpPr>
          <p:cNvPr id="10" name="Rectangle 10">
            <a:extLst>
              <a:ext uri="{FF2B5EF4-FFF2-40B4-BE49-F238E27FC236}">
                <a16:creationId xmlns:a16="http://schemas.microsoft.com/office/drawing/2014/main" id="{60B773BF-DC37-A46F-F167-9818A8B262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85131" y="1134743"/>
            <a:ext cx="1676404" cy="346075"/>
          </a:xfrm>
          <a:prstGeom prst="rect">
            <a:avLst/>
          </a:prstGeom>
          <a:solidFill>
            <a:srgbClr val="C8191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NL"/>
          </a:p>
        </p:txBody>
      </p:sp>
      <p:sp>
        <p:nvSpPr>
          <p:cNvPr id="11" name="Rectangle 11">
            <a:extLst>
              <a:ext uri="{FF2B5EF4-FFF2-40B4-BE49-F238E27FC236}">
                <a16:creationId xmlns:a16="http://schemas.microsoft.com/office/drawing/2014/main" id="{65637C3D-7410-E8DF-FF66-0473D8C820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61535" y="1134743"/>
            <a:ext cx="1866904" cy="346075"/>
          </a:xfrm>
          <a:prstGeom prst="rect">
            <a:avLst/>
          </a:prstGeom>
          <a:solidFill>
            <a:srgbClr val="C8191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NL"/>
          </a:p>
        </p:txBody>
      </p:sp>
      <p:sp>
        <p:nvSpPr>
          <p:cNvPr id="12" name="Rectangle 12">
            <a:extLst>
              <a:ext uri="{FF2B5EF4-FFF2-40B4-BE49-F238E27FC236}">
                <a16:creationId xmlns:a16="http://schemas.microsoft.com/office/drawing/2014/main" id="{ACCDA28F-DDFD-A359-0D73-EC92ACEA57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6073" y="1480819"/>
            <a:ext cx="2152655" cy="276225"/>
          </a:xfrm>
          <a:prstGeom prst="rect">
            <a:avLst/>
          </a:prstGeom>
          <a:solidFill>
            <a:srgbClr val="C8191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NL"/>
          </a:p>
        </p:txBody>
      </p:sp>
      <p:sp>
        <p:nvSpPr>
          <p:cNvPr id="13" name="Rectangle 13">
            <a:extLst>
              <a:ext uri="{FF2B5EF4-FFF2-40B4-BE49-F238E27FC236}">
                <a16:creationId xmlns:a16="http://schemas.microsoft.com/office/drawing/2014/main" id="{ABD32FAF-E501-AFE9-DA16-3146317ACC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8727" y="1480819"/>
            <a:ext cx="1117603" cy="276225"/>
          </a:xfrm>
          <a:prstGeom prst="rect">
            <a:avLst/>
          </a:prstGeom>
          <a:solidFill>
            <a:srgbClr val="C8191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NL"/>
          </a:p>
        </p:txBody>
      </p:sp>
      <p:sp>
        <p:nvSpPr>
          <p:cNvPr id="14" name="Rectangle 14">
            <a:extLst>
              <a:ext uri="{FF2B5EF4-FFF2-40B4-BE49-F238E27FC236}">
                <a16:creationId xmlns:a16="http://schemas.microsoft.com/office/drawing/2014/main" id="{C1A4A0AE-F3AF-5B16-2733-D8C94B0CD9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26330" y="1480819"/>
            <a:ext cx="558801" cy="276225"/>
          </a:xfrm>
          <a:prstGeom prst="rect">
            <a:avLst/>
          </a:prstGeom>
          <a:solidFill>
            <a:srgbClr val="C8191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NL"/>
          </a:p>
        </p:txBody>
      </p:sp>
      <p:sp>
        <p:nvSpPr>
          <p:cNvPr id="15" name="Rectangle 15">
            <a:extLst>
              <a:ext uri="{FF2B5EF4-FFF2-40B4-BE49-F238E27FC236}">
                <a16:creationId xmlns:a16="http://schemas.microsoft.com/office/drawing/2014/main" id="{73E8003D-4C33-8EDB-84C8-0824B40948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85131" y="1480819"/>
            <a:ext cx="1676404" cy="276225"/>
          </a:xfrm>
          <a:prstGeom prst="rect">
            <a:avLst/>
          </a:prstGeom>
          <a:solidFill>
            <a:srgbClr val="C8191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NL"/>
          </a:p>
        </p:txBody>
      </p:sp>
      <p:sp>
        <p:nvSpPr>
          <p:cNvPr id="16" name="Rectangle 16">
            <a:extLst>
              <a:ext uri="{FF2B5EF4-FFF2-40B4-BE49-F238E27FC236}">
                <a16:creationId xmlns:a16="http://schemas.microsoft.com/office/drawing/2014/main" id="{357CE741-6CB5-4D68-971F-606DD592EA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61535" y="1480819"/>
            <a:ext cx="1866904" cy="276225"/>
          </a:xfrm>
          <a:prstGeom prst="rect">
            <a:avLst/>
          </a:prstGeom>
          <a:solidFill>
            <a:srgbClr val="C8191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NL"/>
          </a:p>
        </p:txBody>
      </p:sp>
      <p:sp>
        <p:nvSpPr>
          <p:cNvPr id="17" name="Rectangle 17">
            <a:extLst>
              <a:ext uri="{FF2B5EF4-FFF2-40B4-BE49-F238E27FC236}">
                <a16:creationId xmlns:a16="http://schemas.microsoft.com/office/drawing/2014/main" id="{475D2EBE-406B-273F-5209-11A52F2201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6073" y="1757044"/>
            <a:ext cx="2152655" cy="233363"/>
          </a:xfrm>
          <a:prstGeom prst="rect">
            <a:avLst/>
          </a:prstGeom>
          <a:solidFill>
            <a:srgbClr val="EBCC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NL"/>
          </a:p>
        </p:txBody>
      </p:sp>
      <p:sp>
        <p:nvSpPr>
          <p:cNvPr id="18" name="Rectangle 18">
            <a:extLst>
              <a:ext uri="{FF2B5EF4-FFF2-40B4-BE49-F238E27FC236}">
                <a16:creationId xmlns:a16="http://schemas.microsoft.com/office/drawing/2014/main" id="{D48FA4DF-FBCA-F116-A3BB-0D3282B334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8727" y="1757044"/>
            <a:ext cx="558801" cy="233363"/>
          </a:xfrm>
          <a:prstGeom prst="rect">
            <a:avLst/>
          </a:prstGeom>
          <a:solidFill>
            <a:srgbClr val="EBCC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NL"/>
          </a:p>
        </p:txBody>
      </p:sp>
      <p:sp>
        <p:nvSpPr>
          <p:cNvPr id="19" name="Rectangle 19">
            <a:extLst>
              <a:ext uri="{FF2B5EF4-FFF2-40B4-BE49-F238E27FC236}">
                <a16:creationId xmlns:a16="http://schemas.microsoft.com/office/drawing/2014/main" id="{82B8DAA9-73E1-A383-D5C2-9E3F0BD2D5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67529" y="1757044"/>
            <a:ext cx="558801" cy="233363"/>
          </a:xfrm>
          <a:prstGeom prst="rect">
            <a:avLst/>
          </a:prstGeom>
          <a:solidFill>
            <a:srgbClr val="EBCC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NL"/>
          </a:p>
        </p:txBody>
      </p:sp>
      <p:sp>
        <p:nvSpPr>
          <p:cNvPr id="20" name="Rectangle 20">
            <a:extLst>
              <a:ext uri="{FF2B5EF4-FFF2-40B4-BE49-F238E27FC236}">
                <a16:creationId xmlns:a16="http://schemas.microsoft.com/office/drawing/2014/main" id="{D01298C7-8391-1203-D45E-F1B3FE711F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26330" y="1757044"/>
            <a:ext cx="558801" cy="233363"/>
          </a:xfrm>
          <a:prstGeom prst="rect">
            <a:avLst/>
          </a:prstGeom>
          <a:solidFill>
            <a:srgbClr val="EBCC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NL"/>
          </a:p>
        </p:txBody>
      </p:sp>
      <p:sp>
        <p:nvSpPr>
          <p:cNvPr id="21" name="Rectangle 21">
            <a:extLst>
              <a:ext uri="{FF2B5EF4-FFF2-40B4-BE49-F238E27FC236}">
                <a16:creationId xmlns:a16="http://schemas.microsoft.com/office/drawing/2014/main" id="{8B32098D-C64C-4FEF-C9C1-8D6AE22642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85131" y="1757044"/>
            <a:ext cx="558801" cy="233363"/>
          </a:xfrm>
          <a:prstGeom prst="rect">
            <a:avLst/>
          </a:prstGeom>
          <a:solidFill>
            <a:srgbClr val="EBCC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NL"/>
          </a:p>
        </p:txBody>
      </p:sp>
      <p:sp>
        <p:nvSpPr>
          <p:cNvPr id="22" name="Rectangle 22">
            <a:extLst>
              <a:ext uri="{FF2B5EF4-FFF2-40B4-BE49-F238E27FC236}">
                <a16:creationId xmlns:a16="http://schemas.microsoft.com/office/drawing/2014/main" id="{76D92654-32C0-F820-5F3C-E4C2E12451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43933" y="1757044"/>
            <a:ext cx="558801" cy="233363"/>
          </a:xfrm>
          <a:prstGeom prst="rect">
            <a:avLst/>
          </a:prstGeom>
          <a:solidFill>
            <a:srgbClr val="EBCC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NL"/>
          </a:p>
        </p:txBody>
      </p:sp>
      <p:sp>
        <p:nvSpPr>
          <p:cNvPr id="23" name="Rectangle 23">
            <a:extLst>
              <a:ext uri="{FF2B5EF4-FFF2-40B4-BE49-F238E27FC236}">
                <a16:creationId xmlns:a16="http://schemas.microsoft.com/office/drawing/2014/main" id="{0ADD130D-CAE8-A7F3-9B81-7350388C01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02734" y="1757044"/>
            <a:ext cx="558801" cy="233363"/>
          </a:xfrm>
          <a:prstGeom prst="rect">
            <a:avLst/>
          </a:prstGeom>
          <a:solidFill>
            <a:srgbClr val="EBCC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NL"/>
          </a:p>
        </p:txBody>
      </p:sp>
      <p:sp>
        <p:nvSpPr>
          <p:cNvPr id="24" name="Rectangle 24">
            <a:extLst>
              <a:ext uri="{FF2B5EF4-FFF2-40B4-BE49-F238E27FC236}">
                <a16:creationId xmlns:a16="http://schemas.microsoft.com/office/drawing/2014/main" id="{9EA2EEB8-D2FB-702A-388E-25FAD259C0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61535" y="1757044"/>
            <a:ext cx="933452" cy="233363"/>
          </a:xfrm>
          <a:prstGeom prst="rect">
            <a:avLst/>
          </a:prstGeom>
          <a:solidFill>
            <a:srgbClr val="EBCC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NL"/>
          </a:p>
        </p:txBody>
      </p:sp>
      <p:sp>
        <p:nvSpPr>
          <p:cNvPr id="25" name="Rectangle 25">
            <a:extLst>
              <a:ext uri="{FF2B5EF4-FFF2-40B4-BE49-F238E27FC236}">
                <a16:creationId xmlns:a16="http://schemas.microsoft.com/office/drawing/2014/main" id="{73C7743B-7C68-E247-AE57-50F672D460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94987" y="1757044"/>
            <a:ext cx="933452" cy="233363"/>
          </a:xfrm>
          <a:prstGeom prst="rect">
            <a:avLst/>
          </a:prstGeom>
          <a:solidFill>
            <a:srgbClr val="EBCC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NL"/>
          </a:p>
        </p:txBody>
      </p:sp>
      <p:sp>
        <p:nvSpPr>
          <p:cNvPr id="26" name="Rectangle 26">
            <a:extLst>
              <a:ext uri="{FF2B5EF4-FFF2-40B4-BE49-F238E27FC236}">
                <a16:creationId xmlns:a16="http://schemas.microsoft.com/office/drawing/2014/main" id="{3AA7EB00-1620-64B0-F49C-A8F1329A76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6073" y="1990406"/>
            <a:ext cx="1209678" cy="750888"/>
          </a:xfrm>
          <a:prstGeom prst="rect">
            <a:avLst/>
          </a:prstGeom>
          <a:solidFill>
            <a:srgbClr val="F5E7E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NL"/>
          </a:p>
        </p:txBody>
      </p:sp>
      <p:sp>
        <p:nvSpPr>
          <p:cNvPr id="27" name="Rectangle 27">
            <a:extLst>
              <a:ext uri="{FF2B5EF4-FFF2-40B4-BE49-F238E27FC236}">
                <a16:creationId xmlns:a16="http://schemas.microsoft.com/office/drawing/2014/main" id="{7B62A1E4-74EE-2625-6607-F0C4835A75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65750" y="1990406"/>
            <a:ext cx="942977" cy="234950"/>
          </a:xfrm>
          <a:prstGeom prst="rect">
            <a:avLst/>
          </a:prstGeom>
          <a:solidFill>
            <a:srgbClr val="F5E7E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NL"/>
          </a:p>
        </p:txBody>
      </p:sp>
      <p:sp>
        <p:nvSpPr>
          <p:cNvPr id="28" name="Rectangle 28">
            <a:extLst>
              <a:ext uri="{FF2B5EF4-FFF2-40B4-BE49-F238E27FC236}">
                <a16:creationId xmlns:a16="http://schemas.microsoft.com/office/drawing/2014/main" id="{E93327E8-AC00-821B-96A0-0639E5235B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8727" y="1990406"/>
            <a:ext cx="558801" cy="234950"/>
          </a:xfrm>
          <a:prstGeom prst="rect">
            <a:avLst/>
          </a:prstGeom>
          <a:solidFill>
            <a:srgbClr val="F5E7E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NL"/>
          </a:p>
        </p:txBody>
      </p:sp>
      <p:sp>
        <p:nvSpPr>
          <p:cNvPr id="29" name="Rectangle 29">
            <a:extLst>
              <a:ext uri="{FF2B5EF4-FFF2-40B4-BE49-F238E27FC236}">
                <a16:creationId xmlns:a16="http://schemas.microsoft.com/office/drawing/2014/main" id="{85BE12BA-4FA4-9420-4B87-6D377DAD89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67529" y="1990406"/>
            <a:ext cx="558801" cy="234950"/>
          </a:xfrm>
          <a:prstGeom prst="rect">
            <a:avLst/>
          </a:prstGeom>
          <a:solidFill>
            <a:srgbClr val="F5E7E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NL"/>
          </a:p>
        </p:txBody>
      </p:sp>
      <p:sp>
        <p:nvSpPr>
          <p:cNvPr id="30" name="Rectangle 30">
            <a:extLst>
              <a:ext uri="{FF2B5EF4-FFF2-40B4-BE49-F238E27FC236}">
                <a16:creationId xmlns:a16="http://schemas.microsoft.com/office/drawing/2014/main" id="{4DBBAD11-BEDF-3FF6-C56B-872C897439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26330" y="1990406"/>
            <a:ext cx="558801" cy="234950"/>
          </a:xfrm>
          <a:prstGeom prst="rect">
            <a:avLst/>
          </a:prstGeom>
          <a:solidFill>
            <a:srgbClr val="F5E7E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NL"/>
          </a:p>
        </p:txBody>
      </p:sp>
      <p:sp>
        <p:nvSpPr>
          <p:cNvPr id="31" name="Rectangle 31">
            <a:extLst>
              <a:ext uri="{FF2B5EF4-FFF2-40B4-BE49-F238E27FC236}">
                <a16:creationId xmlns:a16="http://schemas.microsoft.com/office/drawing/2014/main" id="{D11FE868-B32E-4992-00D9-9F381EDAFC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85131" y="1990406"/>
            <a:ext cx="558801" cy="234950"/>
          </a:xfrm>
          <a:prstGeom prst="rect">
            <a:avLst/>
          </a:prstGeom>
          <a:solidFill>
            <a:srgbClr val="F5E7E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NL"/>
          </a:p>
        </p:txBody>
      </p:sp>
      <p:sp>
        <p:nvSpPr>
          <p:cNvPr id="32" name="Rectangle 32">
            <a:extLst>
              <a:ext uri="{FF2B5EF4-FFF2-40B4-BE49-F238E27FC236}">
                <a16:creationId xmlns:a16="http://schemas.microsoft.com/office/drawing/2014/main" id="{4AEA6FBE-958F-70DD-F6FB-129FCC5952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43933" y="1990406"/>
            <a:ext cx="558801" cy="234950"/>
          </a:xfrm>
          <a:prstGeom prst="rect">
            <a:avLst/>
          </a:prstGeom>
          <a:solidFill>
            <a:srgbClr val="F5E7E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NL"/>
          </a:p>
        </p:txBody>
      </p:sp>
      <p:sp>
        <p:nvSpPr>
          <p:cNvPr id="33" name="Rectangle 33">
            <a:extLst>
              <a:ext uri="{FF2B5EF4-FFF2-40B4-BE49-F238E27FC236}">
                <a16:creationId xmlns:a16="http://schemas.microsoft.com/office/drawing/2014/main" id="{DC84A67A-4728-A2FC-7496-3061D9FB11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02734" y="1990406"/>
            <a:ext cx="558801" cy="234950"/>
          </a:xfrm>
          <a:prstGeom prst="rect">
            <a:avLst/>
          </a:prstGeom>
          <a:solidFill>
            <a:srgbClr val="F5E7E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NL"/>
          </a:p>
        </p:txBody>
      </p:sp>
      <p:sp>
        <p:nvSpPr>
          <p:cNvPr id="34" name="Rectangle 34">
            <a:extLst>
              <a:ext uri="{FF2B5EF4-FFF2-40B4-BE49-F238E27FC236}">
                <a16:creationId xmlns:a16="http://schemas.microsoft.com/office/drawing/2014/main" id="{000F0F5B-3B15-8503-2F66-2E8A17F206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61535" y="1990406"/>
            <a:ext cx="933452" cy="234950"/>
          </a:xfrm>
          <a:prstGeom prst="rect">
            <a:avLst/>
          </a:prstGeom>
          <a:solidFill>
            <a:srgbClr val="F5E7E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NL"/>
          </a:p>
        </p:txBody>
      </p:sp>
      <p:sp>
        <p:nvSpPr>
          <p:cNvPr id="35" name="Rectangle 35">
            <a:extLst>
              <a:ext uri="{FF2B5EF4-FFF2-40B4-BE49-F238E27FC236}">
                <a16:creationId xmlns:a16="http://schemas.microsoft.com/office/drawing/2014/main" id="{7C4543DD-FC33-AF9E-D60A-2953BE424C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94987" y="1990406"/>
            <a:ext cx="933452" cy="234950"/>
          </a:xfrm>
          <a:prstGeom prst="rect">
            <a:avLst/>
          </a:prstGeom>
          <a:solidFill>
            <a:srgbClr val="F5E7E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NL"/>
          </a:p>
        </p:txBody>
      </p:sp>
      <p:sp>
        <p:nvSpPr>
          <p:cNvPr id="36" name="Rectangle 36">
            <a:extLst>
              <a:ext uri="{FF2B5EF4-FFF2-40B4-BE49-F238E27FC236}">
                <a16:creationId xmlns:a16="http://schemas.microsoft.com/office/drawing/2014/main" id="{12D6CB9D-789A-6474-C1CC-D3EDB45241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65750" y="2225357"/>
            <a:ext cx="942977" cy="234950"/>
          </a:xfrm>
          <a:prstGeom prst="rect">
            <a:avLst/>
          </a:prstGeom>
          <a:solidFill>
            <a:srgbClr val="F5E7E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NL"/>
          </a:p>
        </p:txBody>
      </p:sp>
      <p:sp>
        <p:nvSpPr>
          <p:cNvPr id="37" name="Rectangle 37">
            <a:extLst>
              <a:ext uri="{FF2B5EF4-FFF2-40B4-BE49-F238E27FC236}">
                <a16:creationId xmlns:a16="http://schemas.microsoft.com/office/drawing/2014/main" id="{6FF74BD3-A595-0E48-C040-FBA2FDD71B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8727" y="2225357"/>
            <a:ext cx="558801" cy="234950"/>
          </a:xfrm>
          <a:prstGeom prst="rect">
            <a:avLst/>
          </a:prstGeom>
          <a:solidFill>
            <a:srgbClr val="F5E7E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NL"/>
          </a:p>
        </p:txBody>
      </p:sp>
      <p:sp>
        <p:nvSpPr>
          <p:cNvPr id="38" name="Rectangle 38">
            <a:extLst>
              <a:ext uri="{FF2B5EF4-FFF2-40B4-BE49-F238E27FC236}">
                <a16:creationId xmlns:a16="http://schemas.microsoft.com/office/drawing/2014/main" id="{24B6B88B-4398-10D2-C17A-E9357B12A2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67529" y="2225357"/>
            <a:ext cx="558801" cy="234950"/>
          </a:xfrm>
          <a:prstGeom prst="rect">
            <a:avLst/>
          </a:prstGeom>
          <a:solidFill>
            <a:srgbClr val="F5E7E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NL"/>
          </a:p>
        </p:txBody>
      </p:sp>
      <p:sp>
        <p:nvSpPr>
          <p:cNvPr id="39" name="Rectangle 39">
            <a:extLst>
              <a:ext uri="{FF2B5EF4-FFF2-40B4-BE49-F238E27FC236}">
                <a16:creationId xmlns:a16="http://schemas.microsoft.com/office/drawing/2014/main" id="{A81FA594-ED1B-F5E6-C060-E902871126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26330" y="2225357"/>
            <a:ext cx="558801" cy="234950"/>
          </a:xfrm>
          <a:prstGeom prst="rect">
            <a:avLst/>
          </a:prstGeom>
          <a:solidFill>
            <a:srgbClr val="F5E7E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NL"/>
          </a:p>
        </p:txBody>
      </p:sp>
      <p:sp>
        <p:nvSpPr>
          <p:cNvPr id="40" name="Rectangle 40">
            <a:extLst>
              <a:ext uri="{FF2B5EF4-FFF2-40B4-BE49-F238E27FC236}">
                <a16:creationId xmlns:a16="http://schemas.microsoft.com/office/drawing/2014/main" id="{ECB0BE16-4FBF-6B66-190F-727782BC85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85131" y="2225357"/>
            <a:ext cx="558801" cy="234950"/>
          </a:xfrm>
          <a:prstGeom prst="rect">
            <a:avLst/>
          </a:prstGeom>
          <a:solidFill>
            <a:srgbClr val="F5E7E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NL"/>
          </a:p>
        </p:txBody>
      </p:sp>
      <p:sp>
        <p:nvSpPr>
          <p:cNvPr id="41" name="Rectangle 41">
            <a:extLst>
              <a:ext uri="{FF2B5EF4-FFF2-40B4-BE49-F238E27FC236}">
                <a16:creationId xmlns:a16="http://schemas.microsoft.com/office/drawing/2014/main" id="{BF07F479-7D0E-E13C-E43F-4C3630B6BE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43933" y="2225357"/>
            <a:ext cx="558801" cy="234950"/>
          </a:xfrm>
          <a:prstGeom prst="rect">
            <a:avLst/>
          </a:prstGeom>
          <a:solidFill>
            <a:srgbClr val="F5E7E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NL"/>
          </a:p>
        </p:txBody>
      </p:sp>
      <p:sp>
        <p:nvSpPr>
          <p:cNvPr id="42" name="Rectangle 42">
            <a:extLst>
              <a:ext uri="{FF2B5EF4-FFF2-40B4-BE49-F238E27FC236}">
                <a16:creationId xmlns:a16="http://schemas.microsoft.com/office/drawing/2014/main" id="{524103D5-0402-67E6-48BE-6E4FEEBD17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02734" y="2225357"/>
            <a:ext cx="558801" cy="234950"/>
          </a:xfrm>
          <a:prstGeom prst="rect">
            <a:avLst/>
          </a:prstGeom>
          <a:solidFill>
            <a:srgbClr val="F5E7E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NL"/>
          </a:p>
        </p:txBody>
      </p:sp>
      <p:sp>
        <p:nvSpPr>
          <p:cNvPr id="43" name="Rectangle 43">
            <a:extLst>
              <a:ext uri="{FF2B5EF4-FFF2-40B4-BE49-F238E27FC236}">
                <a16:creationId xmlns:a16="http://schemas.microsoft.com/office/drawing/2014/main" id="{EA69107B-2AF8-AB6B-5FA0-164C06C4A8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61535" y="2225357"/>
            <a:ext cx="933452" cy="234950"/>
          </a:xfrm>
          <a:prstGeom prst="rect">
            <a:avLst/>
          </a:prstGeom>
          <a:solidFill>
            <a:srgbClr val="F5E7E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NL"/>
          </a:p>
        </p:txBody>
      </p:sp>
      <p:sp>
        <p:nvSpPr>
          <p:cNvPr id="44" name="Rectangle 44">
            <a:extLst>
              <a:ext uri="{FF2B5EF4-FFF2-40B4-BE49-F238E27FC236}">
                <a16:creationId xmlns:a16="http://schemas.microsoft.com/office/drawing/2014/main" id="{51AE53D1-C6A9-72C5-C73B-D313546488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94987" y="2225357"/>
            <a:ext cx="933452" cy="234950"/>
          </a:xfrm>
          <a:prstGeom prst="rect">
            <a:avLst/>
          </a:prstGeom>
          <a:solidFill>
            <a:srgbClr val="F5E7E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NL"/>
          </a:p>
        </p:txBody>
      </p:sp>
      <p:sp>
        <p:nvSpPr>
          <p:cNvPr id="45" name="Rectangle 45">
            <a:extLst>
              <a:ext uri="{FF2B5EF4-FFF2-40B4-BE49-F238E27FC236}">
                <a16:creationId xmlns:a16="http://schemas.microsoft.com/office/drawing/2014/main" id="{3875570F-A9B0-C1BA-1BEF-71D114DB93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65750" y="2460307"/>
            <a:ext cx="942977" cy="280988"/>
          </a:xfrm>
          <a:prstGeom prst="rect">
            <a:avLst/>
          </a:prstGeom>
          <a:solidFill>
            <a:srgbClr val="F5E7E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NL"/>
          </a:p>
        </p:txBody>
      </p:sp>
      <p:sp>
        <p:nvSpPr>
          <p:cNvPr id="46" name="Rectangle 46">
            <a:extLst>
              <a:ext uri="{FF2B5EF4-FFF2-40B4-BE49-F238E27FC236}">
                <a16:creationId xmlns:a16="http://schemas.microsoft.com/office/drawing/2014/main" id="{B154E36C-01DA-BF15-FD21-4AF646B3B4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8727" y="2460307"/>
            <a:ext cx="558801" cy="280988"/>
          </a:xfrm>
          <a:prstGeom prst="rect">
            <a:avLst/>
          </a:prstGeom>
          <a:solidFill>
            <a:srgbClr val="F5E7E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NL"/>
          </a:p>
        </p:txBody>
      </p:sp>
      <p:sp>
        <p:nvSpPr>
          <p:cNvPr id="47" name="Rectangle 47">
            <a:extLst>
              <a:ext uri="{FF2B5EF4-FFF2-40B4-BE49-F238E27FC236}">
                <a16:creationId xmlns:a16="http://schemas.microsoft.com/office/drawing/2014/main" id="{10FDDAF9-0F8E-5907-8090-D5F863254A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67529" y="2460307"/>
            <a:ext cx="558801" cy="280988"/>
          </a:xfrm>
          <a:prstGeom prst="rect">
            <a:avLst/>
          </a:prstGeom>
          <a:solidFill>
            <a:srgbClr val="F5E7E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NL"/>
          </a:p>
        </p:txBody>
      </p:sp>
      <p:sp>
        <p:nvSpPr>
          <p:cNvPr id="48" name="Rectangle 48">
            <a:extLst>
              <a:ext uri="{FF2B5EF4-FFF2-40B4-BE49-F238E27FC236}">
                <a16:creationId xmlns:a16="http://schemas.microsoft.com/office/drawing/2014/main" id="{F5938294-7CA1-66F0-1A7F-F42B9837AB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26330" y="2460307"/>
            <a:ext cx="558801" cy="280988"/>
          </a:xfrm>
          <a:prstGeom prst="rect">
            <a:avLst/>
          </a:prstGeom>
          <a:solidFill>
            <a:srgbClr val="F5E7E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NL"/>
          </a:p>
        </p:txBody>
      </p:sp>
      <p:sp>
        <p:nvSpPr>
          <p:cNvPr id="49" name="Rectangle 49">
            <a:extLst>
              <a:ext uri="{FF2B5EF4-FFF2-40B4-BE49-F238E27FC236}">
                <a16:creationId xmlns:a16="http://schemas.microsoft.com/office/drawing/2014/main" id="{B1737326-4849-FF2F-D04F-036332AEBB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85131" y="2460307"/>
            <a:ext cx="558801" cy="280988"/>
          </a:xfrm>
          <a:prstGeom prst="rect">
            <a:avLst/>
          </a:prstGeom>
          <a:solidFill>
            <a:srgbClr val="F5E7E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NL"/>
          </a:p>
        </p:txBody>
      </p:sp>
      <p:sp>
        <p:nvSpPr>
          <p:cNvPr id="50" name="Rectangle 50">
            <a:extLst>
              <a:ext uri="{FF2B5EF4-FFF2-40B4-BE49-F238E27FC236}">
                <a16:creationId xmlns:a16="http://schemas.microsoft.com/office/drawing/2014/main" id="{F806D5A4-D79C-A6D7-3C65-3F492A6AF1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43933" y="2460307"/>
            <a:ext cx="558801" cy="280988"/>
          </a:xfrm>
          <a:prstGeom prst="rect">
            <a:avLst/>
          </a:prstGeom>
          <a:solidFill>
            <a:srgbClr val="F5E7E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NL"/>
          </a:p>
        </p:txBody>
      </p:sp>
      <p:sp>
        <p:nvSpPr>
          <p:cNvPr id="51" name="Rectangle 51">
            <a:extLst>
              <a:ext uri="{FF2B5EF4-FFF2-40B4-BE49-F238E27FC236}">
                <a16:creationId xmlns:a16="http://schemas.microsoft.com/office/drawing/2014/main" id="{58485795-E3EF-C72C-B5ED-F0616A4059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02734" y="2460307"/>
            <a:ext cx="558801" cy="280988"/>
          </a:xfrm>
          <a:prstGeom prst="rect">
            <a:avLst/>
          </a:prstGeom>
          <a:solidFill>
            <a:srgbClr val="F5E7E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NL"/>
          </a:p>
        </p:txBody>
      </p:sp>
      <p:sp>
        <p:nvSpPr>
          <p:cNvPr id="52" name="Rectangle 52">
            <a:extLst>
              <a:ext uri="{FF2B5EF4-FFF2-40B4-BE49-F238E27FC236}">
                <a16:creationId xmlns:a16="http://schemas.microsoft.com/office/drawing/2014/main" id="{624D77FC-1A74-34BF-C40C-40F1BFFB6D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61535" y="2460307"/>
            <a:ext cx="933452" cy="280988"/>
          </a:xfrm>
          <a:prstGeom prst="rect">
            <a:avLst/>
          </a:prstGeom>
          <a:solidFill>
            <a:srgbClr val="F5E7E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NL"/>
          </a:p>
        </p:txBody>
      </p:sp>
      <p:sp>
        <p:nvSpPr>
          <p:cNvPr id="53" name="Rectangle 53">
            <a:extLst>
              <a:ext uri="{FF2B5EF4-FFF2-40B4-BE49-F238E27FC236}">
                <a16:creationId xmlns:a16="http://schemas.microsoft.com/office/drawing/2014/main" id="{E7066543-A8C1-DA2E-3FA4-D6BB1FD42F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94987" y="2460307"/>
            <a:ext cx="933452" cy="280988"/>
          </a:xfrm>
          <a:prstGeom prst="rect">
            <a:avLst/>
          </a:prstGeom>
          <a:solidFill>
            <a:srgbClr val="F5E7E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NL"/>
          </a:p>
        </p:txBody>
      </p:sp>
      <p:sp>
        <p:nvSpPr>
          <p:cNvPr id="54" name="Rectangle 54">
            <a:extLst>
              <a:ext uri="{FF2B5EF4-FFF2-40B4-BE49-F238E27FC236}">
                <a16:creationId xmlns:a16="http://schemas.microsoft.com/office/drawing/2014/main" id="{10FD1D9C-5717-BDC2-8391-B74305BF42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6073" y="2741294"/>
            <a:ext cx="2152655" cy="271463"/>
          </a:xfrm>
          <a:prstGeom prst="rect">
            <a:avLst/>
          </a:prstGeom>
          <a:solidFill>
            <a:srgbClr val="EBCC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NL"/>
          </a:p>
        </p:txBody>
      </p:sp>
      <p:sp>
        <p:nvSpPr>
          <p:cNvPr id="55" name="Rectangle 55">
            <a:extLst>
              <a:ext uri="{FF2B5EF4-FFF2-40B4-BE49-F238E27FC236}">
                <a16:creationId xmlns:a16="http://schemas.microsoft.com/office/drawing/2014/main" id="{BC2BAEBA-6C18-AFC6-D3B9-2E0A3A5B03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8727" y="2741294"/>
            <a:ext cx="558801" cy="271463"/>
          </a:xfrm>
          <a:prstGeom prst="rect">
            <a:avLst/>
          </a:prstGeom>
          <a:solidFill>
            <a:srgbClr val="EBCC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NL"/>
          </a:p>
        </p:txBody>
      </p:sp>
      <p:sp>
        <p:nvSpPr>
          <p:cNvPr id="56" name="Rectangle 56">
            <a:extLst>
              <a:ext uri="{FF2B5EF4-FFF2-40B4-BE49-F238E27FC236}">
                <a16:creationId xmlns:a16="http://schemas.microsoft.com/office/drawing/2014/main" id="{6040BD9E-CD05-3931-FFC3-3920286A22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67529" y="2741294"/>
            <a:ext cx="558801" cy="271463"/>
          </a:xfrm>
          <a:prstGeom prst="rect">
            <a:avLst/>
          </a:prstGeom>
          <a:solidFill>
            <a:srgbClr val="EBCC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NL"/>
          </a:p>
        </p:txBody>
      </p:sp>
      <p:sp>
        <p:nvSpPr>
          <p:cNvPr id="57" name="Rectangle 57">
            <a:extLst>
              <a:ext uri="{FF2B5EF4-FFF2-40B4-BE49-F238E27FC236}">
                <a16:creationId xmlns:a16="http://schemas.microsoft.com/office/drawing/2014/main" id="{AC278048-7274-BDBB-153E-4B05F9B885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26330" y="2741294"/>
            <a:ext cx="558801" cy="271463"/>
          </a:xfrm>
          <a:prstGeom prst="rect">
            <a:avLst/>
          </a:prstGeom>
          <a:solidFill>
            <a:srgbClr val="EBCC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NL"/>
          </a:p>
        </p:txBody>
      </p:sp>
      <p:sp>
        <p:nvSpPr>
          <p:cNvPr id="58" name="Rectangle 58">
            <a:extLst>
              <a:ext uri="{FF2B5EF4-FFF2-40B4-BE49-F238E27FC236}">
                <a16:creationId xmlns:a16="http://schemas.microsoft.com/office/drawing/2014/main" id="{118F77EC-1562-DD32-3077-14EDCEA59A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85131" y="2741294"/>
            <a:ext cx="558801" cy="271463"/>
          </a:xfrm>
          <a:prstGeom prst="rect">
            <a:avLst/>
          </a:prstGeom>
          <a:solidFill>
            <a:srgbClr val="EBCC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NL"/>
          </a:p>
        </p:txBody>
      </p:sp>
      <p:sp>
        <p:nvSpPr>
          <p:cNvPr id="59" name="Rectangle 59">
            <a:extLst>
              <a:ext uri="{FF2B5EF4-FFF2-40B4-BE49-F238E27FC236}">
                <a16:creationId xmlns:a16="http://schemas.microsoft.com/office/drawing/2014/main" id="{3ACBDBD5-9EF1-8494-4FD8-AA923E2189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43933" y="2741294"/>
            <a:ext cx="558801" cy="271463"/>
          </a:xfrm>
          <a:prstGeom prst="rect">
            <a:avLst/>
          </a:prstGeom>
          <a:solidFill>
            <a:srgbClr val="EBCC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NL"/>
          </a:p>
        </p:txBody>
      </p:sp>
      <p:sp>
        <p:nvSpPr>
          <p:cNvPr id="60" name="Rectangle 60">
            <a:extLst>
              <a:ext uri="{FF2B5EF4-FFF2-40B4-BE49-F238E27FC236}">
                <a16:creationId xmlns:a16="http://schemas.microsoft.com/office/drawing/2014/main" id="{D656DC3C-4C4A-2126-D4A4-9320543A81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02734" y="2741294"/>
            <a:ext cx="558801" cy="271463"/>
          </a:xfrm>
          <a:prstGeom prst="rect">
            <a:avLst/>
          </a:prstGeom>
          <a:solidFill>
            <a:srgbClr val="EBCC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NL"/>
          </a:p>
        </p:txBody>
      </p:sp>
      <p:sp>
        <p:nvSpPr>
          <p:cNvPr id="61" name="Rectangle 61">
            <a:extLst>
              <a:ext uri="{FF2B5EF4-FFF2-40B4-BE49-F238E27FC236}">
                <a16:creationId xmlns:a16="http://schemas.microsoft.com/office/drawing/2014/main" id="{3D123603-561C-4C86-8068-2C7142EE11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61535" y="2741294"/>
            <a:ext cx="933452" cy="271463"/>
          </a:xfrm>
          <a:prstGeom prst="rect">
            <a:avLst/>
          </a:prstGeom>
          <a:solidFill>
            <a:srgbClr val="EBCC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NL"/>
          </a:p>
        </p:txBody>
      </p:sp>
      <p:sp>
        <p:nvSpPr>
          <p:cNvPr id="62" name="Rectangle 62">
            <a:extLst>
              <a:ext uri="{FF2B5EF4-FFF2-40B4-BE49-F238E27FC236}">
                <a16:creationId xmlns:a16="http://schemas.microsoft.com/office/drawing/2014/main" id="{F14682EF-68CB-263C-4BD6-710A16CBE9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94987" y="2741294"/>
            <a:ext cx="933452" cy="271463"/>
          </a:xfrm>
          <a:prstGeom prst="rect">
            <a:avLst/>
          </a:prstGeom>
          <a:solidFill>
            <a:srgbClr val="EBCC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NL"/>
          </a:p>
        </p:txBody>
      </p:sp>
      <p:sp>
        <p:nvSpPr>
          <p:cNvPr id="63" name="Rectangle 63">
            <a:extLst>
              <a:ext uri="{FF2B5EF4-FFF2-40B4-BE49-F238E27FC236}">
                <a16:creationId xmlns:a16="http://schemas.microsoft.com/office/drawing/2014/main" id="{F5956D08-01BC-69F6-B852-199F716A4A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6073" y="3012757"/>
            <a:ext cx="2152655" cy="371475"/>
          </a:xfrm>
          <a:prstGeom prst="rect">
            <a:avLst/>
          </a:prstGeom>
          <a:solidFill>
            <a:srgbClr val="F5E7E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NL"/>
          </a:p>
        </p:txBody>
      </p:sp>
      <p:sp>
        <p:nvSpPr>
          <p:cNvPr id="576" name="Rectangle 64">
            <a:extLst>
              <a:ext uri="{FF2B5EF4-FFF2-40B4-BE49-F238E27FC236}">
                <a16:creationId xmlns:a16="http://schemas.microsoft.com/office/drawing/2014/main" id="{2358090F-18DD-8F84-C35B-910E1309F9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8727" y="3012757"/>
            <a:ext cx="558801" cy="371475"/>
          </a:xfrm>
          <a:prstGeom prst="rect">
            <a:avLst/>
          </a:prstGeom>
          <a:solidFill>
            <a:srgbClr val="F5E7E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NL"/>
          </a:p>
        </p:txBody>
      </p:sp>
      <p:sp>
        <p:nvSpPr>
          <p:cNvPr id="577" name="Rectangle 65">
            <a:extLst>
              <a:ext uri="{FF2B5EF4-FFF2-40B4-BE49-F238E27FC236}">
                <a16:creationId xmlns:a16="http://schemas.microsoft.com/office/drawing/2014/main" id="{876BC4EF-9066-E002-7FB0-259956FD32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67529" y="3012757"/>
            <a:ext cx="558801" cy="371475"/>
          </a:xfrm>
          <a:prstGeom prst="rect">
            <a:avLst/>
          </a:prstGeom>
          <a:solidFill>
            <a:srgbClr val="F5E7E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NL"/>
          </a:p>
        </p:txBody>
      </p:sp>
      <p:sp>
        <p:nvSpPr>
          <p:cNvPr id="578" name="Rectangle 66">
            <a:extLst>
              <a:ext uri="{FF2B5EF4-FFF2-40B4-BE49-F238E27FC236}">
                <a16:creationId xmlns:a16="http://schemas.microsoft.com/office/drawing/2014/main" id="{362E5FA0-4773-E828-385F-E8FF028F06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26330" y="3012757"/>
            <a:ext cx="558801" cy="371475"/>
          </a:xfrm>
          <a:prstGeom prst="rect">
            <a:avLst/>
          </a:prstGeom>
          <a:solidFill>
            <a:srgbClr val="F5E7E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NL"/>
          </a:p>
        </p:txBody>
      </p:sp>
      <p:sp>
        <p:nvSpPr>
          <p:cNvPr id="579" name="Rectangle 67">
            <a:extLst>
              <a:ext uri="{FF2B5EF4-FFF2-40B4-BE49-F238E27FC236}">
                <a16:creationId xmlns:a16="http://schemas.microsoft.com/office/drawing/2014/main" id="{DF349770-C646-1DB2-72C1-A8EE37B3B2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85131" y="3012757"/>
            <a:ext cx="558801" cy="371475"/>
          </a:xfrm>
          <a:prstGeom prst="rect">
            <a:avLst/>
          </a:prstGeom>
          <a:solidFill>
            <a:srgbClr val="F5E7E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NL"/>
          </a:p>
        </p:txBody>
      </p:sp>
      <p:sp>
        <p:nvSpPr>
          <p:cNvPr id="580" name="Rectangle 68">
            <a:extLst>
              <a:ext uri="{FF2B5EF4-FFF2-40B4-BE49-F238E27FC236}">
                <a16:creationId xmlns:a16="http://schemas.microsoft.com/office/drawing/2014/main" id="{8C518855-1A6C-AB03-8EFD-260CFEFC99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43933" y="3012757"/>
            <a:ext cx="558801" cy="371475"/>
          </a:xfrm>
          <a:prstGeom prst="rect">
            <a:avLst/>
          </a:prstGeom>
          <a:solidFill>
            <a:srgbClr val="F5E7E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NL"/>
          </a:p>
        </p:txBody>
      </p:sp>
      <p:sp>
        <p:nvSpPr>
          <p:cNvPr id="581" name="Rectangle 69">
            <a:extLst>
              <a:ext uri="{FF2B5EF4-FFF2-40B4-BE49-F238E27FC236}">
                <a16:creationId xmlns:a16="http://schemas.microsoft.com/office/drawing/2014/main" id="{7AFFF7E1-9802-99B2-E696-5F87A9ECC0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02734" y="3012757"/>
            <a:ext cx="558801" cy="371475"/>
          </a:xfrm>
          <a:prstGeom prst="rect">
            <a:avLst/>
          </a:prstGeom>
          <a:solidFill>
            <a:srgbClr val="F5E7E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NL"/>
          </a:p>
        </p:txBody>
      </p:sp>
      <p:sp>
        <p:nvSpPr>
          <p:cNvPr id="582" name="Rectangle 70">
            <a:extLst>
              <a:ext uri="{FF2B5EF4-FFF2-40B4-BE49-F238E27FC236}">
                <a16:creationId xmlns:a16="http://schemas.microsoft.com/office/drawing/2014/main" id="{730041FE-EC51-209F-1C1A-F00EAC1179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61535" y="3012757"/>
            <a:ext cx="933452" cy="371475"/>
          </a:xfrm>
          <a:prstGeom prst="rect">
            <a:avLst/>
          </a:prstGeom>
          <a:solidFill>
            <a:srgbClr val="F5E7E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NL"/>
          </a:p>
        </p:txBody>
      </p:sp>
      <p:sp>
        <p:nvSpPr>
          <p:cNvPr id="583" name="Rectangle 71">
            <a:extLst>
              <a:ext uri="{FF2B5EF4-FFF2-40B4-BE49-F238E27FC236}">
                <a16:creationId xmlns:a16="http://schemas.microsoft.com/office/drawing/2014/main" id="{F3DAF91A-1933-8A53-2F2A-BE0010B097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94987" y="3012757"/>
            <a:ext cx="933452" cy="371475"/>
          </a:xfrm>
          <a:prstGeom prst="rect">
            <a:avLst/>
          </a:prstGeom>
          <a:solidFill>
            <a:srgbClr val="F5E7E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NL"/>
          </a:p>
        </p:txBody>
      </p:sp>
      <p:sp>
        <p:nvSpPr>
          <p:cNvPr id="584" name="Line 72">
            <a:extLst>
              <a:ext uri="{FF2B5EF4-FFF2-40B4-BE49-F238E27FC236}">
                <a16:creationId xmlns:a16="http://schemas.microsoft.com/office/drawing/2014/main" id="{84837C95-A3B9-FE93-1CF0-A94558A9B87D}"/>
              </a:ext>
            </a:extLst>
          </p:cNvPr>
          <p:cNvSpPr>
            <a:spLocks noChangeShapeType="1"/>
          </p:cNvSpPr>
          <p:nvPr/>
        </p:nvSpPr>
        <p:spPr bwMode="auto">
          <a:xfrm>
            <a:off x="2265750" y="1984056"/>
            <a:ext cx="0" cy="763588"/>
          </a:xfrm>
          <a:prstGeom prst="line">
            <a:avLst/>
          </a:prstGeom>
          <a:noFill/>
          <a:ln w="12700" cap="flat">
            <a:solidFill>
              <a:srgbClr val="FFFFFF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NL"/>
          </a:p>
        </p:txBody>
      </p:sp>
      <p:sp>
        <p:nvSpPr>
          <p:cNvPr id="585" name="Line 73">
            <a:extLst>
              <a:ext uri="{FF2B5EF4-FFF2-40B4-BE49-F238E27FC236}">
                <a16:creationId xmlns:a16="http://schemas.microsoft.com/office/drawing/2014/main" id="{6256E29B-9620-F9A9-5B28-F0111EAF150B}"/>
              </a:ext>
            </a:extLst>
          </p:cNvPr>
          <p:cNvSpPr>
            <a:spLocks noChangeShapeType="1"/>
          </p:cNvSpPr>
          <p:nvPr/>
        </p:nvSpPr>
        <p:spPr bwMode="auto">
          <a:xfrm>
            <a:off x="3208727" y="780731"/>
            <a:ext cx="0" cy="2609852"/>
          </a:xfrm>
          <a:prstGeom prst="line">
            <a:avLst/>
          </a:prstGeom>
          <a:noFill/>
          <a:ln w="12700" cap="flat">
            <a:solidFill>
              <a:srgbClr val="FFFFFF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NL"/>
          </a:p>
        </p:txBody>
      </p:sp>
      <p:sp>
        <p:nvSpPr>
          <p:cNvPr id="586" name="Line 74">
            <a:extLst>
              <a:ext uri="{FF2B5EF4-FFF2-40B4-BE49-F238E27FC236}">
                <a16:creationId xmlns:a16="http://schemas.microsoft.com/office/drawing/2014/main" id="{57C43A08-2E07-C489-BF09-10B2F1728D86}"/>
              </a:ext>
            </a:extLst>
          </p:cNvPr>
          <p:cNvSpPr>
            <a:spLocks noChangeShapeType="1"/>
          </p:cNvSpPr>
          <p:nvPr/>
        </p:nvSpPr>
        <p:spPr bwMode="auto">
          <a:xfrm>
            <a:off x="3767529" y="1750694"/>
            <a:ext cx="0" cy="1639889"/>
          </a:xfrm>
          <a:prstGeom prst="line">
            <a:avLst/>
          </a:prstGeom>
          <a:noFill/>
          <a:ln w="12700" cap="flat">
            <a:solidFill>
              <a:srgbClr val="FFFFFF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NL"/>
          </a:p>
        </p:txBody>
      </p:sp>
      <p:sp>
        <p:nvSpPr>
          <p:cNvPr id="587" name="Line 75">
            <a:extLst>
              <a:ext uri="{FF2B5EF4-FFF2-40B4-BE49-F238E27FC236}">
                <a16:creationId xmlns:a16="http://schemas.microsoft.com/office/drawing/2014/main" id="{6A92904F-73C3-DC59-0182-52EE72DBFB64}"/>
              </a:ext>
            </a:extLst>
          </p:cNvPr>
          <p:cNvSpPr>
            <a:spLocks noChangeShapeType="1"/>
          </p:cNvSpPr>
          <p:nvPr/>
        </p:nvSpPr>
        <p:spPr bwMode="auto">
          <a:xfrm>
            <a:off x="4326330" y="1474469"/>
            <a:ext cx="0" cy="1916114"/>
          </a:xfrm>
          <a:prstGeom prst="line">
            <a:avLst/>
          </a:prstGeom>
          <a:noFill/>
          <a:ln w="12700" cap="flat">
            <a:solidFill>
              <a:srgbClr val="FFFFFF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NL"/>
          </a:p>
        </p:txBody>
      </p:sp>
      <p:sp>
        <p:nvSpPr>
          <p:cNvPr id="588" name="Line 76">
            <a:extLst>
              <a:ext uri="{FF2B5EF4-FFF2-40B4-BE49-F238E27FC236}">
                <a16:creationId xmlns:a16="http://schemas.microsoft.com/office/drawing/2014/main" id="{9F66EE95-D958-1B7B-6513-30FFEE8C0243}"/>
              </a:ext>
            </a:extLst>
          </p:cNvPr>
          <p:cNvSpPr>
            <a:spLocks noChangeShapeType="1"/>
          </p:cNvSpPr>
          <p:nvPr/>
        </p:nvSpPr>
        <p:spPr bwMode="auto">
          <a:xfrm>
            <a:off x="4885131" y="1128393"/>
            <a:ext cx="0" cy="2262189"/>
          </a:xfrm>
          <a:prstGeom prst="line">
            <a:avLst/>
          </a:prstGeom>
          <a:noFill/>
          <a:ln w="12700" cap="flat">
            <a:solidFill>
              <a:srgbClr val="FFFFFF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NL"/>
          </a:p>
        </p:txBody>
      </p:sp>
      <p:sp>
        <p:nvSpPr>
          <p:cNvPr id="589" name="Line 77">
            <a:extLst>
              <a:ext uri="{FF2B5EF4-FFF2-40B4-BE49-F238E27FC236}">
                <a16:creationId xmlns:a16="http://schemas.microsoft.com/office/drawing/2014/main" id="{8BA7885B-B88B-5712-3B1E-DD6FF652AB19}"/>
              </a:ext>
            </a:extLst>
          </p:cNvPr>
          <p:cNvSpPr>
            <a:spLocks noChangeShapeType="1"/>
          </p:cNvSpPr>
          <p:nvPr/>
        </p:nvSpPr>
        <p:spPr bwMode="auto">
          <a:xfrm>
            <a:off x="5443933" y="1750694"/>
            <a:ext cx="0" cy="1639889"/>
          </a:xfrm>
          <a:prstGeom prst="line">
            <a:avLst/>
          </a:prstGeom>
          <a:noFill/>
          <a:ln w="12700" cap="flat">
            <a:solidFill>
              <a:srgbClr val="FFFFFF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NL"/>
          </a:p>
        </p:txBody>
      </p:sp>
      <p:sp>
        <p:nvSpPr>
          <p:cNvPr id="590" name="Line 78">
            <a:extLst>
              <a:ext uri="{FF2B5EF4-FFF2-40B4-BE49-F238E27FC236}">
                <a16:creationId xmlns:a16="http://schemas.microsoft.com/office/drawing/2014/main" id="{AD0FE8A4-72C3-6B4C-CDD9-D9109346E83D}"/>
              </a:ext>
            </a:extLst>
          </p:cNvPr>
          <p:cNvSpPr>
            <a:spLocks noChangeShapeType="1"/>
          </p:cNvSpPr>
          <p:nvPr/>
        </p:nvSpPr>
        <p:spPr bwMode="auto">
          <a:xfrm>
            <a:off x="6002734" y="1750694"/>
            <a:ext cx="0" cy="1639889"/>
          </a:xfrm>
          <a:prstGeom prst="line">
            <a:avLst/>
          </a:prstGeom>
          <a:noFill/>
          <a:ln w="12700" cap="flat">
            <a:solidFill>
              <a:srgbClr val="FFFFFF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NL"/>
          </a:p>
        </p:txBody>
      </p:sp>
      <p:sp>
        <p:nvSpPr>
          <p:cNvPr id="591" name="Line 79">
            <a:extLst>
              <a:ext uri="{FF2B5EF4-FFF2-40B4-BE49-F238E27FC236}">
                <a16:creationId xmlns:a16="http://schemas.microsoft.com/office/drawing/2014/main" id="{C3A6AC28-BA58-EAF5-345E-CF7CF62EFA2E}"/>
              </a:ext>
            </a:extLst>
          </p:cNvPr>
          <p:cNvSpPr>
            <a:spLocks noChangeShapeType="1"/>
          </p:cNvSpPr>
          <p:nvPr/>
        </p:nvSpPr>
        <p:spPr bwMode="auto">
          <a:xfrm>
            <a:off x="6561535" y="780731"/>
            <a:ext cx="0" cy="2609852"/>
          </a:xfrm>
          <a:prstGeom prst="line">
            <a:avLst/>
          </a:prstGeom>
          <a:noFill/>
          <a:ln w="12700" cap="flat">
            <a:solidFill>
              <a:srgbClr val="FFFFFF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NL"/>
          </a:p>
        </p:txBody>
      </p:sp>
      <p:sp>
        <p:nvSpPr>
          <p:cNvPr id="592" name="Line 80">
            <a:extLst>
              <a:ext uri="{FF2B5EF4-FFF2-40B4-BE49-F238E27FC236}">
                <a16:creationId xmlns:a16="http://schemas.microsoft.com/office/drawing/2014/main" id="{24FCE15F-65CC-FACE-02A8-7A817A130E59}"/>
              </a:ext>
            </a:extLst>
          </p:cNvPr>
          <p:cNvSpPr>
            <a:spLocks noChangeShapeType="1"/>
          </p:cNvSpPr>
          <p:nvPr/>
        </p:nvSpPr>
        <p:spPr bwMode="auto">
          <a:xfrm>
            <a:off x="7494987" y="1750694"/>
            <a:ext cx="0" cy="1639889"/>
          </a:xfrm>
          <a:prstGeom prst="line">
            <a:avLst/>
          </a:prstGeom>
          <a:noFill/>
          <a:ln w="12700" cap="flat">
            <a:solidFill>
              <a:srgbClr val="FFFFFF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NL"/>
          </a:p>
        </p:txBody>
      </p:sp>
      <p:sp>
        <p:nvSpPr>
          <p:cNvPr id="593" name="Line 81">
            <a:extLst>
              <a:ext uri="{FF2B5EF4-FFF2-40B4-BE49-F238E27FC236}">
                <a16:creationId xmlns:a16="http://schemas.microsoft.com/office/drawing/2014/main" id="{1DFA925F-49C5-61CA-00E5-D9772ACEE67D}"/>
              </a:ext>
            </a:extLst>
          </p:cNvPr>
          <p:cNvSpPr>
            <a:spLocks noChangeShapeType="1"/>
          </p:cNvSpPr>
          <p:nvPr/>
        </p:nvSpPr>
        <p:spPr bwMode="auto">
          <a:xfrm>
            <a:off x="1049723" y="1134743"/>
            <a:ext cx="7386654" cy="0"/>
          </a:xfrm>
          <a:prstGeom prst="line">
            <a:avLst/>
          </a:prstGeom>
          <a:noFill/>
          <a:ln w="12700" cap="flat">
            <a:solidFill>
              <a:srgbClr val="FFFFFF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NL"/>
          </a:p>
        </p:txBody>
      </p:sp>
      <p:sp>
        <p:nvSpPr>
          <p:cNvPr id="594" name="Line 82">
            <a:extLst>
              <a:ext uri="{FF2B5EF4-FFF2-40B4-BE49-F238E27FC236}">
                <a16:creationId xmlns:a16="http://schemas.microsoft.com/office/drawing/2014/main" id="{EFF1A68E-0B10-F0FE-DD34-99DD67E815CE}"/>
              </a:ext>
            </a:extLst>
          </p:cNvPr>
          <p:cNvSpPr>
            <a:spLocks noChangeShapeType="1"/>
          </p:cNvSpPr>
          <p:nvPr/>
        </p:nvSpPr>
        <p:spPr bwMode="auto">
          <a:xfrm>
            <a:off x="1049723" y="1480819"/>
            <a:ext cx="7386654" cy="0"/>
          </a:xfrm>
          <a:prstGeom prst="line">
            <a:avLst/>
          </a:prstGeom>
          <a:noFill/>
          <a:ln w="12700" cap="flat">
            <a:solidFill>
              <a:srgbClr val="FFFFFF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NL"/>
          </a:p>
        </p:txBody>
      </p:sp>
      <p:sp>
        <p:nvSpPr>
          <p:cNvPr id="599" name="Line 83">
            <a:extLst>
              <a:ext uri="{FF2B5EF4-FFF2-40B4-BE49-F238E27FC236}">
                <a16:creationId xmlns:a16="http://schemas.microsoft.com/office/drawing/2014/main" id="{01CAE4C8-7F1C-BE35-1ABF-F732C7FB2D55}"/>
              </a:ext>
            </a:extLst>
          </p:cNvPr>
          <p:cNvSpPr>
            <a:spLocks noChangeShapeType="1"/>
          </p:cNvSpPr>
          <p:nvPr/>
        </p:nvSpPr>
        <p:spPr bwMode="auto">
          <a:xfrm>
            <a:off x="1049723" y="1757044"/>
            <a:ext cx="7386654" cy="0"/>
          </a:xfrm>
          <a:prstGeom prst="line">
            <a:avLst/>
          </a:prstGeom>
          <a:noFill/>
          <a:ln w="12700" cap="flat">
            <a:solidFill>
              <a:srgbClr val="FFFFFF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NL"/>
          </a:p>
        </p:txBody>
      </p:sp>
      <p:sp>
        <p:nvSpPr>
          <p:cNvPr id="600" name="Line 84">
            <a:extLst>
              <a:ext uri="{FF2B5EF4-FFF2-40B4-BE49-F238E27FC236}">
                <a16:creationId xmlns:a16="http://schemas.microsoft.com/office/drawing/2014/main" id="{0C3C546C-80EB-DA8B-AFE3-E2AA65E4FD26}"/>
              </a:ext>
            </a:extLst>
          </p:cNvPr>
          <p:cNvSpPr>
            <a:spLocks noChangeShapeType="1"/>
          </p:cNvSpPr>
          <p:nvPr/>
        </p:nvSpPr>
        <p:spPr bwMode="auto">
          <a:xfrm>
            <a:off x="1049723" y="1990406"/>
            <a:ext cx="7386654" cy="0"/>
          </a:xfrm>
          <a:prstGeom prst="line">
            <a:avLst/>
          </a:prstGeom>
          <a:noFill/>
          <a:ln w="12700" cap="flat">
            <a:solidFill>
              <a:srgbClr val="FFFFFF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NL"/>
          </a:p>
        </p:txBody>
      </p:sp>
      <p:sp>
        <p:nvSpPr>
          <p:cNvPr id="601" name="Line 85">
            <a:extLst>
              <a:ext uri="{FF2B5EF4-FFF2-40B4-BE49-F238E27FC236}">
                <a16:creationId xmlns:a16="http://schemas.microsoft.com/office/drawing/2014/main" id="{A2EB640E-0039-CB02-BF6D-09F5B34401AF}"/>
              </a:ext>
            </a:extLst>
          </p:cNvPr>
          <p:cNvSpPr>
            <a:spLocks noChangeShapeType="1"/>
          </p:cNvSpPr>
          <p:nvPr/>
        </p:nvSpPr>
        <p:spPr bwMode="auto">
          <a:xfrm>
            <a:off x="2260988" y="2225357"/>
            <a:ext cx="6175389" cy="0"/>
          </a:xfrm>
          <a:prstGeom prst="line">
            <a:avLst/>
          </a:prstGeom>
          <a:noFill/>
          <a:ln w="12700" cap="flat">
            <a:solidFill>
              <a:srgbClr val="FFFFFF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NL"/>
          </a:p>
        </p:txBody>
      </p:sp>
      <p:sp>
        <p:nvSpPr>
          <p:cNvPr id="602" name="Line 86">
            <a:extLst>
              <a:ext uri="{FF2B5EF4-FFF2-40B4-BE49-F238E27FC236}">
                <a16:creationId xmlns:a16="http://schemas.microsoft.com/office/drawing/2014/main" id="{D613B797-52C4-6585-A659-D200C5583E5A}"/>
              </a:ext>
            </a:extLst>
          </p:cNvPr>
          <p:cNvSpPr>
            <a:spLocks noChangeShapeType="1"/>
          </p:cNvSpPr>
          <p:nvPr/>
        </p:nvSpPr>
        <p:spPr bwMode="auto">
          <a:xfrm>
            <a:off x="2260988" y="2460307"/>
            <a:ext cx="6175389" cy="0"/>
          </a:xfrm>
          <a:prstGeom prst="line">
            <a:avLst/>
          </a:prstGeom>
          <a:noFill/>
          <a:ln w="12700" cap="flat">
            <a:solidFill>
              <a:srgbClr val="FFFFFF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NL"/>
          </a:p>
        </p:txBody>
      </p:sp>
      <p:sp>
        <p:nvSpPr>
          <p:cNvPr id="603" name="Line 87">
            <a:extLst>
              <a:ext uri="{FF2B5EF4-FFF2-40B4-BE49-F238E27FC236}">
                <a16:creationId xmlns:a16="http://schemas.microsoft.com/office/drawing/2014/main" id="{3701B6D8-F207-2C6A-24CE-FE7DEE6D5BA9}"/>
              </a:ext>
            </a:extLst>
          </p:cNvPr>
          <p:cNvSpPr>
            <a:spLocks noChangeShapeType="1"/>
          </p:cNvSpPr>
          <p:nvPr/>
        </p:nvSpPr>
        <p:spPr bwMode="auto">
          <a:xfrm>
            <a:off x="1049723" y="2741294"/>
            <a:ext cx="7386654" cy="0"/>
          </a:xfrm>
          <a:prstGeom prst="line">
            <a:avLst/>
          </a:prstGeom>
          <a:noFill/>
          <a:ln w="12700" cap="flat">
            <a:solidFill>
              <a:srgbClr val="FFFFFF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NL"/>
          </a:p>
        </p:txBody>
      </p:sp>
      <p:sp>
        <p:nvSpPr>
          <p:cNvPr id="604" name="Line 88">
            <a:extLst>
              <a:ext uri="{FF2B5EF4-FFF2-40B4-BE49-F238E27FC236}">
                <a16:creationId xmlns:a16="http://schemas.microsoft.com/office/drawing/2014/main" id="{9EBB4C0C-C77F-4E56-7F9D-DA56E6CB368A}"/>
              </a:ext>
            </a:extLst>
          </p:cNvPr>
          <p:cNvSpPr>
            <a:spLocks noChangeShapeType="1"/>
          </p:cNvSpPr>
          <p:nvPr/>
        </p:nvSpPr>
        <p:spPr bwMode="auto">
          <a:xfrm>
            <a:off x="1049723" y="3012757"/>
            <a:ext cx="7386654" cy="0"/>
          </a:xfrm>
          <a:prstGeom prst="line">
            <a:avLst/>
          </a:prstGeom>
          <a:noFill/>
          <a:ln w="12700" cap="flat">
            <a:solidFill>
              <a:srgbClr val="FFFFFF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NL"/>
          </a:p>
        </p:txBody>
      </p:sp>
      <p:sp>
        <p:nvSpPr>
          <p:cNvPr id="605" name="Line 89">
            <a:extLst>
              <a:ext uri="{FF2B5EF4-FFF2-40B4-BE49-F238E27FC236}">
                <a16:creationId xmlns:a16="http://schemas.microsoft.com/office/drawing/2014/main" id="{8C35A0DB-E66A-AB5A-4596-BE9A27398594}"/>
              </a:ext>
            </a:extLst>
          </p:cNvPr>
          <p:cNvSpPr>
            <a:spLocks noChangeShapeType="1"/>
          </p:cNvSpPr>
          <p:nvPr/>
        </p:nvSpPr>
        <p:spPr bwMode="auto">
          <a:xfrm>
            <a:off x="1056073" y="780731"/>
            <a:ext cx="0" cy="2609852"/>
          </a:xfrm>
          <a:prstGeom prst="line">
            <a:avLst/>
          </a:prstGeom>
          <a:noFill/>
          <a:ln w="12700" cap="flat">
            <a:solidFill>
              <a:srgbClr val="FFFFFF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NL"/>
          </a:p>
        </p:txBody>
      </p:sp>
      <p:sp>
        <p:nvSpPr>
          <p:cNvPr id="606" name="Line 90">
            <a:extLst>
              <a:ext uri="{FF2B5EF4-FFF2-40B4-BE49-F238E27FC236}">
                <a16:creationId xmlns:a16="http://schemas.microsoft.com/office/drawing/2014/main" id="{A0D6FC1E-92DD-E4AE-5960-B5E4CC8A1E76}"/>
              </a:ext>
            </a:extLst>
          </p:cNvPr>
          <p:cNvSpPr>
            <a:spLocks noChangeShapeType="1"/>
          </p:cNvSpPr>
          <p:nvPr/>
        </p:nvSpPr>
        <p:spPr bwMode="auto">
          <a:xfrm>
            <a:off x="8428439" y="780731"/>
            <a:ext cx="0" cy="2609852"/>
          </a:xfrm>
          <a:prstGeom prst="line">
            <a:avLst/>
          </a:prstGeom>
          <a:noFill/>
          <a:ln w="12700" cap="flat">
            <a:solidFill>
              <a:srgbClr val="FFFFFF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NL"/>
          </a:p>
        </p:txBody>
      </p:sp>
      <p:sp>
        <p:nvSpPr>
          <p:cNvPr id="607" name="Line 91">
            <a:extLst>
              <a:ext uri="{FF2B5EF4-FFF2-40B4-BE49-F238E27FC236}">
                <a16:creationId xmlns:a16="http://schemas.microsoft.com/office/drawing/2014/main" id="{5CD151FE-0C6A-1E42-9201-A790406F6126}"/>
              </a:ext>
            </a:extLst>
          </p:cNvPr>
          <p:cNvSpPr>
            <a:spLocks noChangeShapeType="1"/>
          </p:cNvSpPr>
          <p:nvPr/>
        </p:nvSpPr>
        <p:spPr bwMode="auto">
          <a:xfrm>
            <a:off x="1049723" y="787081"/>
            <a:ext cx="7386654" cy="0"/>
          </a:xfrm>
          <a:prstGeom prst="line">
            <a:avLst/>
          </a:prstGeom>
          <a:noFill/>
          <a:ln w="12700" cap="flat">
            <a:solidFill>
              <a:srgbClr val="FFFFFF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NL"/>
          </a:p>
        </p:txBody>
      </p:sp>
      <p:sp>
        <p:nvSpPr>
          <p:cNvPr id="608" name="Line 92">
            <a:extLst>
              <a:ext uri="{FF2B5EF4-FFF2-40B4-BE49-F238E27FC236}">
                <a16:creationId xmlns:a16="http://schemas.microsoft.com/office/drawing/2014/main" id="{519A104D-A673-9B5B-E988-3A348321605B}"/>
              </a:ext>
            </a:extLst>
          </p:cNvPr>
          <p:cNvSpPr>
            <a:spLocks noChangeShapeType="1"/>
          </p:cNvSpPr>
          <p:nvPr/>
        </p:nvSpPr>
        <p:spPr bwMode="auto">
          <a:xfrm>
            <a:off x="1049723" y="3384232"/>
            <a:ext cx="7386654" cy="0"/>
          </a:xfrm>
          <a:prstGeom prst="line">
            <a:avLst/>
          </a:prstGeom>
          <a:noFill/>
          <a:ln w="12700" cap="flat">
            <a:solidFill>
              <a:srgbClr val="FFFFFF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NL"/>
          </a:p>
        </p:txBody>
      </p:sp>
      <p:sp>
        <p:nvSpPr>
          <p:cNvPr id="609" name="Rectangle 93">
            <a:extLst>
              <a:ext uri="{FF2B5EF4-FFF2-40B4-BE49-F238E27FC236}">
                <a16:creationId xmlns:a16="http://schemas.microsoft.com/office/drawing/2014/main" id="{9A7B7834-918D-2452-2D8B-50C51D2B34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0436" y="860106"/>
            <a:ext cx="1062040" cy="266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NL" altLang="en-NL" sz="14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Calibri" panose="020F0502020204030204" pitchFamily="34" charset="0"/>
              </a:rPr>
              <a:t>NN use cases</a:t>
            </a:r>
            <a:endParaRPr kumimoji="0" lang="en-NL" altLang="en-NL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10" name="Rectangle 94">
            <a:extLst>
              <a:ext uri="{FF2B5EF4-FFF2-40B4-BE49-F238E27FC236}">
                <a16:creationId xmlns:a16="http://schemas.microsoft.com/office/drawing/2014/main" id="{BAF45921-50C3-4219-9477-EBAB092A37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88217" y="860106"/>
            <a:ext cx="1544641" cy="266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NL" altLang="en-NL" sz="1400" b="1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Calibri" panose="020F0502020204030204" pitchFamily="34" charset="0"/>
              </a:rPr>
              <a:t>Image classification</a:t>
            </a:r>
            <a:endParaRPr kumimoji="0" lang="en-NL" altLang="en-NL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11" name="Rectangle 95">
            <a:extLst>
              <a:ext uri="{FF2B5EF4-FFF2-40B4-BE49-F238E27FC236}">
                <a16:creationId xmlns:a16="http://schemas.microsoft.com/office/drawing/2014/main" id="{2300B14B-F72D-F30D-C72B-BDEF2D3594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02848" y="860106"/>
            <a:ext cx="1333503" cy="266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NL" altLang="en-NL" sz="1400" b="1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Calibri" panose="020F0502020204030204" pitchFamily="34" charset="0"/>
              </a:rPr>
              <a:t>Object detection</a:t>
            </a:r>
            <a:endParaRPr kumimoji="0" lang="en-NL" altLang="en-NL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12" name="Rectangle 96">
            <a:extLst>
              <a:ext uri="{FF2B5EF4-FFF2-40B4-BE49-F238E27FC236}">
                <a16:creationId xmlns:a16="http://schemas.microsoft.com/office/drawing/2014/main" id="{09C82202-1C31-D051-F33B-9F9781F415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27587" y="1206181"/>
            <a:ext cx="942977" cy="268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NL" altLang="en-NL" sz="14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Calibri" panose="020F0502020204030204" pitchFamily="34" charset="0"/>
              </a:rPr>
              <a:t>Framework</a:t>
            </a:r>
            <a:endParaRPr kumimoji="0" lang="en-NL" altLang="en-NL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13" name="Rectangle 97">
            <a:extLst>
              <a:ext uri="{FF2B5EF4-FFF2-40B4-BE49-F238E27FC236}">
                <a16:creationId xmlns:a16="http://schemas.microsoft.com/office/drawing/2014/main" id="{D77E285B-52F1-8B11-9E69-8302D674B2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92891" y="1206181"/>
            <a:ext cx="1270003" cy="268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NL" altLang="en-NL" sz="1400" b="1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Calibri" panose="020F0502020204030204" pitchFamily="34" charset="0"/>
              </a:rPr>
              <a:t>TensorFlow Lite</a:t>
            </a:r>
            <a:endParaRPr kumimoji="0" lang="en-NL" altLang="en-NL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14" name="Rectangle 98">
            <a:extLst>
              <a:ext uri="{FF2B5EF4-FFF2-40B4-BE49-F238E27FC236}">
                <a16:creationId xmlns:a16="http://schemas.microsoft.com/office/drawing/2014/main" id="{4479A4E2-0237-16DB-0C63-0BB2666F59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58220" y="1206181"/>
            <a:ext cx="641351" cy="268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NL" altLang="en-NL" sz="1400" b="1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Calibri" panose="020F0502020204030204" pitchFamily="34" charset="0"/>
              </a:rPr>
              <a:t>SQuant</a:t>
            </a:r>
            <a:endParaRPr kumimoji="0" lang="en-NL" altLang="en-NL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15" name="Rectangle 99">
            <a:extLst>
              <a:ext uri="{FF2B5EF4-FFF2-40B4-BE49-F238E27FC236}">
                <a16:creationId xmlns:a16="http://schemas.microsoft.com/office/drawing/2014/main" id="{7D0E7119-3CA7-398D-2A58-804650F3E8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42536" y="1206181"/>
            <a:ext cx="1270003" cy="268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NL" altLang="en-NL" sz="14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Calibri" panose="020F0502020204030204" pitchFamily="34" charset="0"/>
              </a:rPr>
              <a:t>TensorFlow Lite</a:t>
            </a:r>
            <a:endParaRPr kumimoji="0" lang="en-NL" altLang="en-NL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16" name="Rectangle 100">
            <a:extLst>
              <a:ext uri="{FF2B5EF4-FFF2-40B4-BE49-F238E27FC236}">
                <a16:creationId xmlns:a16="http://schemas.microsoft.com/office/drawing/2014/main" id="{D5DDB2FD-EFD2-3B60-639D-5957A4FC21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0398" y="1520506"/>
            <a:ext cx="1681166" cy="266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NL" altLang="en-NL" sz="14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Calibri" panose="020F0502020204030204" pitchFamily="34" charset="0"/>
              </a:rPr>
              <a:t>Quantization method</a:t>
            </a:r>
            <a:endParaRPr kumimoji="0" lang="en-NL" altLang="en-NL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17" name="Rectangle 101">
            <a:extLst>
              <a:ext uri="{FF2B5EF4-FFF2-40B4-BE49-F238E27FC236}">
                <a16:creationId xmlns:a16="http://schemas.microsoft.com/office/drawing/2014/main" id="{14605C65-B0E4-FB21-C2B3-271D122143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23066" y="1520506"/>
            <a:ext cx="401638" cy="266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NL" altLang="en-NL" sz="1400" b="1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Calibri" panose="020F0502020204030204" pitchFamily="34" charset="0"/>
              </a:rPr>
              <a:t>PTQ</a:t>
            </a:r>
            <a:endParaRPr kumimoji="0" lang="en-NL" altLang="en-NL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18" name="Rectangle 102">
            <a:extLst>
              <a:ext uri="{FF2B5EF4-FFF2-40B4-BE49-F238E27FC236}">
                <a16:creationId xmlns:a16="http://schemas.microsoft.com/office/drawing/2014/main" id="{273856D0-29E8-DEA3-3D38-AADE6DBD1A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59680" y="1520506"/>
            <a:ext cx="414338" cy="266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NL" altLang="en-NL" sz="14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Calibri" panose="020F0502020204030204" pitchFamily="34" charset="0"/>
              </a:rPr>
              <a:t>QAT</a:t>
            </a:r>
            <a:endParaRPr kumimoji="0" lang="en-NL" altLang="en-NL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19" name="Rectangle 103">
            <a:extLst>
              <a:ext uri="{FF2B5EF4-FFF2-40B4-BE49-F238E27FC236}">
                <a16:creationId xmlns:a16="http://schemas.microsoft.com/office/drawing/2014/main" id="{4703FD64-3B44-5304-D570-CCA3E116DF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70933" y="1520506"/>
            <a:ext cx="412751" cy="266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NL" altLang="en-NL" sz="1400" b="1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Calibri" panose="020F0502020204030204" pitchFamily="34" charset="0"/>
              </a:rPr>
              <a:t>DFQ</a:t>
            </a:r>
            <a:endParaRPr kumimoji="0" lang="en-NL" altLang="en-NL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20" name="Rectangle 104">
            <a:extLst>
              <a:ext uri="{FF2B5EF4-FFF2-40B4-BE49-F238E27FC236}">
                <a16:creationId xmlns:a16="http://schemas.microsoft.com/office/drawing/2014/main" id="{8253538A-018A-0FB9-B1D8-4BB963E0F0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50524" y="1520506"/>
            <a:ext cx="403226" cy="266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NL" altLang="en-NL" sz="1400" b="1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Calibri" panose="020F0502020204030204" pitchFamily="34" charset="0"/>
              </a:rPr>
              <a:t>PTQ</a:t>
            </a:r>
            <a:endParaRPr kumimoji="0" lang="en-NL" altLang="en-NL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21" name="Rectangle 105">
            <a:extLst>
              <a:ext uri="{FF2B5EF4-FFF2-40B4-BE49-F238E27FC236}">
                <a16:creationId xmlns:a16="http://schemas.microsoft.com/office/drawing/2014/main" id="{8D526343-2F3B-0A45-FAEC-EE722220A8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8186" y="1801494"/>
            <a:ext cx="1436691" cy="187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NL" altLang="en-NL" sz="10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Quantization bit precision</a:t>
            </a:r>
            <a:endParaRPr kumimoji="0" lang="en-NL" altLang="en-NL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22" name="Rectangle 106">
            <a:extLst>
              <a:ext uri="{FF2B5EF4-FFF2-40B4-BE49-F238E27FC236}">
                <a16:creationId xmlns:a16="http://schemas.microsoft.com/office/drawing/2014/main" id="{5B1B217B-63E0-57E3-B951-8ECA7ABB80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24628" y="1801494"/>
            <a:ext cx="220663" cy="187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NL" altLang="en-NL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16 </a:t>
            </a:r>
            <a:endParaRPr kumimoji="0" lang="en-NL" altLang="en-NL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23" name="Rectangle 107">
            <a:extLst>
              <a:ext uri="{FF2B5EF4-FFF2-40B4-BE49-F238E27FC236}">
                <a16:creationId xmlns:a16="http://schemas.microsoft.com/office/drawing/2014/main" id="{FAAE7765-6480-983F-17DC-97A1180E84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15179" y="1801494"/>
            <a:ext cx="130175" cy="187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NL" altLang="en-NL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8</a:t>
            </a:r>
            <a:endParaRPr kumimoji="0" lang="en-NL" altLang="en-NL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24" name="Rectangle 108">
            <a:extLst>
              <a:ext uri="{FF2B5EF4-FFF2-40B4-BE49-F238E27FC236}">
                <a16:creationId xmlns:a16="http://schemas.microsoft.com/office/drawing/2014/main" id="{EB342537-2E35-6DE4-5765-C37B7B53A1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3981" y="1801494"/>
            <a:ext cx="128588" cy="187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NL" altLang="en-NL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8</a:t>
            </a:r>
            <a:endParaRPr kumimoji="0" lang="en-NL" altLang="en-NL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25" name="Rectangle 109">
            <a:extLst>
              <a:ext uri="{FF2B5EF4-FFF2-40B4-BE49-F238E27FC236}">
                <a16:creationId xmlns:a16="http://schemas.microsoft.com/office/drawing/2014/main" id="{5602065D-B158-95DF-40D8-12401CF430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32782" y="1801494"/>
            <a:ext cx="128588" cy="187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NL" altLang="en-NL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8</a:t>
            </a:r>
            <a:endParaRPr kumimoji="0" lang="en-NL" altLang="en-NL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26" name="Rectangle 110">
            <a:extLst>
              <a:ext uri="{FF2B5EF4-FFF2-40B4-BE49-F238E27FC236}">
                <a16:creationId xmlns:a16="http://schemas.microsoft.com/office/drawing/2014/main" id="{59B31598-5B21-6CBE-39CC-AD7C08C0B0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91583" y="1801494"/>
            <a:ext cx="128588" cy="187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NL" altLang="en-NL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6</a:t>
            </a:r>
            <a:endParaRPr kumimoji="0" lang="en-NL" altLang="en-NL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27" name="Rectangle 111">
            <a:extLst>
              <a:ext uri="{FF2B5EF4-FFF2-40B4-BE49-F238E27FC236}">
                <a16:creationId xmlns:a16="http://schemas.microsoft.com/office/drawing/2014/main" id="{02DA1D7E-5460-42F4-E6C3-3CF6BF1840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50384" y="1801494"/>
            <a:ext cx="128588" cy="187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NL" altLang="en-NL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4</a:t>
            </a:r>
            <a:endParaRPr kumimoji="0" lang="en-NL" altLang="en-NL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28" name="Rectangle 112">
            <a:extLst>
              <a:ext uri="{FF2B5EF4-FFF2-40B4-BE49-F238E27FC236}">
                <a16:creationId xmlns:a16="http://schemas.microsoft.com/office/drawing/2014/main" id="{E4567010-5618-0AB3-F47C-C06897D024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64761" y="1801494"/>
            <a:ext cx="192088" cy="187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NL" altLang="en-NL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16</a:t>
            </a:r>
            <a:endParaRPr kumimoji="0" lang="en-NL" altLang="en-NL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29" name="Rectangle 113">
            <a:extLst>
              <a:ext uri="{FF2B5EF4-FFF2-40B4-BE49-F238E27FC236}">
                <a16:creationId xmlns:a16="http://schemas.microsoft.com/office/drawing/2014/main" id="{17F92BC5-53F1-597E-1EB7-97BBF36502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31551" y="1801494"/>
            <a:ext cx="128588" cy="187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NL" altLang="en-NL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8</a:t>
            </a:r>
            <a:endParaRPr kumimoji="0" lang="en-NL" altLang="en-NL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30" name="Rectangle 114">
            <a:extLst>
              <a:ext uri="{FF2B5EF4-FFF2-40B4-BE49-F238E27FC236}">
                <a16:creationId xmlns:a16="http://schemas.microsoft.com/office/drawing/2014/main" id="{910FDCFB-C145-8065-B59A-BEE89547E3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6723" y="2217419"/>
            <a:ext cx="1066802" cy="187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NL" altLang="en-NL" sz="10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Quantize all layers </a:t>
            </a:r>
            <a:endParaRPr kumimoji="0" lang="en-NL" altLang="en-NL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31" name="Rectangle 115">
            <a:extLst>
              <a:ext uri="{FF2B5EF4-FFF2-40B4-BE49-F238E27FC236}">
                <a16:creationId xmlns:a16="http://schemas.microsoft.com/office/drawing/2014/main" id="{974803E7-91E3-6D1B-DB87-E61679AE35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86286" y="2369819"/>
            <a:ext cx="446089" cy="187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NL" altLang="en-NL" sz="10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except </a:t>
            </a:r>
            <a:endParaRPr kumimoji="0" lang="en-NL" altLang="en-NL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32" name="Rectangle 116">
            <a:extLst>
              <a:ext uri="{FF2B5EF4-FFF2-40B4-BE49-F238E27FC236}">
                <a16:creationId xmlns:a16="http://schemas.microsoft.com/office/drawing/2014/main" id="{96E3FC6E-1289-4F42-8E54-A516CECE8E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51488" y="2036444"/>
            <a:ext cx="639764" cy="187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NL" altLang="en-NL" sz="10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Input layer</a:t>
            </a:r>
            <a:endParaRPr kumimoji="0" lang="en-NL" altLang="en-NL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33" name="Rectangle 117">
            <a:extLst>
              <a:ext uri="{FF2B5EF4-FFF2-40B4-BE49-F238E27FC236}">
                <a16:creationId xmlns:a16="http://schemas.microsoft.com/office/drawing/2014/main" id="{BB547587-DB3A-AC69-0E1D-906D5FF7FD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37328" y="2022156"/>
            <a:ext cx="103188" cy="153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GB" sz="1000" u="none" strike="noStrike" cap="none" dirty="0"/>
              <a:t>✔</a:t>
            </a:r>
            <a:endParaRPr kumimoji="0" lang="en-NL" altLang="en-NL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634" name="Rectangle 118">
            <a:extLst>
              <a:ext uri="{FF2B5EF4-FFF2-40B4-BE49-F238E27FC236}">
                <a16:creationId xmlns:a16="http://schemas.microsoft.com/office/drawing/2014/main" id="{B39FF520-5179-B5EF-E429-941F5CB667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6129" y="2022156"/>
            <a:ext cx="103188" cy="153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GB" sz="1000" u="none" strike="noStrike" cap="none" dirty="0"/>
              <a:t>✔</a:t>
            </a:r>
            <a:endParaRPr kumimoji="0" lang="en-NL" altLang="en-NL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635" name="Rectangle 119">
            <a:extLst>
              <a:ext uri="{FF2B5EF4-FFF2-40B4-BE49-F238E27FC236}">
                <a16:creationId xmlns:a16="http://schemas.microsoft.com/office/drawing/2014/main" id="{F81CE3DE-7636-55D4-23AF-56906335D8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54931" y="2022156"/>
            <a:ext cx="103188" cy="153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GB" sz="1000" u="none" strike="noStrike" cap="none" dirty="0"/>
              <a:t>✔</a:t>
            </a:r>
            <a:endParaRPr kumimoji="0" lang="en-NL" altLang="en-NL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636" name="Rectangle 120">
            <a:extLst>
              <a:ext uri="{FF2B5EF4-FFF2-40B4-BE49-F238E27FC236}">
                <a16:creationId xmlns:a16="http://schemas.microsoft.com/office/drawing/2014/main" id="{76D4C12F-AFFA-207A-7680-9FC0F49C9A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13732" y="2022156"/>
            <a:ext cx="103188" cy="153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GB" sz="1000" u="none" strike="noStrike" cap="none" dirty="0"/>
              <a:t>✔</a:t>
            </a:r>
            <a:endParaRPr kumimoji="0" lang="en-NL" altLang="en-NL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637" name="Rectangle 121">
            <a:extLst>
              <a:ext uri="{FF2B5EF4-FFF2-40B4-BE49-F238E27FC236}">
                <a16:creationId xmlns:a16="http://schemas.microsoft.com/office/drawing/2014/main" id="{8D4C6446-5DB2-20E0-9AB3-B03E109910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72533" y="2022156"/>
            <a:ext cx="103188" cy="153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GB" sz="1000" u="none" strike="noStrike" cap="none" dirty="0"/>
              <a:t>✔</a:t>
            </a:r>
            <a:endParaRPr kumimoji="0" lang="en-NL" altLang="en-NL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638" name="Rectangle 122">
            <a:extLst>
              <a:ext uri="{FF2B5EF4-FFF2-40B4-BE49-F238E27FC236}">
                <a16:creationId xmlns:a16="http://schemas.microsoft.com/office/drawing/2014/main" id="{22EEC92D-FA05-7A6B-ADEA-8FF641B05C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1334" y="2022156"/>
            <a:ext cx="103188" cy="153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GB" sz="1000" u="none" strike="noStrike" cap="none" dirty="0"/>
              <a:t>✔</a:t>
            </a:r>
            <a:endParaRPr kumimoji="0" lang="en-NL" altLang="en-NL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639" name="Rectangle 123">
            <a:extLst>
              <a:ext uri="{FF2B5EF4-FFF2-40B4-BE49-F238E27FC236}">
                <a16:creationId xmlns:a16="http://schemas.microsoft.com/office/drawing/2014/main" id="{3190524B-9F91-E5F1-2C8E-E930858409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79049" y="2022156"/>
            <a:ext cx="103188" cy="153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GB" sz="1000" u="none" strike="noStrike" cap="none" dirty="0"/>
              <a:t>✔</a:t>
            </a:r>
            <a:endParaRPr kumimoji="0" lang="en-NL" altLang="en-NL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640" name="Rectangle 124">
            <a:extLst>
              <a:ext uri="{FF2B5EF4-FFF2-40B4-BE49-F238E27FC236}">
                <a16:creationId xmlns:a16="http://schemas.microsoft.com/office/drawing/2014/main" id="{932F2D59-B8DC-4F1C-A61B-8DC7AD8FBC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12501" y="2022156"/>
            <a:ext cx="103188" cy="153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GB" sz="1000" u="none" strike="noStrike" cap="none" dirty="0"/>
              <a:t>✔</a:t>
            </a:r>
            <a:endParaRPr kumimoji="0" lang="en-NL" altLang="en-NL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641" name="Rectangle 125">
            <a:extLst>
              <a:ext uri="{FF2B5EF4-FFF2-40B4-BE49-F238E27FC236}">
                <a16:creationId xmlns:a16="http://schemas.microsoft.com/office/drawing/2014/main" id="{35FDCAF1-2C62-1742-FC90-80CA24DF6D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02276" y="2271394"/>
            <a:ext cx="736602" cy="187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NL" altLang="en-NL" sz="10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Output layer</a:t>
            </a:r>
            <a:endParaRPr kumimoji="0" lang="en-NL" altLang="en-NL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42" name="Rectangle 126">
            <a:extLst>
              <a:ext uri="{FF2B5EF4-FFF2-40B4-BE49-F238E27FC236}">
                <a16:creationId xmlns:a16="http://schemas.microsoft.com/office/drawing/2014/main" id="{7DF2441C-8385-FD31-6AF2-D8C4170713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37328" y="2257107"/>
            <a:ext cx="103188" cy="153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GB" sz="1000" u="none" strike="noStrike" cap="none" dirty="0"/>
              <a:t>✔</a:t>
            </a:r>
            <a:endParaRPr kumimoji="0" lang="en-NL" altLang="en-NL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643" name="Rectangle 127">
            <a:extLst>
              <a:ext uri="{FF2B5EF4-FFF2-40B4-BE49-F238E27FC236}">
                <a16:creationId xmlns:a16="http://schemas.microsoft.com/office/drawing/2014/main" id="{0B8E8A2D-3B44-C684-1DB9-081C5870B2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6129" y="2257107"/>
            <a:ext cx="103188" cy="153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GB" sz="1000" u="none" strike="noStrike" cap="none" dirty="0"/>
              <a:t>✔</a:t>
            </a:r>
            <a:endParaRPr kumimoji="0" lang="en-NL" altLang="en-NL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644" name="Rectangle 128">
            <a:extLst>
              <a:ext uri="{FF2B5EF4-FFF2-40B4-BE49-F238E27FC236}">
                <a16:creationId xmlns:a16="http://schemas.microsoft.com/office/drawing/2014/main" id="{51F318A9-E2EE-636C-A4F7-F1719F6878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79049" y="2257107"/>
            <a:ext cx="103188" cy="153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GB" sz="1000" u="none" strike="noStrike" cap="none" dirty="0"/>
              <a:t>✔</a:t>
            </a:r>
            <a:endParaRPr kumimoji="0" lang="en-NL" altLang="en-NL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645" name="Rectangle 129">
            <a:extLst>
              <a:ext uri="{FF2B5EF4-FFF2-40B4-BE49-F238E27FC236}">
                <a16:creationId xmlns:a16="http://schemas.microsoft.com/office/drawing/2014/main" id="{AB2A027A-80DC-A325-9D68-17F245B933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12501" y="2257107"/>
            <a:ext cx="103188" cy="153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GB" sz="1000" u="none" strike="noStrike" cap="none" dirty="0"/>
              <a:t>✔</a:t>
            </a:r>
            <a:endParaRPr kumimoji="0" lang="en-NL" altLang="en-NL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646" name="Rectangle 130">
            <a:extLst>
              <a:ext uri="{FF2B5EF4-FFF2-40B4-BE49-F238E27FC236}">
                <a16:creationId xmlns:a16="http://schemas.microsoft.com/office/drawing/2014/main" id="{D3C357CB-507D-2266-B8A1-38472CB935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97500" y="2528569"/>
            <a:ext cx="947740" cy="187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NL" altLang="en-NL" sz="10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Suspected layers</a:t>
            </a:r>
            <a:endParaRPr kumimoji="0" lang="en-NL" altLang="en-NL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47" name="Rectangle 131">
            <a:extLst>
              <a:ext uri="{FF2B5EF4-FFF2-40B4-BE49-F238E27FC236}">
                <a16:creationId xmlns:a16="http://schemas.microsoft.com/office/drawing/2014/main" id="{A3AF5D65-1DCD-5D61-F574-59738E33D1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12501" y="2512694"/>
            <a:ext cx="103188" cy="153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GB" sz="1000" u="none" strike="noStrike" cap="none" dirty="0"/>
              <a:t>✔</a:t>
            </a:r>
            <a:endParaRPr kumimoji="0" lang="en-NL" altLang="en-NL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648" name="Rectangle 132">
            <a:extLst>
              <a:ext uri="{FF2B5EF4-FFF2-40B4-BE49-F238E27FC236}">
                <a16:creationId xmlns:a16="http://schemas.microsoft.com/office/drawing/2014/main" id="{19A9F333-D0C3-F231-1C65-124F1E21C9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1686" y="2804795"/>
            <a:ext cx="1308103" cy="187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NL" altLang="en-NL" sz="10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Model compression (%)</a:t>
            </a:r>
            <a:endParaRPr kumimoji="0" lang="en-NL" altLang="en-NL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49" name="Rectangle 133">
            <a:extLst>
              <a:ext uri="{FF2B5EF4-FFF2-40B4-BE49-F238E27FC236}">
                <a16:creationId xmlns:a16="http://schemas.microsoft.com/office/drawing/2014/main" id="{BEB0969A-5371-303F-75AA-A3967EEA6C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80178" y="2806382"/>
            <a:ext cx="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NL" altLang="en-NL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50" name="Rectangle 134">
            <a:extLst>
              <a:ext uri="{FF2B5EF4-FFF2-40B4-BE49-F238E27FC236}">
                <a16:creationId xmlns:a16="http://schemas.microsoft.com/office/drawing/2014/main" id="{A84795D1-FE9A-7FB7-D76C-660A61EF41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00815" y="2804795"/>
            <a:ext cx="222251" cy="153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GB" sz="1000" u="none" strike="noStrike" cap="none" dirty="0"/>
              <a:t>∼</a:t>
            </a:r>
            <a:r>
              <a:rPr kumimoji="0" lang="en-NL" altLang="en-NL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75</a:t>
            </a:r>
            <a:endParaRPr kumimoji="0" lang="en-NL" altLang="en-NL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51" name="Rectangle 135">
            <a:extLst>
              <a:ext uri="{FF2B5EF4-FFF2-40B4-BE49-F238E27FC236}">
                <a16:creationId xmlns:a16="http://schemas.microsoft.com/office/drawing/2014/main" id="{8D6A17AA-CC42-C1B8-F57C-0C52F601DF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38979" y="2806382"/>
            <a:ext cx="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NL" altLang="en-NL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52" name="Rectangle 136">
            <a:extLst>
              <a:ext uri="{FF2B5EF4-FFF2-40B4-BE49-F238E27FC236}">
                <a16:creationId xmlns:a16="http://schemas.microsoft.com/office/drawing/2014/main" id="{8766DF29-2D2A-2B2B-B35D-90EF561FAA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02467" y="2806382"/>
            <a:ext cx="222251" cy="153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GB" sz="1000" u="none" strike="noStrike" cap="none" dirty="0"/>
              <a:t>∼</a:t>
            </a:r>
            <a:r>
              <a:rPr kumimoji="0" lang="en-NL" altLang="en-NL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85</a:t>
            </a:r>
            <a:endParaRPr kumimoji="0" lang="en-NL" altLang="en-NL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53" name="Rectangle 137">
            <a:extLst>
              <a:ext uri="{FF2B5EF4-FFF2-40B4-BE49-F238E27FC236}">
                <a16:creationId xmlns:a16="http://schemas.microsoft.com/office/drawing/2014/main" id="{5225E684-442B-FF33-21CD-25063C1126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97780" y="2806382"/>
            <a:ext cx="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NL" altLang="en-NL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54" name="Rectangle 138">
            <a:extLst>
              <a:ext uri="{FF2B5EF4-FFF2-40B4-BE49-F238E27FC236}">
                <a16:creationId xmlns:a16="http://schemas.microsoft.com/office/drawing/2014/main" id="{46601F00-5B08-928A-3809-1201BF8122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37455" y="2806382"/>
            <a:ext cx="222251" cy="153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GB" sz="1000" u="none" strike="noStrike" cap="none" dirty="0"/>
              <a:t>∼</a:t>
            </a:r>
            <a:r>
              <a:rPr kumimoji="0" lang="en-NL" altLang="en-NL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85</a:t>
            </a:r>
            <a:endParaRPr kumimoji="0" lang="en-NL" altLang="en-NL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55" name="Rectangle 139">
            <a:extLst>
              <a:ext uri="{FF2B5EF4-FFF2-40B4-BE49-F238E27FC236}">
                <a16:creationId xmlns:a16="http://schemas.microsoft.com/office/drawing/2014/main" id="{DC08A97A-281D-5A1C-7B22-54790D04C1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34369" y="2804795"/>
            <a:ext cx="128588" cy="187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NL" altLang="en-NL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*</a:t>
            </a:r>
            <a:endParaRPr kumimoji="0" lang="en-NL" altLang="en-NL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56" name="Rectangle 140">
            <a:extLst>
              <a:ext uri="{FF2B5EF4-FFF2-40B4-BE49-F238E27FC236}">
                <a16:creationId xmlns:a16="http://schemas.microsoft.com/office/drawing/2014/main" id="{12ADF325-6A54-9E9B-7353-76A40EA15E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93171" y="2804795"/>
            <a:ext cx="128588" cy="187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NL" altLang="en-NL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*</a:t>
            </a:r>
            <a:endParaRPr kumimoji="0" lang="en-NL" altLang="en-NL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57" name="Rectangle 141">
            <a:extLst>
              <a:ext uri="{FF2B5EF4-FFF2-40B4-BE49-F238E27FC236}">
                <a16:creationId xmlns:a16="http://schemas.microsoft.com/office/drawing/2014/main" id="{DF7AD897-AD08-BFD1-3737-D2A06F2F16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51972" y="2804795"/>
            <a:ext cx="128588" cy="187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NL" altLang="en-NL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*</a:t>
            </a:r>
            <a:endParaRPr kumimoji="0" lang="en-NL" altLang="en-NL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58" name="Rectangle 142">
            <a:extLst>
              <a:ext uri="{FF2B5EF4-FFF2-40B4-BE49-F238E27FC236}">
                <a16:creationId xmlns:a16="http://schemas.microsoft.com/office/drawing/2014/main" id="{6218CF50-B616-53B9-5082-AF3523C630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18723" y="2806382"/>
            <a:ext cx="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NL" altLang="en-NL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59" name="Rectangle 143">
            <a:extLst>
              <a:ext uri="{FF2B5EF4-FFF2-40B4-BE49-F238E27FC236}">
                <a16:creationId xmlns:a16="http://schemas.microsoft.com/office/drawing/2014/main" id="{187A1724-E458-CDEC-DCFF-4EE0BECF9D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28249" y="2806382"/>
            <a:ext cx="222251" cy="153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GB" sz="1000" u="none" strike="noStrike" cap="none" dirty="0"/>
              <a:t>∼</a:t>
            </a:r>
            <a:r>
              <a:rPr kumimoji="0" lang="en-NL" altLang="en-NL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75</a:t>
            </a:r>
            <a:endParaRPr kumimoji="0" lang="en-NL" altLang="en-NL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60" name="Rectangle 144">
            <a:extLst>
              <a:ext uri="{FF2B5EF4-FFF2-40B4-BE49-F238E27FC236}">
                <a16:creationId xmlns:a16="http://schemas.microsoft.com/office/drawing/2014/main" id="{B9E42049-379A-82B3-01D0-F31B976ECA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53763" y="2806382"/>
            <a:ext cx="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NL" altLang="en-NL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61" name="Rectangle 145">
            <a:extLst>
              <a:ext uri="{FF2B5EF4-FFF2-40B4-BE49-F238E27FC236}">
                <a16:creationId xmlns:a16="http://schemas.microsoft.com/office/drawing/2014/main" id="{4E8B481F-69DB-D988-067B-49495D9CE5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31538" y="2804795"/>
            <a:ext cx="222251" cy="153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GB" sz="1000" u="none" strike="noStrike" cap="none" dirty="0"/>
              <a:t>∼</a:t>
            </a:r>
            <a:r>
              <a:rPr kumimoji="0" lang="en-NL" altLang="en-NL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85</a:t>
            </a:r>
            <a:endParaRPr kumimoji="0" lang="en-NL" altLang="en-NL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62" name="Rectangle 146">
            <a:extLst>
              <a:ext uri="{FF2B5EF4-FFF2-40B4-BE49-F238E27FC236}">
                <a16:creationId xmlns:a16="http://schemas.microsoft.com/office/drawing/2014/main" id="{B1990550-F00C-7000-64E1-8E750619EA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4673" y="3127057"/>
            <a:ext cx="1762129" cy="187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NL" altLang="en-NL" sz="10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Change in accuracy (or mAP) (%)</a:t>
            </a:r>
            <a:endParaRPr kumimoji="0" lang="en-NL" altLang="en-NL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63" name="Rectangle 147">
            <a:extLst>
              <a:ext uri="{FF2B5EF4-FFF2-40B4-BE49-F238E27FC236}">
                <a16:creationId xmlns:a16="http://schemas.microsoft.com/office/drawing/2014/main" id="{16387C00-A65C-94D2-2682-F3C27CD453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26215" y="3127057"/>
            <a:ext cx="192088" cy="187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NL" altLang="en-NL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&lt;1</a:t>
            </a:r>
            <a:endParaRPr kumimoji="0" lang="en-NL" altLang="en-NL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64" name="Rectangle 148">
            <a:extLst>
              <a:ext uri="{FF2B5EF4-FFF2-40B4-BE49-F238E27FC236}">
                <a16:creationId xmlns:a16="http://schemas.microsoft.com/office/drawing/2014/main" id="{DE8038A9-4FA1-6C6F-9E9F-A15AC4BBE2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85017" y="3127057"/>
            <a:ext cx="192088" cy="187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NL" altLang="en-NL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&lt;1</a:t>
            </a:r>
            <a:endParaRPr kumimoji="0" lang="en-NL" altLang="en-NL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65" name="Rectangle 149">
            <a:extLst>
              <a:ext uri="{FF2B5EF4-FFF2-40B4-BE49-F238E27FC236}">
                <a16:creationId xmlns:a16="http://schemas.microsoft.com/office/drawing/2014/main" id="{5D89CA35-A0F9-D4D6-3A75-5E81EEA5C2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43818" y="3127057"/>
            <a:ext cx="192088" cy="187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NL" altLang="en-NL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&lt;1</a:t>
            </a:r>
            <a:endParaRPr kumimoji="0" lang="en-NL" altLang="en-NL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66" name="Rectangle 150">
            <a:extLst>
              <a:ext uri="{FF2B5EF4-FFF2-40B4-BE49-F238E27FC236}">
                <a16:creationId xmlns:a16="http://schemas.microsoft.com/office/drawing/2014/main" id="{A29012C5-C47C-0C74-8030-5CBD4DD085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02619" y="3127057"/>
            <a:ext cx="192088" cy="187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NL" altLang="en-NL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&lt;1</a:t>
            </a:r>
            <a:endParaRPr kumimoji="0" lang="en-NL" altLang="en-NL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67" name="Rectangle 151">
            <a:extLst>
              <a:ext uri="{FF2B5EF4-FFF2-40B4-BE49-F238E27FC236}">
                <a16:creationId xmlns:a16="http://schemas.microsoft.com/office/drawing/2014/main" id="{3805A513-D278-11C3-449D-2163BB49A2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59833" y="3127057"/>
            <a:ext cx="192088" cy="187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NL" altLang="en-NL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&lt;5</a:t>
            </a:r>
            <a:endParaRPr kumimoji="0" lang="en-NL" altLang="en-NL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68" name="Rectangle 152">
            <a:extLst>
              <a:ext uri="{FF2B5EF4-FFF2-40B4-BE49-F238E27FC236}">
                <a16:creationId xmlns:a16="http://schemas.microsoft.com/office/drawing/2014/main" id="{7ABA9139-F660-0BF7-5C0F-0DEB950190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86884" y="3127057"/>
            <a:ext cx="255588" cy="187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NL" altLang="en-NL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&lt;25</a:t>
            </a:r>
            <a:endParaRPr kumimoji="0" lang="en-NL" altLang="en-NL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69" name="Rectangle 153">
            <a:extLst>
              <a:ext uri="{FF2B5EF4-FFF2-40B4-BE49-F238E27FC236}">
                <a16:creationId xmlns:a16="http://schemas.microsoft.com/office/drawing/2014/main" id="{D022F65B-5B4F-F1F2-D61A-7DE1D1BBC5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64761" y="3127057"/>
            <a:ext cx="192088" cy="187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NL" altLang="en-NL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&lt;2</a:t>
            </a:r>
            <a:endParaRPr kumimoji="0" lang="en-NL" altLang="en-NL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70" name="Rectangle 154">
            <a:extLst>
              <a:ext uri="{FF2B5EF4-FFF2-40B4-BE49-F238E27FC236}">
                <a16:creationId xmlns:a16="http://schemas.microsoft.com/office/drawing/2014/main" id="{6CA88685-7010-A88B-C3B9-C0EBAC6870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98213" y="3127057"/>
            <a:ext cx="192088" cy="187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NL" altLang="en-NL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&lt;2</a:t>
            </a:r>
            <a:endParaRPr kumimoji="0" lang="en-NL" altLang="en-NL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18352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4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9" grpId="0"/>
      <p:bldP spid="620" grpId="0"/>
      <p:bldP spid="625" grpId="0"/>
      <p:bldP spid="626" grpId="0"/>
      <p:bldP spid="627" grpId="0"/>
      <p:bldP spid="628" grpId="0"/>
      <p:bldP spid="629" grpId="0"/>
      <p:bldP spid="636" grpId="0"/>
      <p:bldP spid="637" grpId="0"/>
      <p:bldP spid="638" grpId="0"/>
      <p:bldP spid="639" grpId="0"/>
      <p:bldP spid="640" grpId="0"/>
      <p:bldP spid="644" grpId="0"/>
      <p:bldP spid="645" grpId="0"/>
      <p:bldP spid="647" grpId="0"/>
      <p:bldP spid="655" grpId="0"/>
      <p:bldP spid="656" grpId="0"/>
      <p:bldP spid="657" grpId="0"/>
      <p:bldP spid="658" grpId="0"/>
      <p:bldP spid="659" grpId="0"/>
      <p:bldP spid="660" grpId="0"/>
      <p:bldP spid="661" grpId="0"/>
      <p:bldP spid="666" grpId="0"/>
      <p:bldP spid="667" grpId="0"/>
      <p:bldP spid="668" grpId="0"/>
      <p:bldP spid="669" grpId="0"/>
      <p:bldP spid="670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p25"/>
          <p:cNvSpPr txBox="1">
            <a:spLocks noGrp="1"/>
          </p:cNvSpPr>
          <p:nvPr>
            <p:ph type="title"/>
          </p:nvPr>
        </p:nvSpPr>
        <p:spPr>
          <a:xfrm>
            <a:off x="237331" y="240105"/>
            <a:ext cx="7556500" cy="539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Calibri"/>
              <a:buNone/>
            </a:pPr>
            <a:r>
              <a:rPr lang="en-GB" dirty="0"/>
              <a:t>Future Work</a:t>
            </a:r>
            <a:endParaRPr dirty="0"/>
          </a:p>
        </p:txBody>
      </p:sp>
      <p:sp>
        <p:nvSpPr>
          <p:cNvPr id="614" name="Google Shape;614;p25"/>
          <p:cNvSpPr txBox="1">
            <a:spLocks noGrp="1"/>
          </p:cNvSpPr>
          <p:nvPr>
            <p:ph type="ftr" idx="11"/>
          </p:nvPr>
        </p:nvSpPr>
        <p:spPr>
          <a:xfrm>
            <a:off x="1114426" y="4568400"/>
            <a:ext cx="7042149" cy="576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Evaluation of Quantization Methods for Neural Networks</a:t>
            </a:r>
            <a:endParaRPr/>
          </a:p>
        </p:txBody>
      </p:sp>
      <p:sp>
        <p:nvSpPr>
          <p:cNvPr id="615" name="Google Shape;615;p25"/>
          <p:cNvSpPr txBox="1">
            <a:spLocks noGrp="1"/>
          </p:cNvSpPr>
          <p:nvPr>
            <p:ph type="sldNum" idx="12"/>
          </p:nvPr>
        </p:nvSpPr>
        <p:spPr>
          <a:xfrm>
            <a:off x="2" y="4568400"/>
            <a:ext cx="1114424" cy="572286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75600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25</a:t>
            </a:fld>
            <a:endParaRPr/>
          </a:p>
        </p:txBody>
      </p:sp>
      <p:sp>
        <p:nvSpPr>
          <p:cNvPr id="616" name="Google Shape;616;p25"/>
          <p:cNvSpPr txBox="1"/>
          <p:nvPr/>
        </p:nvSpPr>
        <p:spPr>
          <a:xfrm>
            <a:off x="595675" y="779143"/>
            <a:ext cx="7198156" cy="23082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628650" marR="0" lvl="1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 b="0" i="0" u="none" strike="noStrike" cap="none" dirty="0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Experiment with the </a:t>
            </a:r>
            <a:r>
              <a:rPr lang="en-US" sz="1600" b="0" i="1" u="none" strike="noStrike" cap="none" dirty="0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QKeras</a:t>
            </a:r>
            <a:r>
              <a:rPr lang="en-US" sz="1600" b="0" i="0" u="none" strike="noStrike" cap="none" dirty="0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 framework by building SOTA architectures using </a:t>
            </a:r>
            <a:r>
              <a:rPr lang="en-US" sz="1600" b="0" i="1" u="none" strike="noStrike" cap="none" dirty="0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QKeras</a:t>
            </a:r>
            <a:r>
              <a:rPr lang="en-US" sz="1600" b="0" i="0" u="none" strike="noStrike" cap="none" dirty="0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 layers.</a:t>
            </a:r>
          </a:p>
          <a:p>
            <a:pPr marL="628650" marR="0" lvl="1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Try to fix the error of quantization in </a:t>
            </a:r>
            <a:r>
              <a:rPr lang="en-US" sz="1600" i="1" dirty="0">
                <a:latin typeface="Calibri" panose="020F0502020204030204" pitchFamily="34" charset="0"/>
                <a:cs typeface="Calibri" panose="020F0502020204030204" pitchFamily="34" charset="0"/>
              </a:rPr>
              <a:t>TensorFlow Lite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 for object detection models other than </a:t>
            </a:r>
            <a:r>
              <a:rPr lang="en-US" sz="1600" i="1" dirty="0" err="1">
                <a:latin typeface="Calibri" panose="020F0502020204030204" pitchFamily="34" charset="0"/>
                <a:cs typeface="Calibri" panose="020F0502020204030204" pitchFamily="34" charset="0"/>
              </a:rPr>
              <a:t>SSD_MobileNet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 or find other model architectures that </a:t>
            </a:r>
            <a:r>
              <a:rPr lang="en-US" sz="1600" i="1" dirty="0">
                <a:latin typeface="Calibri" panose="020F0502020204030204" pitchFamily="34" charset="0"/>
                <a:cs typeface="Calibri" panose="020F0502020204030204" pitchFamily="34" charset="0"/>
              </a:rPr>
              <a:t>TensorFlow Lite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 supports. </a:t>
            </a:r>
          </a:p>
          <a:p>
            <a:pPr marL="628650" marR="0" lvl="1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Suspected layers calculated with RMSE and Scale factor did not have an appreciable impact. Exploring other methods might provide a better solution.</a:t>
            </a:r>
          </a:p>
          <a:p>
            <a:pPr marL="628650" marR="0" lvl="1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GB" sz="1600" b="0" i="0" u="none" strike="noStrike" cap="none" dirty="0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Investigate quantization using </a:t>
            </a:r>
            <a:r>
              <a:rPr lang="en-GB" sz="1600" b="0" i="1" u="none" strike="noStrike" cap="none" dirty="0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SQuant</a:t>
            </a:r>
            <a:r>
              <a:rPr lang="en-GB" sz="1600" b="0" i="0" u="none" strike="noStrike" cap="none" dirty="0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 framework for object detection.</a:t>
            </a:r>
            <a:endParaRPr sz="1600" b="0" i="0" u="none" strike="noStrike" cap="none" dirty="0">
              <a:solidFill>
                <a:schemeClr val="dk1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p26"/>
          <p:cNvSpPr txBox="1">
            <a:spLocks noGrp="1"/>
          </p:cNvSpPr>
          <p:nvPr>
            <p:ph type="ctrTitle"/>
          </p:nvPr>
        </p:nvSpPr>
        <p:spPr>
          <a:xfrm>
            <a:off x="-1" y="756049"/>
            <a:ext cx="9143999" cy="792000"/>
          </a:xfrm>
          <a:prstGeom prst="rect">
            <a:avLst/>
          </a:prstGeom>
          <a:solidFill>
            <a:schemeClr val="dk2">
              <a:alpha val="49803"/>
            </a:schemeClr>
          </a:solidFill>
          <a:ln>
            <a:noFill/>
          </a:ln>
        </p:spPr>
        <p:txBody>
          <a:bodyPr spcFirstLastPara="1" wrap="square" lIns="756000" tIns="0" rIns="1962000" bIns="0" anchor="ctr" anchorCtr="0">
            <a:noAutofit/>
          </a:bodyPr>
          <a:lstStyle/>
          <a:p>
            <a:pPr marL="0" lvl="0" indent="0" algn="l" rtl="0">
              <a:lnSpc>
                <a:spcPct val="104545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Arial"/>
              <a:buNone/>
            </a:pPr>
            <a:r>
              <a:rPr lang="en-GB">
                <a:latin typeface="Arial"/>
                <a:ea typeface="Arial"/>
                <a:cs typeface="Arial"/>
                <a:sym typeface="Arial"/>
              </a:rPr>
              <a:t>Thank you</a:t>
            </a:r>
            <a:endParaRPr/>
          </a:p>
        </p:txBody>
      </p:sp>
      <p:sp>
        <p:nvSpPr>
          <p:cNvPr id="623" name="Google Shape;623;p26"/>
          <p:cNvSpPr txBox="1">
            <a:spLocks noGrp="1"/>
          </p:cNvSpPr>
          <p:nvPr>
            <p:ph type="body" idx="3"/>
          </p:nvPr>
        </p:nvSpPr>
        <p:spPr>
          <a:xfrm>
            <a:off x="-6667" y="4567237"/>
            <a:ext cx="7347267" cy="57626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756000" tIns="0" rIns="0" bIns="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US" dirty="0"/>
              <a:t>Department of Mathematics and Computer Science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p27"/>
          <p:cNvSpPr txBox="1">
            <a:spLocks noGrp="1"/>
          </p:cNvSpPr>
          <p:nvPr>
            <p:ph type="title"/>
          </p:nvPr>
        </p:nvSpPr>
        <p:spPr>
          <a:xfrm>
            <a:off x="237331" y="240105"/>
            <a:ext cx="7556500" cy="539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Calibri"/>
              <a:buNone/>
            </a:pPr>
            <a:r>
              <a:rPr lang="en-GB"/>
              <a:t>Slides for defense questions</a:t>
            </a:r>
            <a:endParaRPr/>
          </a:p>
        </p:txBody>
      </p:sp>
      <p:sp>
        <p:nvSpPr>
          <p:cNvPr id="630" name="Google Shape;630;p27"/>
          <p:cNvSpPr txBox="1">
            <a:spLocks noGrp="1"/>
          </p:cNvSpPr>
          <p:nvPr>
            <p:ph type="ftr" idx="11"/>
          </p:nvPr>
        </p:nvSpPr>
        <p:spPr>
          <a:xfrm>
            <a:off x="1114426" y="4568400"/>
            <a:ext cx="7042149" cy="576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Evaluation of Quantization Methods for Neural Networks</a:t>
            </a:r>
            <a:endParaRPr/>
          </a:p>
        </p:txBody>
      </p:sp>
      <p:sp>
        <p:nvSpPr>
          <p:cNvPr id="631" name="Google Shape;631;p27"/>
          <p:cNvSpPr txBox="1">
            <a:spLocks noGrp="1"/>
          </p:cNvSpPr>
          <p:nvPr>
            <p:ph type="sldNum" idx="12"/>
          </p:nvPr>
        </p:nvSpPr>
        <p:spPr>
          <a:xfrm>
            <a:off x="2" y="4568400"/>
            <a:ext cx="1114424" cy="572286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75600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27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Google Shape;637;p28"/>
          <p:cNvSpPr/>
          <p:nvPr/>
        </p:nvSpPr>
        <p:spPr>
          <a:xfrm>
            <a:off x="771525" y="1128713"/>
            <a:ext cx="3128963" cy="2657475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91121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8" name="Google Shape;638;p28"/>
          <p:cNvSpPr txBox="1">
            <a:spLocks noGrp="1"/>
          </p:cNvSpPr>
          <p:nvPr>
            <p:ph type="title"/>
          </p:nvPr>
        </p:nvSpPr>
        <p:spPr>
          <a:xfrm>
            <a:off x="237331" y="240105"/>
            <a:ext cx="7556500" cy="539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Calibri"/>
              <a:buNone/>
            </a:pPr>
            <a:r>
              <a:rPr lang="en-GB"/>
              <a:t>Quantization simulation</a:t>
            </a:r>
            <a:endParaRPr/>
          </a:p>
        </p:txBody>
      </p:sp>
      <p:sp>
        <p:nvSpPr>
          <p:cNvPr id="639" name="Google Shape;639;p28"/>
          <p:cNvSpPr txBox="1">
            <a:spLocks noGrp="1"/>
          </p:cNvSpPr>
          <p:nvPr>
            <p:ph type="ftr" idx="11"/>
          </p:nvPr>
        </p:nvSpPr>
        <p:spPr>
          <a:xfrm>
            <a:off x="1114426" y="4568400"/>
            <a:ext cx="7042149" cy="576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Evaluation of Quantization Methods for Neural Networks</a:t>
            </a:r>
            <a:endParaRPr/>
          </a:p>
        </p:txBody>
      </p:sp>
      <p:sp>
        <p:nvSpPr>
          <p:cNvPr id="640" name="Google Shape;640;p28"/>
          <p:cNvSpPr txBox="1">
            <a:spLocks noGrp="1"/>
          </p:cNvSpPr>
          <p:nvPr>
            <p:ph type="sldNum" idx="12"/>
          </p:nvPr>
        </p:nvSpPr>
        <p:spPr>
          <a:xfrm>
            <a:off x="2" y="4568400"/>
            <a:ext cx="1114424" cy="572286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75600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28</a:t>
            </a:fld>
            <a:endParaRPr/>
          </a:p>
        </p:txBody>
      </p:sp>
      <p:sp>
        <p:nvSpPr>
          <p:cNvPr id="641" name="Google Shape;641;p28"/>
          <p:cNvSpPr/>
          <p:nvPr/>
        </p:nvSpPr>
        <p:spPr>
          <a:xfrm>
            <a:off x="1178718" y="1645071"/>
            <a:ext cx="2464594" cy="68580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91121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Quantization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2" name="Google Shape;642;p28"/>
          <p:cNvSpPr/>
          <p:nvPr/>
        </p:nvSpPr>
        <p:spPr>
          <a:xfrm>
            <a:off x="1178718" y="2641047"/>
            <a:ext cx="2464594" cy="68580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91121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5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Dequantization</a:t>
            </a:r>
            <a:endParaRPr sz="1350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3" name="Google Shape;643;p28"/>
          <p:cNvSpPr txBox="1"/>
          <p:nvPr/>
        </p:nvSpPr>
        <p:spPr>
          <a:xfrm>
            <a:off x="1178718" y="1184854"/>
            <a:ext cx="239315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Quantizer function</a:t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44" name="Google Shape;644;p28"/>
          <p:cNvCxnSpPr>
            <a:stCxn id="641" idx="2"/>
          </p:cNvCxnSpPr>
          <p:nvPr/>
        </p:nvCxnSpPr>
        <p:spPr>
          <a:xfrm>
            <a:off x="2411015" y="2330871"/>
            <a:ext cx="0" cy="310200"/>
          </a:xfrm>
          <a:prstGeom prst="straightConnector1">
            <a:avLst/>
          </a:prstGeom>
          <a:noFill/>
          <a:ln w="41275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645" name="Google Shape;645;p28"/>
          <p:cNvSpPr/>
          <p:nvPr/>
        </p:nvSpPr>
        <p:spPr>
          <a:xfrm>
            <a:off x="4414837" y="2044102"/>
            <a:ext cx="2250282" cy="893977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91121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Unique set of quantization parameters</a:t>
            </a:r>
            <a:endParaRPr sz="135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46" name="Google Shape;646;p28"/>
          <p:cNvCxnSpPr>
            <a:stCxn id="645" idx="1"/>
            <a:endCxn id="641" idx="3"/>
          </p:cNvCxnSpPr>
          <p:nvPr/>
        </p:nvCxnSpPr>
        <p:spPr>
          <a:xfrm rot="10800000">
            <a:off x="3643237" y="1987991"/>
            <a:ext cx="771600" cy="503100"/>
          </a:xfrm>
          <a:prstGeom prst="bentConnector3">
            <a:avLst>
              <a:gd name="adj1" fmla="val 50000"/>
            </a:avLst>
          </a:prstGeom>
          <a:noFill/>
          <a:ln w="28575" cap="flat" cmpd="sng">
            <a:solidFill>
              <a:schemeClr val="dk1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cxnSp>
        <p:nvCxnSpPr>
          <p:cNvPr id="647" name="Google Shape;647;p28"/>
          <p:cNvCxnSpPr>
            <a:stCxn id="645" idx="1"/>
            <a:endCxn id="642" idx="3"/>
          </p:cNvCxnSpPr>
          <p:nvPr/>
        </p:nvCxnSpPr>
        <p:spPr>
          <a:xfrm flipH="1">
            <a:off x="3643237" y="2491091"/>
            <a:ext cx="771600" cy="492900"/>
          </a:xfrm>
          <a:prstGeom prst="bentConnector3">
            <a:avLst>
              <a:gd name="adj1" fmla="val 50000"/>
            </a:avLst>
          </a:prstGeom>
          <a:noFill/>
          <a:ln w="28575" cap="flat" cmpd="sng">
            <a:solidFill>
              <a:schemeClr val="dk1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p27"/>
          <p:cNvSpPr txBox="1">
            <a:spLocks noGrp="1"/>
          </p:cNvSpPr>
          <p:nvPr>
            <p:ph type="title"/>
          </p:nvPr>
        </p:nvSpPr>
        <p:spPr>
          <a:xfrm>
            <a:off x="237331" y="240105"/>
            <a:ext cx="7556500" cy="539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Calibri"/>
              <a:buNone/>
            </a:pPr>
            <a:r>
              <a:rPr lang="en-GB" dirty="0"/>
              <a:t>Suspected Layers</a:t>
            </a:r>
            <a:endParaRPr dirty="0"/>
          </a:p>
        </p:txBody>
      </p:sp>
      <p:sp>
        <p:nvSpPr>
          <p:cNvPr id="630" name="Google Shape;630;p27"/>
          <p:cNvSpPr txBox="1">
            <a:spLocks noGrp="1"/>
          </p:cNvSpPr>
          <p:nvPr>
            <p:ph type="ftr" idx="11"/>
          </p:nvPr>
        </p:nvSpPr>
        <p:spPr>
          <a:xfrm>
            <a:off x="1114426" y="4568400"/>
            <a:ext cx="7042149" cy="576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Evaluation of Quantization Methods for Neural Networks</a:t>
            </a:r>
            <a:endParaRPr/>
          </a:p>
        </p:txBody>
      </p:sp>
      <p:sp>
        <p:nvSpPr>
          <p:cNvPr id="631" name="Google Shape;631;p27"/>
          <p:cNvSpPr txBox="1">
            <a:spLocks noGrp="1"/>
          </p:cNvSpPr>
          <p:nvPr>
            <p:ph type="sldNum" idx="12"/>
          </p:nvPr>
        </p:nvSpPr>
        <p:spPr>
          <a:xfrm>
            <a:off x="2" y="4568400"/>
            <a:ext cx="1114424" cy="572286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75600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29</a:t>
            </a:fld>
            <a:endParaRPr/>
          </a:p>
        </p:txBody>
      </p:sp>
      <p:graphicFrame>
        <p:nvGraphicFramePr>
          <p:cNvPr id="3" name="Google Shape;299;p8">
            <a:extLst>
              <a:ext uri="{FF2B5EF4-FFF2-40B4-BE49-F238E27FC236}">
                <a16:creationId xmlns:a16="http://schemas.microsoft.com/office/drawing/2014/main" id="{EF9A4137-609C-F92A-5AF8-44D718AA352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35524467"/>
              </p:ext>
            </p:extLst>
          </p:nvPr>
        </p:nvGraphicFramePr>
        <p:xfrm>
          <a:off x="4365734" y="194349"/>
          <a:ext cx="858709" cy="2758540"/>
        </p:xfrm>
        <a:graphic>
          <a:graphicData uri="http://schemas.openxmlformats.org/drawingml/2006/table">
            <a:tbl>
              <a:tblPr firstRow="1" bandRow="1">
                <a:noFill/>
                <a:tableStyleId>{2525947D-79E6-44B2-B12A-532D9E6C3FB6}</a:tableStyleId>
              </a:tblPr>
              <a:tblGrid>
                <a:gridCol w="8587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37386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rPr lang="en-GB" sz="1100" u="none" strike="noStrike" cap="none" dirty="0"/>
                        <a:t>32-bit float precision</a:t>
                      </a:r>
                      <a:endParaRPr sz="1100" u="none" strike="noStrike" cap="none" dirty="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5887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/>
                        <a:t>0.254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3217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 dirty="0"/>
                        <a:t>0.278</a:t>
                      </a:r>
                      <a:endParaRPr dirty="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3217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/>
                        <a:t>0.494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3217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/>
                        <a:t>0.426</a:t>
                      </a:r>
                      <a:endParaRPr sz="1100" u="none" strike="noStrike" cap="none">
                        <a:solidFill>
                          <a:schemeClr val="lt1"/>
                        </a:solidFill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53217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/>
                        <a:t>0.631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53217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/>
                        <a:t>0.165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53217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/>
                        <a:t>0.512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53217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/>
                        <a:t>0.505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53217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 dirty="0"/>
                        <a:t>0.306</a:t>
                      </a:r>
                      <a:endParaRPr dirty="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5" name="Google Shape;301;p8">
            <a:extLst>
              <a:ext uri="{FF2B5EF4-FFF2-40B4-BE49-F238E27FC236}">
                <a16:creationId xmlns:a16="http://schemas.microsoft.com/office/drawing/2014/main" id="{CBE554A2-EA23-DA2C-A9DC-2D2CE456CCB2}"/>
              </a:ext>
            </a:extLst>
          </p:cNvPr>
          <p:cNvSpPr txBox="1"/>
          <p:nvPr/>
        </p:nvSpPr>
        <p:spPr>
          <a:xfrm>
            <a:off x="5579502" y="524113"/>
            <a:ext cx="2350656" cy="246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Quantized and then dequantized</a:t>
            </a:r>
            <a:endParaRPr sz="1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8" name="Google Shape;306;p8">
            <a:extLst>
              <a:ext uri="{FF2B5EF4-FFF2-40B4-BE49-F238E27FC236}">
                <a16:creationId xmlns:a16="http://schemas.microsoft.com/office/drawing/2014/main" id="{B532B6A0-05C9-CD1A-C72E-8527D7220F8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19664496"/>
              </p:ext>
            </p:extLst>
          </p:nvPr>
        </p:nvGraphicFramePr>
        <p:xfrm>
          <a:off x="7985049" y="240105"/>
          <a:ext cx="858709" cy="2758540"/>
        </p:xfrm>
        <a:graphic>
          <a:graphicData uri="http://schemas.openxmlformats.org/drawingml/2006/table">
            <a:tbl>
              <a:tblPr firstRow="1" bandRow="1">
                <a:noFill/>
                <a:tableStyleId>{2525947D-79E6-44B2-B12A-532D9E6C3FB6}</a:tableStyleId>
              </a:tblPr>
              <a:tblGrid>
                <a:gridCol w="8587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37386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rPr lang="en-GB" sz="1100" u="none" strike="noStrike" cap="none" dirty="0"/>
                        <a:t>32-bit float precision</a:t>
                      </a:r>
                      <a:endParaRPr sz="1100" u="none" strike="noStrike" cap="none" dirty="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413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>
                          <a:solidFill>
                            <a:schemeClr val="dk2"/>
                          </a:solidFill>
                        </a:rPr>
                        <a:t>0.255</a:t>
                      </a:r>
                      <a:endParaRPr sz="1100" u="none" strike="noStrike" cap="none">
                        <a:solidFill>
                          <a:schemeClr val="dk2"/>
                        </a:solidFill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9754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 dirty="0"/>
                        <a:t>0.278</a:t>
                      </a:r>
                      <a:endParaRPr dirty="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9754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/>
                        <a:t>0.494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9754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>
                          <a:solidFill>
                            <a:schemeClr val="dk2"/>
                          </a:solidFill>
                        </a:rPr>
                        <a:t>0.427</a:t>
                      </a:r>
                      <a:endParaRPr sz="1100" u="none" strike="noStrike" cap="none">
                        <a:solidFill>
                          <a:schemeClr val="dk2"/>
                        </a:solidFill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49754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/>
                        <a:t>0.631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49754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/>
                        <a:t>0.165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49754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>
                          <a:solidFill>
                            <a:schemeClr val="dk2"/>
                          </a:solidFill>
                        </a:rPr>
                        <a:t>0.514</a:t>
                      </a:r>
                      <a:endParaRPr sz="1100" u="none" strike="noStrike" cap="none">
                        <a:solidFill>
                          <a:schemeClr val="dk2"/>
                        </a:solidFill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49754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>
                          <a:solidFill>
                            <a:schemeClr val="dk2"/>
                          </a:solidFill>
                        </a:rPr>
                        <a:t>0.506</a:t>
                      </a:r>
                      <a:endParaRPr sz="1100" u="none" strike="noStrike" cap="none">
                        <a:solidFill>
                          <a:schemeClr val="dk2"/>
                        </a:solidFill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49754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 dirty="0"/>
                        <a:t>0.306</a:t>
                      </a:r>
                      <a:endParaRPr dirty="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9" name="Google Shape;310;p8">
            <a:extLst>
              <a:ext uri="{FF2B5EF4-FFF2-40B4-BE49-F238E27FC236}">
                <a16:creationId xmlns:a16="http://schemas.microsoft.com/office/drawing/2014/main" id="{2C121042-3818-41DB-A8D9-FB9376D4A372}"/>
              </a:ext>
            </a:extLst>
          </p:cNvPr>
          <p:cNvSpPr/>
          <p:nvPr/>
        </p:nvSpPr>
        <p:spPr>
          <a:xfrm>
            <a:off x="5610846" y="927093"/>
            <a:ext cx="2010172" cy="258506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12700" cap="flat" cmpd="sng">
            <a:solidFill>
              <a:srgbClr val="91121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Right Brace 9">
            <a:extLst>
              <a:ext uri="{FF2B5EF4-FFF2-40B4-BE49-F238E27FC236}">
                <a16:creationId xmlns:a16="http://schemas.microsoft.com/office/drawing/2014/main" id="{48FF0253-CDCB-6C7B-6BDA-AF8C037D4953}"/>
              </a:ext>
            </a:extLst>
          </p:cNvPr>
          <p:cNvSpPr/>
          <p:nvPr/>
        </p:nvSpPr>
        <p:spPr>
          <a:xfrm rot="5400000">
            <a:off x="6362787" y="1033607"/>
            <a:ext cx="591384" cy="4768382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58F2DF5-62D5-12E7-C004-585E812F882D}"/>
                  </a:ext>
                </a:extLst>
              </p:cNvPr>
              <p:cNvSpPr txBox="1"/>
              <p:nvPr/>
            </p:nvSpPr>
            <p:spPr>
              <a:xfrm>
                <a:off x="6409425" y="3817779"/>
                <a:ext cx="557845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>
                          <a:latin typeface="Cambria Math" panose="02040503050406030204" pitchFamily="18" charset="0"/>
                        </a:rPr>
                        <m:t>𝑹𝑴𝑺𝑬</m:t>
                      </m:r>
                    </m:oMath>
                  </m:oMathPara>
                </a14:m>
                <a:endParaRPr lang="en-NL" b="1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58F2DF5-62D5-12E7-C004-585E812F88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9425" y="3817779"/>
                <a:ext cx="557845" cy="215444"/>
              </a:xfrm>
              <a:prstGeom prst="rect">
                <a:avLst/>
              </a:prstGeom>
              <a:blipFill>
                <a:blip r:embed="rId3"/>
                <a:stretch>
                  <a:fillRect l="-6522" r="-4348" b="-5556"/>
                </a:stretch>
              </a:blipFill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>
            <a:extLst>
              <a:ext uri="{FF2B5EF4-FFF2-40B4-BE49-F238E27FC236}">
                <a16:creationId xmlns:a16="http://schemas.microsoft.com/office/drawing/2014/main" id="{C08D36EA-3C50-426C-C03A-36D6767DCBB0}"/>
              </a:ext>
            </a:extLst>
          </p:cNvPr>
          <p:cNvSpPr txBox="1"/>
          <p:nvPr/>
        </p:nvSpPr>
        <p:spPr>
          <a:xfrm>
            <a:off x="286282" y="1148366"/>
            <a:ext cx="3340951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/>
              <a:t>Step 1</a:t>
            </a:r>
            <a:r>
              <a:rPr lang="en-US" sz="1200" dirty="0"/>
              <a:t>:</a:t>
            </a:r>
          </a:p>
          <a:p>
            <a:r>
              <a:rPr lang="en-US" sz="1200" dirty="0"/>
              <a:t>Quantize and dequantize the NN each layer of the NN.</a:t>
            </a:r>
          </a:p>
          <a:p>
            <a:r>
              <a:rPr lang="en-US" sz="1200" dirty="0"/>
              <a:t>          Calculate RMSE and quantization parameters.</a:t>
            </a:r>
          </a:p>
          <a:p>
            <a:endParaRPr lang="en-US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/>
              <a:t>Step 2</a:t>
            </a:r>
            <a:r>
              <a:rPr lang="en-US" sz="1200" dirty="0"/>
              <a:t>: </a:t>
            </a:r>
          </a:p>
          <a:p>
            <a:r>
              <a:rPr lang="en-US" sz="1200" dirty="0"/>
              <a:t>The threshold is calculated for each layer in the NN.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/>
              <a:t>Step 3</a:t>
            </a:r>
            <a:r>
              <a:rPr lang="en-US" sz="1200" dirty="0"/>
              <a:t>:</a:t>
            </a:r>
          </a:p>
          <a:p>
            <a:r>
              <a:rPr lang="en-US" sz="1200" b="1" i="1" dirty="0"/>
              <a:t>For</a:t>
            </a:r>
            <a:r>
              <a:rPr lang="en-US" sz="1200" dirty="0"/>
              <a:t> each layers in the NN </a:t>
            </a:r>
            <a:r>
              <a:rPr lang="en-US" sz="1200" b="1" i="1" dirty="0"/>
              <a:t>:</a:t>
            </a:r>
          </a:p>
          <a:p>
            <a:pPr lvl="7"/>
            <a:r>
              <a:rPr lang="en-US" sz="1200" i="1" dirty="0"/>
              <a:t>   </a:t>
            </a:r>
            <a:r>
              <a:rPr lang="en-US" sz="1200" b="1" i="1" dirty="0"/>
              <a:t>If</a:t>
            </a:r>
            <a:r>
              <a:rPr lang="en-US" sz="1200" b="1" dirty="0"/>
              <a:t> </a:t>
            </a:r>
            <a:r>
              <a:rPr lang="en-US" sz="1200" i="1" dirty="0"/>
              <a:t>Threshold </a:t>
            </a:r>
            <a:r>
              <a:rPr lang="en-US" sz="1200" dirty="0"/>
              <a:t>of a layer &gt; 0.7 </a:t>
            </a:r>
            <a:r>
              <a:rPr lang="en-US" sz="1200" b="1" i="1" dirty="0"/>
              <a:t>:</a:t>
            </a:r>
          </a:p>
          <a:p>
            <a:pPr lvl="7"/>
            <a:r>
              <a:rPr lang="en-US" sz="1200" b="1" dirty="0"/>
              <a:t>            </a:t>
            </a:r>
            <a:r>
              <a:rPr lang="en-US" sz="1200" dirty="0"/>
              <a:t>Do not quantize the layer</a:t>
            </a:r>
          </a:p>
          <a:p>
            <a:pPr lvl="7"/>
            <a:r>
              <a:rPr lang="en-US" sz="1200" i="1" dirty="0"/>
              <a:t>   </a:t>
            </a:r>
            <a:r>
              <a:rPr lang="en-US" sz="1200" b="1" i="1" dirty="0"/>
              <a:t>Else</a:t>
            </a:r>
            <a:r>
              <a:rPr lang="en-US" sz="1200" dirty="0"/>
              <a:t> </a:t>
            </a:r>
            <a:r>
              <a:rPr lang="en-US" sz="1200" b="1" i="1" dirty="0"/>
              <a:t>:</a:t>
            </a:r>
          </a:p>
          <a:p>
            <a:pPr lvl="7"/>
            <a:r>
              <a:rPr lang="en-US" sz="1200" dirty="0"/>
              <a:t>            Quantize the layer</a:t>
            </a:r>
            <a:endParaRPr lang="en-NL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NL" sz="1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4DA2AEC4-EC84-0347-0F45-1173FD3012EF}"/>
                  </a:ext>
                </a:extLst>
              </p:cNvPr>
              <p:cNvSpPr txBox="1"/>
              <p:nvPr/>
            </p:nvSpPr>
            <p:spPr>
              <a:xfrm>
                <a:off x="817349" y="2912278"/>
                <a:ext cx="2119423" cy="44249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𝑇h𝑟𝑒𝑠h𝑜𝑙𝑑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𝑅𝑀𝑆𝐸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𝑆𝑐𝑎𝑙𝑒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𝑓𝑎𝑐𝑡𝑜𝑟</m:t>
                          </m:r>
                        </m:den>
                      </m:f>
                    </m:oMath>
                  </m:oMathPara>
                </a14:m>
                <a:endParaRPr lang="en-NL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4DA2AEC4-EC84-0347-0F45-1173FD3012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7349" y="2912278"/>
                <a:ext cx="2119423" cy="442493"/>
              </a:xfrm>
              <a:prstGeom prst="rect">
                <a:avLst/>
              </a:prstGeom>
              <a:blipFill>
                <a:blip r:embed="rId4"/>
                <a:stretch>
                  <a:fillRect l="-1149" t="-1389" r="-1724" b="-16667"/>
                </a:stretch>
              </a:blipFill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Google Shape;521;p20">
            <a:extLst>
              <a:ext uri="{FF2B5EF4-FFF2-40B4-BE49-F238E27FC236}">
                <a16:creationId xmlns:a16="http://schemas.microsoft.com/office/drawing/2014/main" id="{412F6FD8-2DFC-77AA-74FB-428E1ED53F45}"/>
              </a:ext>
            </a:extLst>
          </p:cNvPr>
          <p:cNvSpPr/>
          <p:nvPr/>
        </p:nvSpPr>
        <p:spPr>
          <a:xfrm>
            <a:off x="2936772" y="3669096"/>
            <a:ext cx="751123" cy="441703"/>
          </a:xfrm>
          <a:prstGeom prst="wedgeRoundRectCallout">
            <a:avLst>
              <a:gd name="adj1" fmla="val -124830"/>
              <a:gd name="adj2" fmla="val 17880"/>
              <a:gd name="adj3" fmla="val 16667"/>
            </a:avLst>
          </a:prstGeom>
          <a:solidFill>
            <a:schemeClr val="accent1"/>
          </a:solidFill>
          <a:ln w="12700" cap="flat" cmpd="sng">
            <a:solidFill>
              <a:srgbClr val="91121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chemeClr val="bg1"/>
                </a:solidFill>
              </a:rPr>
              <a:t>User defined</a:t>
            </a:r>
            <a:endParaRPr sz="1100" dirty="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0583905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Google Shape;653;p29"/>
          <p:cNvSpPr txBox="1">
            <a:spLocks noGrp="1"/>
          </p:cNvSpPr>
          <p:nvPr>
            <p:ph type="title"/>
          </p:nvPr>
        </p:nvSpPr>
        <p:spPr>
          <a:xfrm>
            <a:off x="237331" y="240105"/>
            <a:ext cx="7556500" cy="539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Calibri"/>
              <a:buNone/>
            </a:pPr>
            <a:r>
              <a:rPr lang="en-GB"/>
              <a:t>QAT</a:t>
            </a:r>
            <a:endParaRPr/>
          </a:p>
        </p:txBody>
      </p:sp>
      <p:sp>
        <p:nvSpPr>
          <p:cNvPr id="654" name="Google Shape;654;p29"/>
          <p:cNvSpPr txBox="1">
            <a:spLocks noGrp="1"/>
          </p:cNvSpPr>
          <p:nvPr>
            <p:ph type="ftr" idx="11"/>
          </p:nvPr>
        </p:nvSpPr>
        <p:spPr>
          <a:xfrm>
            <a:off x="1114426" y="4568400"/>
            <a:ext cx="7042149" cy="576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Evaluation of Quantization Methods for Neural Networks</a:t>
            </a:r>
            <a:endParaRPr/>
          </a:p>
        </p:txBody>
      </p:sp>
      <p:sp>
        <p:nvSpPr>
          <p:cNvPr id="655" name="Google Shape;655;p29"/>
          <p:cNvSpPr txBox="1">
            <a:spLocks noGrp="1"/>
          </p:cNvSpPr>
          <p:nvPr>
            <p:ph type="sldNum" idx="12"/>
          </p:nvPr>
        </p:nvSpPr>
        <p:spPr>
          <a:xfrm>
            <a:off x="2" y="4568400"/>
            <a:ext cx="1114424" cy="572286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75600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30</a:t>
            </a:fld>
            <a:endParaRPr/>
          </a:p>
        </p:txBody>
      </p:sp>
      <p:pic>
        <p:nvPicPr>
          <p:cNvPr id="656" name="Google Shape;656;p2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1487" y="953948"/>
            <a:ext cx="7210425" cy="3067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p30"/>
          <p:cNvSpPr txBox="1">
            <a:spLocks noGrp="1"/>
          </p:cNvSpPr>
          <p:nvPr>
            <p:ph type="title"/>
          </p:nvPr>
        </p:nvSpPr>
        <p:spPr>
          <a:xfrm>
            <a:off x="237331" y="240105"/>
            <a:ext cx="7556500" cy="539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Calibri"/>
              <a:buNone/>
            </a:pPr>
            <a:r>
              <a:rPr lang="en-GB"/>
              <a:t>PTQ</a:t>
            </a:r>
            <a:endParaRPr/>
          </a:p>
        </p:txBody>
      </p:sp>
      <p:sp>
        <p:nvSpPr>
          <p:cNvPr id="663" name="Google Shape;663;p30"/>
          <p:cNvSpPr txBox="1">
            <a:spLocks noGrp="1"/>
          </p:cNvSpPr>
          <p:nvPr>
            <p:ph type="ftr" idx="11"/>
          </p:nvPr>
        </p:nvSpPr>
        <p:spPr>
          <a:xfrm>
            <a:off x="1114426" y="4568400"/>
            <a:ext cx="7042149" cy="576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Evaluation of Quantization Methods for Neural Networks</a:t>
            </a:r>
            <a:endParaRPr/>
          </a:p>
        </p:txBody>
      </p:sp>
      <p:sp>
        <p:nvSpPr>
          <p:cNvPr id="664" name="Google Shape;664;p30"/>
          <p:cNvSpPr txBox="1">
            <a:spLocks noGrp="1"/>
          </p:cNvSpPr>
          <p:nvPr>
            <p:ph type="sldNum" idx="12"/>
          </p:nvPr>
        </p:nvSpPr>
        <p:spPr>
          <a:xfrm>
            <a:off x="2" y="4568400"/>
            <a:ext cx="1114424" cy="572286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75600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31</a:t>
            </a:fld>
            <a:endParaRPr/>
          </a:p>
        </p:txBody>
      </p:sp>
      <p:pic>
        <p:nvPicPr>
          <p:cNvPr id="665" name="Google Shape;665;p3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68325" y="779143"/>
            <a:ext cx="8134350" cy="1009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Google Shape;671;p31"/>
          <p:cNvSpPr txBox="1">
            <a:spLocks noGrp="1"/>
          </p:cNvSpPr>
          <p:nvPr>
            <p:ph type="title"/>
          </p:nvPr>
        </p:nvSpPr>
        <p:spPr>
          <a:xfrm>
            <a:off x="237331" y="240105"/>
            <a:ext cx="7556500" cy="539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Calibri"/>
              <a:buNone/>
            </a:pPr>
            <a:r>
              <a:rPr lang="en-GB"/>
              <a:t>Types of Quantization</a:t>
            </a:r>
            <a:endParaRPr/>
          </a:p>
        </p:txBody>
      </p:sp>
      <p:sp>
        <p:nvSpPr>
          <p:cNvPr id="672" name="Google Shape;672;p31"/>
          <p:cNvSpPr txBox="1">
            <a:spLocks noGrp="1"/>
          </p:cNvSpPr>
          <p:nvPr>
            <p:ph type="ftr" idx="11"/>
          </p:nvPr>
        </p:nvSpPr>
        <p:spPr>
          <a:xfrm>
            <a:off x="1114426" y="4568400"/>
            <a:ext cx="7042149" cy="576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Evaluation of Quantization Methods for Neural Networks</a:t>
            </a:r>
            <a:endParaRPr/>
          </a:p>
        </p:txBody>
      </p:sp>
      <p:sp>
        <p:nvSpPr>
          <p:cNvPr id="673" name="Google Shape;673;p31"/>
          <p:cNvSpPr txBox="1">
            <a:spLocks noGrp="1"/>
          </p:cNvSpPr>
          <p:nvPr>
            <p:ph type="sldNum" idx="12"/>
          </p:nvPr>
        </p:nvSpPr>
        <p:spPr>
          <a:xfrm>
            <a:off x="2" y="4568400"/>
            <a:ext cx="1114424" cy="572286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75600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32</a:t>
            </a:fld>
            <a:endParaRPr/>
          </a:p>
        </p:txBody>
      </p:sp>
      <p:pic>
        <p:nvPicPr>
          <p:cNvPr id="674" name="Google Shape;674;p3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10430" y="952907"/>
            <a:ext cx="2466975" cy="2466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75" name="Google Shape;675;p3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592591" y="1068086"/>
            <a:ext cx="2486025" cy="2466975"/>
          </a:xfrm>
          <a:prstGeom prst="rect">
            <a:avLst/>
          </a:prstGeom>
          <a:noFill/>
          <a:ln>
            <a:noFill/>
          </a:ln>
        </p:spPr>
      </p:pic>
      <p:sp>
        <p:nvSpPr>
          <p:cNvPr id="676" name="Google Shape;676;p31"/>
          <p:cNvSpPr txBox="1"/>
          <p:nvPr/>
        </p:nvSpPr>
        <p:spPr>
          <a:xfrm>
            <a:off x="1446677" y="3497060"/>
            <a:ext cx="1859280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Uniform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7" name="Google Shape;677;p31"/>
          <p:cNvSpPr txBox="1"/>
          <p:nvPr/>
        </p:nvSpPr>
        <p:spPr>
          <a:xfrm>
            <a:off x="5905963" y="3513401"/>
            <a:ext cx="1859280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Non-uniform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Google Shape;682;p32"/>
          <p:cNvSpPr txBox="1">
            <a:spLocks noGrp="1"/>
          </p:cNvSpPr>
          <p:nvPr>
            <p:ph type="title"/>
          </p:nvPr>
        </p:nvSpPr>
        <p:spPr>
          <a:xfrm>
            <a:off x="237330" y="240105"/>
            <a:ext cx="8956675" cy="539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642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GB" sz="2800"/>
              <a:t>Examples quantization functions</a:t>
            </a:r>
            <a:endParaRPr/>
          </a:p>
        </p:txBody>
      </p:sp>
      <p:sp>
        <p:nvSpPr>
          <p:cNvPr id="683" name="Google Shape;683;p32"/>
          <p:cNvSpPr txBox="1">
            <a:spLocks noGrp="1"/>
          </p:cNvSpPr>
          <p:nvPr>
            <p:ph type="ftr" idx="11"/>
          </p:nvPr>
        </p:nvSpPr>
        <p:spPr>
          <a:xfrm>
            <a:off x="1114426" y="4568400"/>
            <a:ext cx="7042149" cy="576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Evaluation of Quantization Methods for Neural Networks</a:t>
            </a:r>
            <a:endParaRPr/>
          </a:p>
        </p:txBody>
      </p:sp>
      <p:sp>
        <p:nvSpPr>
          <p:cNvPr id="684" name="Google Shape;684;p32"/>
          <p:cNvSpPr txBox="1">
            <a:spLocks noGrp="1"/>
          </p:cNvSpPr>
          <p:nvPr>
            <p:ph type="sldNum" idx="12"/>
          </p:nvPr>
        </p:nvSpPr>
        <p:spPr>
          <a:xfrm>
            <a:off x="2" y="4568400"/>
            <a:ext cx="1114424" cy="572286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75600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33</a:t>
            </a:fld>
            <a:endParaRPr/>
          </a:p>
        </p:txBody>
      </p:sp>
      <p:sp>
        <p:nvSpPr>
          <p:cNvPr id="685" name="Google Shape;685;p32"/>
          <p:cNvSpPr txBox="1"/>
          <p:nvPr/>
        </p:nvSpPr>
        <p:spPr>
          <a:xfrm>
            <a:off x="1114426" y="4568400"/>
            <a:ext cx="7042149" cy="576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b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Evaluation of Quantization methods for Neural Network</a:t>
            </a:r>
            <a:endParaRPr sz="1100" b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6" name="Google Shape;686;p32"/>
          <p:cNvSpPr txBox="1"/>
          <p:nvPr/>
        </p:nvSpPr>
        <p:spPr>
          <a:xfrm>
            <a:off x="2" y="4568400"/>
            <a:ext cx="1114424" cy="572286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75600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100" b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33</a:t>
            </a:fld>
            <a:endParaRPr sz="1100" b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7" name="Google Shape;687;p32"/>
          <p:cNvSpPr txBox="1"/>
          <p:nvPr/>
        </p:nvSpPr>
        <p:spPr>
          <a:xfrm>
            <a:off x="1114426" y="4568400"/>
            <a:ext cx="7042149" cy="576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b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Evaluation of Quantization methods for Neural Network</a:t>
            </a:r>
            <a:endParaRPr sz="1100" b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8" name="Google Shape;688;p32"/>
          <p:cNvSpPr txBox="1"/>
          <p:nvPr/>
        </p:nvSpPr>
        <p:spPr>
          <a:xfrm>
            <a:off x="2" y="4568400"/>
            <a:ext cx="1114424" cy="572286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75600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100" b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33</a:t>
            </a:fld>
            <a:endParaRPr sz="1100" b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9" name="Google Shape;689;p32"/>
          <p:cNvSpPr txBox="1"/>
          <p:nvPr/>
        </p:nvSpPr>
        <p:spPr>
          <a:xfrm>
            <a:off x="458902" y="1316416"/>
            <a:ext cx="4484217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Quantization function :Uniform:- </a:t>
            </a:r>
            <a:r>
              <a:rPr lang="en-GB" sz="1350" i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Quantized_bits</a:t>
            </a:r>
            <a:endParaRPr sz="1350" i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90" name="Google Shape;690;p3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15182" y="1241962"/>
            <a:ext cx="3821064" cy="773468"/>
          </a:xfrm>
          <a:prstGeom prst="rect">
            <a:avLst/>
          </a:prstGeom>
          <a:noFill/>
          <a:ln>
            <a:noFill/>
          </a:ln>
        </p:spPr>
      </p:pic>
      <p:pic>
        <p:nvPicPr>
          <p:cNvPr id="691" name="Google Shape;691;p32"/>
          <p:cNvPicPr preferRelativeResize="0"/>
          <p:nvPr/>
        </p:nvPicPr>
        <p:blipFill rotWithShape="1">
          <a:blip r:embed="rId4">
            <a:alphaModFix/>
          </a:blip>
          <a:srcRect t="55512"/>
          <a:stretch/>
        </p:blipFill>
        <p:spPr>
          <a:xfrm>
            <a:off x="697828" y="2213298"/>
            <a:ext cx="3016416" cy="714140"/>
          </a:xfrm>
          <a:prstGeom prst="rect">
            <a:avLst/>
          </a:prstGeom>
          <a:noFill/>
          <a:ln>
            <a:noFill/>
          </a:ln>
        </p:spPr>
      </p:pic>
      <p:pic>
        <p:nvPicPr>
          <p:cNvPr id="692" name="Google Shape;692;p3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750867" y="1259425"/>
            <a:ext cx="4327170" cy="569721"/>
          </a:xfrm>
          <a:prstGeom prst="rect">
            <a:avLst/>
          </a:prstGeom>
          <a:noFill/>
          <a:ln>
            <a:noFill/>
          </a:ln>
        </p:spPr>
      </p:pic>
      <p:pic>
        <p:nvPicPr>
          <p:cNvPr id="693" name="Google Shape;693;p32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920806" y="3671426"/>
            <a:ext cx="2717369" cy="974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94" name="Google Shape;694;p32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15182" y="3833678"/>
            <a:ext cx="3533624" cy="536854"/>
          </a:xfrm>
          <a:prstGeom prst="rect">
            <a:avLst/>
          </a:prstGeom>
          <a:noFill/>
          <a:ln>
            <a:noFill/>
          </a:ln>
        </p:spPr>
      </p:pic>
      <p:sp>
        <p:nvSpPr>
          <p:cNvPr id="695" name="Google Shape;695;p32"/>
          <p:cNvSpPr txBox="1"/>
          <p:nvPr/>
        </p:nvSpPr>
        <p:spPr>
          <a:xfrm>
            <a:off x="315182" y="3456507"/>
            <a:ext cx="3264535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5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Dequantization function</a:t>
            </a:r>
            <a:endParaRPr sz="135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96" name="Google Shape;696;p32"/>
          <p:cNvCxnSpPr/>
          <p:nvPr/>
        </p:nvCxnSpPr>
        <p:spPr>
          <a:xfrm rot="10800000" flipH="1">
            <a:off x="2103929" y="932171"/>
            <a:ext cx="2089800" cy="405000"/>
          </a:xfrm>
          <a:prstGeom prst="bentConnector3">
            <a:avLst>
              <a:gd name="adj1" fmla="val 99562"/>
            </a:avLst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697" name="Google Shape;697;p32"/>
          <p:cNvCxnSpPr/>
          <p:nvPr/>
        </p:nvCxnSpPr>
        <p:spPr>
          <a:xfrm rot="-5400000" flipH="1">
            <a:off x="2801843" y="2142167"/>
            <a:ext cx="898800" cy="384900"/>
          </a:xfrm>
          <a:prstGeom prst="bentConnector3">
            <a:avLst>
              <a:gd name="adj1" fmla="val 99511"/>
            </a:avLst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698" name="Google Shape;698;p32"/>
          <p:cNvCxnSpPr/>
          <p:nvPr/>
        </p:nvCxnSpPr>
        <p:spPr>
          <a:xfrm rot="5400000">
            <a:off x="5687858" y="1921995"/>
            <a:ext cx="956700" cy="760500"/>
          </a:xfrm>
          <a:prstGeom prst="bentConnector3">
            <a:avLst>
              <a:gd name="adj1" fmla="val 99899"/>
            </a:avLst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699" name="Google Shape;699;p32"/>
          <p:cNvCxnSpPr>
            <a:endCxn id="700" idx="2"/>
          </p:cNvCxnSpPr>
          <p:nvPr/>
        </p:nvCxnSpPr>
        <p:spPr>
          <a:xfrm rot="10800000">
            <a:off x="4656611" y="932172"/>
            <a:ext cx="1575600" cy="564600"/>
          </a:xfrm>
          <a:prstGeom prst="bentConnector2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701" name="Google Shape;701;p32"/>
          <p:cNvSpPr txBox="1"/>
          <p:nvPr/>
        </p:nvSpPr>
        <p:spPr>
          <a:xfrm>
            <a:off x="4920806" y="1062500"/>
            <a:ext cx="4128368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5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Non-uniform quantization function: </a:t>
            </a:r>
            <a:r>
              <a:rPr lang="en-GB" sz="1350" b="1" i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Quantized_po2</a:t>
            </a:r>
            <a:endParaRPr sz="1350" b="1" i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2" name="Google Shape;702;p32"/>
          <p:cNvSpPr txBox="1"/>
          <p:nvPr/>
        </p:nvSpPr>
        <p:spPr>
          <a:xfrm>
            <a:off x="257762" y="1059972"/>
            <a:ext cx="4128368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5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Uniform quantization function: </a:t>
            </a:r>
            <a:r>
              <a:rPr lang="en-GB" sz="1350" b="1" i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Quantized_bits</a:t>
            </a:r>
            <a:endParaRPr sz="1350" b="1" i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0" name="Google Shape;700;p32"/>
          <p:cNvSpPr/>
          <p:nvPr/>
        </p:nvSpPr>
        <p:spPr>
          <a:xfrm>
            <a:off x="3714244" y="614995"/>
            <a:ext cx="1884733" cy="317177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91121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5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Clipping function (</a:t>
            </a:r>
            <a:r>
              <a:rPr lang="en-GB" sz="1350" b="1" i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clip</a:t>
            </a:r>
            <a:r>
              <a:rPr lang="en-GB" sz="135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sz="135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3" name="Google Shape;703;p32"/>
          <p:cNvSpPr/>
          <p:nvPr/>
        </p:nvSpPr>
        <p:spPr>
          <a:xfrm>
            <a:off x="3443613" y="2613652"/>
            <a:ext cx="2342194" cy="300082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91121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5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Rounding operator (⌊⌉)</a:t>
            </a:r>
            <a:endParaRPr sz="135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Google Shape;709;p33"/>
          <p:cNvSpPr txBox="1">
            <a:spLocks noGrp="1"/>
          </p:cNvSpPr>
          <p:nvPr>
            <p:ph type="title"/>
          </p:nvPr>
        </p:nvSpPr>
        <p:spPr>
          <a:xfrm>
            <a:off x="237331" y="240105"/>
            <a:ext cx="7556500" cy="539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Calibri"/>
              <a:buNone/>
            </a:pPr>
            <a:r>
              <a:rPr lang="en-GB"/>
              <a:t>Clipping operations</a:t>
            </a:r>
            <a:endParaRPr/>
          </a:p>
        </p:txBody>
      </p:sp>
      <p:sp>
        <p:nvSpPr>
          <p:cNvPr id="710" name="Google Shape;710;p33"/>
          <p:cNvSpPr txBox="1">
            <a:spLocks noGrp="1"/>
          </p:cNvSpPr>
          <p:nvPr>
            <p:ph type="ftr" idx="11"/>
          </p:nvPr>
        </p:nvSpPr>
        <p:spPr>
          <a:xfrm>
            <a:off x="1114426" y="4568400"/>
            <a:ext cx="7042149" cy="576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Evaluation of Quantization Methods for Neural Networks</a:t>
            </a:r>
            <a:endParaRPr/>
          </a:p>
        </p:txBody>
      </p:sp>
      <p:sp>
        <p:nvSpPr>
          <p:cNvPr id="711" name="Google Shape;711;p33"/>
          <p:cNvSpPr txBox="1">
            <a:spLocks noGrp="1"/>
          </p:cNvSpPr>
          <p:nvPr>
            <p:ph type="sldNum" idx="12"/>
          </p:nvPr>
        </p:nvSpPr>
        <p:spPr>
          <a:xfrm>
            <a:off x="2" y="4568400"/>
            <a:ext cx="1114424" cy="572286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75600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34</a:t>
            </a:fld>
            <a:endParaRPr/>
          </a:p>
        </p:txBody>
      </p:sp>
      <p:sp>
        <p:nvSpPr>
          <p:cNvPr id="712" name="Google Shape;712;p33"/>
          <p:cNvSpPr txBox="1"/>
          <p:nvPr/>
        </p:nvSpPr>
        <p:spPr>
          <a:xfrm>
            <a:off x="1114426" y="4568400"/>
            <a:ext cx="7042149" cy="576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b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Evaluation of Quantization methods for Neural Network</a:t>
            </a:r>
            <a:endParaRPr sz="1100" b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3" name="Google Shape;713;p33"/>
          <p:cNvSpPr txBox="1"/>
          <p:nvPr/>
        </p:nvSpPr>
        <p:spPr>
          <a:xfrm>
            <a:off x="2" y="4568400"/>
            <a:ext cx="1114424" cy="572286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75600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100" b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34</a:t>
            </a:fld>
            <a:endParaRPr sz="1100" b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14" name="Google Shape;714;p33"/>
          <p:cNvPicPr preferRelativeResize="0"/>
          <p:nvPr/>
        </p:nvPicPr>
        <p:blipFill rotWithShape="1">
          <a:blip r:embed="rId3">
            <a:alphaModFix/>
          </a:blip>
          <a:srcRect t="2494" b="41388"/>
          <a:stretch/>
        </p:blipFill>
        <p:spPr>
          <a:xfrm>
            <a:off x="2227037" y="571831"/>
            <a:ext cx="3204633" cy="95704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15" name="Google Shape;715;p33"/>
          <p:cNvCxnSpPr/>
          <p:nvPr/>
        </p:nvCxnSpPr>
        <p:spPr>
          <a:xfrm>
            <a:off x="2860243" y="1155146"/>
            <a:ext cx="0" cy="863849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oval" w="med" len="med"/>
          </a:ln>
        </p:spPr>
      </p:cxnSp>
      <p:cxnSp>
        <p:nvCxnSpPr>
          <p:cNvPr id="716" name="Google Shape;716;p33"/>
          <p:cNvCxnSpPr/>
          <p:nvPr/>
        </p:nvCxnSpPr>
        <p:spPr>
          <a:xfrm>
            <a:off x="2984602" y="1214323"/>
            <a:ext cx="0" cy="80467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oval" w="med" len="med"/>
          </a:ln>
        </p:spPr>
      </p:cxnSp>
      <p:sp>
        <p:nvSpPr>
          <p:cNvPr id="717" name="Google Shape;717;p33"/>
          <p:cNvSpPr txBox="1"/>
          <p:nvPr/>
        </p:nvSpPr>
        <p:spPr>
          <a:xfrm>
            <a:off x="2691994" y="1863939"/>
            <a:ext cx="1733702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     ]   Clipping range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8" name="Google Shape;718;p33"/>
          <p:cNvSpPr txBox="1"/>
          <p:nvPr/>
        </p:nvSpPr>
        <p:spPr>
          <a:xfrm>
            <a:off x="2062886" y="2509114"/>
            <a:ext cx="1016813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Symmetric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9" name="Google Shape;719;p33"/>
          <p:cNvSpPr txBox="1"/>
          <p:nvPr/>
        </p:nvSpPr>
        <p:spPr>
          <a:xfrm>
            <a:off x="4116121" y="2509114"/>
            <a:ext cx="1016813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Asymmetric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20" name="Google Shape;720;p33"/>
          <p:cNvCxnSpPr>
            <a:stCxn id="717" idx="2"/>
            <a:endCxn id="718" idx="0"/>
          </p:cNvCxnSpPr>
          <p:nvPr/>
        </p:nvCxnSpPr>
        <p:spPr>
          <a:xfrm rot="5400000">
            <a:off x="2892545" y="1842721"/>
            <a:ext cx="345000" cy="9876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721" name="Google Shape;721;p33"/>
          <p:cNvCxnSpPr>
            <a:endCxn id="719" idx="0"/>
          </p:cNvCxnSpPr>
          <p:nvPr/>
        </p:nvCxnSpPr>
        <p:spPr>
          <a:xfrm>
            <a:off x="3558928" y="2336314"/>
            <a:ext cx="1065600" cy="172800"/>
          </a:xfrm>
          <a:prstGeom prst="bentConnector2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pic>
        <p:nvPicPr>
          <p:cNvPr id="722" name="Google Shape;722;p33" descr="Shape&#10;&#10;Description automatically generated with medium confidence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670089" y="2818053"/>
            <a:ext cx="2106622" cy="1074084"/>
          </a:xfrm>
          <a:prstGeom prst="rect">
            <a:avLst/>
          </a:prstGeom>
          <a:noFill/>
          <a:ln>
            <a:noFill/>
          </a:ln>
        </p:spPr>
      </p:pic>
      <p:pic>
        <p:nvPicPr>
          <p:cNvPr id="723" name="Google Shape;723;p33" descr="Shape&#10;&#10;Description automatically generated with medium confidence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574556" y="2842714"/>
            <a:ext cx="1984289" cy="1010433"/>
          </a:xfrm>
          <a:prstGeom prst="rect">
            <a:avLst/>
          </a:prstGeom>
          <a:noFill/>
          <a:ln>
            <a:noFill/>
          </a:ln>
        </p:spPr>
      </p:pic>
      <p:sp>
        <p:nvSpPr>
          <p:cNvPr id="724" name="Google Shape;724;p33"/>
          <p:cNvSpPr txBox="1"/>
          <p:nvPr/>
        </p:nvSpPr>
        <p:spPr>
          <a:xfrm flipH="1">
            <a:off x="6662317" y="485580"/>
            <a:ext cx="2073632" cy="1131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50" b="1" i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Min-Max clipping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Based on the minimum and maximum values of the set of values to be quantized</a:t>
            </a:r>
            <a:endParaRPr/>
          </a:p>
        </p:txBody>
      </p:sp>
      <p:sp>
        <p:nvSpPr>
          <p:cNvPr id="725" name="Google Shape;725;p33"/>
          <p:cNvSpPr txBox="1"/>
          <p:nvPr/>
        </p:nvSpPr>
        <p:spPr>
          <a:xfrm flipH="1">
            <a:off x="6662317" y="2013980"/>
            <a:ext cx="2073632" cy="15465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50" b="1" i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MSE based range setting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Based on the minimization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26" name="Google Shape;726;p33"/>
          <p:cNvGrpSpPr/>
          <p:nvPr/>
        </p:nvGrpSpPr>
        <p:grpSpPr>
          <a:xfrm>
            <a:off x="4425696" y="1050980"/>
            <a:ext cx="2236621" cy="1736289"/>
            <a:chOff x="4425696" y="1050980"/>
            <a:chExt cx="2236621" cy="1736289"/>
          </a:xfrm>
        </p:grpSpPr>
        <p:cxnSp>
          <p:nvCxnSpPr>
            <p:cNvPr id="727" name="Google Shape;727;p33"/>
            <p:cNvCxnSpPr>
              <a:stCxn id="717" idx="3"/>
              <a:endCxn id="724" idx="3"/>
            </p:cNvCxnSpPr>
            <p:nvPr/>
          </p:nvCxnSpPr>
          <p:spPr>
            <a:xfrm rot="10800000" flipH="1">
              <a:off x="4425696" y="1050980"/>
              <a:ext cx="2236500" cy="963000"/>
            </a:xfrm>
            <a:prstGeom prst="bentConnector3">
              <a:avLst>
                <a:gd name="adj1" fmla="val 79436"/>
              </a:avLst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728" name="Google Shape;728;p33"/>
            <p:cNvCxnSpPr>
              <a:endCxn id="725" idx="3"/>
            </p:cNvCxnSpPr>
            <p:nvPr/>
          </p:nvCxnSpPr>
          <p:spPr>
            <a:xfrm rot="-5400000" flipH="1">
              <a:off x="6039817" y="2164769"/>
              <a:ext cx="786900" cy="458100"/>
            </a:xfrm>
            <a:prstGeom prst="bentConnector2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</p:grpSp>
      <p:sp>
        <p:nvSpPr>
          <p:cNvPr id="729" name="Google Shape;729;p33"/>
          <p:cNvSpPr txBox="1"/>
          <p:nvPr/>
        </p:nvSpPr>
        <p:spPr>
          <a:xfrm>
            <a:off x="4635500" y="1778672"/>
            <a:ext cx="1919217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 i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Can be calculated using</a:t>
            </a:r>
            <a:endParaRPr sz="1050" i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30" name="Google Shape;730;p33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847862" y="2446738"/>
            <a:ext cx="1734026" cy="5886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" name="Google Shape;736;p34"/>
          <p:cNvSpPr txBox="1">
            <a:spLocks noGrp="1"/>
          </p:cNvSpPr>
          <p:nvPr>
            <p:ph type="title"/>
          </p:nvPr>
        </p:nvSpPr>
        <p:spPr>
          <a:xfrm>
            <a:off x="237331" y="240105"/>
            <a:ext cx="7556500" cy="539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Calibri"/>
              <a:buNone/>
            </a:pPr>
            <a:r>
              <a:rPr lang="en-GB"/>
              <a:t>Quantization granularity</a:t>
            </a:r>
            <a:endParaRPr/>
          </a:p>
        </p:txBody>
      </p:sp>
      <p:sp>
        <p:nvSpPr>
          <p:cNvPr id="737" name="Google Shape;737;p34"/>
          <p:cNvSpPr txBox="1">
            <a:spLocks noGrp="1"/>
          </p:cNvSpPr>
          <p:nvPr>
            <p:ph type="ftr" idx="11"/>
          </p:nvPr>
        </p:nvSpPr>
        <p:spPr>
          <a:xfrm>
            <a:off x="1114426" y="4568400"/>
            <a:ext cx="7042149" cy="576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Evaluation of Quantization Methods for Neural Networks</a:t>
            </a:r>
            <a:endParaRPr/>
          </a:p>
        </p:txBody>
      </p:sp>
      <p:sp>
        <p:nvSpPr>
          <p:cNvPr id="738" name="Google Shape;738;p34"/>
          <p:cNvSpPr txBox="1">
            <a:spLocks noGrp="1"/>
          </p:cNvSpPr>
          <p:nvPr>
            <p:ph type="sldNum" idx="12"/>
          </p:nvPr>
        </p:nvSpPr>
        <p:spPr>
          <a:xfrm>
            <a:off x="2" y="4568400"/>
            <a:ext cx="1114424" cy="572286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75600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35</a:t>
            </a:fld>
            <a:endParaRPr/>
          </a:p>
        </p:txBody>
      </p:sp>
      <p:pic>
        <p:nvPicPr>
          <p:cNvPr id="739" name="Google Shape;739;p3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03204" y="846083"/>
            <a:ext cx="6970683" cy="31301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p35"/>
          <p:cNvSpPr txBox="1">
            <a:spLocks noGrp="1"/>
          </p:cNvSpPr>
          <p:nvPr>
            <p:ph type="title"/>
          </p:nvPr>
        </p:nvSpPr>
        <p:spPr>
          <a:xfrm>
            <a:off x="237331" y="240105"/>
            <a:ext cx="7556500" cy="539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Calibri"/>
              <a:buNone/>
            </a:pPr>
            <a:r>
              <a:rPr lang="en-GB"/>
              <a:t>Effect of quantization on NN</a:t>
            </a:r>
            <a:endParaRPr/>
          </a:p>
        </p:txBody>
      </p:sp>
      <p:sp>
        <p:nvSpPr>
          <p:cNvPr id="746" name="Google Shape;746;p35"/>
          <p:cNvSpPr txBox="1">
            <a:spLocks noGrp="1"/>
          </p:cNvSpPr>
          <p:nvPr>
            <p:ph type="ftr" idx="11"/>
          </p:nvPr>
        </p:nvSpPr>
        <p:spPr>
          <a:xfrm>
            <a:off x="1114426" y="4568400"/>
            <a:ext cx="7042149" cy="576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Evaluation of Quantization Methods for Neural Networks</a:t>
            </a:r>
            <a:endParaRPr/>
          </a:p>
        </p:txBody>
      </p:sp>
      <p:sp>
        <p:nvSpPr>
          <p:cNvPr id="747" name="Google Shape;747;p35"/>
          <p:cNvSpPr txBox="1">
            <a:spLocks noGrp="1"/>
          </p:cNvSpPr>
          <p:nvPr>
            <p:ph type="sldNum" idx="12"/>
          </p:nvPr>
        </p:nvSpPr>
        <p:spPr>
          <a:xfrm>
            <a:off x="2" y="4568400"/>
            <a:ext cx="1114424" cy="572286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75600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36</a:t>
            </a:fld>
            <a:endParaRPr/>
          </a:p>
        </p:txBody>
      </p:sp>
      <p:pic>
        <p:nvPicPr>
          <p:cNvPr id="748" name="Google Shape;748;p35" descr="Chart, timeline, bar chart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921305" y="1147410"/>
            <a:ext cx="3909769" cy="2736839"/>
          </a:xfrm>
          <a:prstGeom prst="rect">
            <a:avLst/>
          </a:prstGeom>
          <a:noFill/>
          <a:ln>
            <a:noFill/>
          </a:ln>
        </p:spPr>
      </p:pic>
      <p:pic>
        <p:nvPicPr>
          <p:cNvPr id="749" name="Google Shape;749;p35" descr="Chart, timeline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37331" y="1142057"/>
            <a:ext cx="3836878" cy="27419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" name="Google Shape;755;p36"/>
          <p:cNvSpPr txBox="1">
            <a:spLocks noGrp="1"/>
          </p:cNvSpPr>
          <p:nvPr>
            <p:ph type="title"/>
          </p:nvPr>
        </p:nvSpPr>
        <p:spPr>
          <a:xfrm>
            <a:off x="237331" y="240105"/>
            <a:ext cx="7556500" cy="539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None/>
            </a:pPr>
            <a:r>
              <a:rPr lang="en-GB">
                <a:latin typeface="Arial"/>
                <a:ea typeface="Arial"/>
                <a:cs typeface="Arial"/>
                <a:sym typeface="Arial"/>
              </a:rPr>
              <a:t>Quantization of different NN layers</a:t>
            </a:r>
            <a:endParaRPr/>
          </a:p>
        </p:txBody>
      </p:sp>
      <p:sp>
        <p:nvSpPr>
          <p:cNvPr id="756" name="Google Shape;756;p36"/>
          <p:cNvSpPr txBox="1">
            <a:spLocks noGrp="1"/>
          </p:cNvSpPr>
          <p:nvPr>
            <p:ph type="ftr" idx="11"/>
          </p:nvPr>
        </p:nvSpPr>
        <p:spPr>
          <a:xfrm>
            <a:off x="1114426" y="4568400"/>
            <a:ext cx="7042149" cy="576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Evaluation of Quantization Methods for Neural Networks</a:t>
            </a:r>
            <a:endParaRPr/>
          </a:p>
        </p:txBody>
      </p:sp>
      <p:sp>
        <p:nvSpPr>
          <p:cNvPr id="757" name="Google Shape;757;p36"/>
          <p:cNvSpPr txBox="1">
            <a:spLocks noGrp="1"/>
          </p:cNvSpPr>
          <p:nvPr>
            <p:ph type="sldNum" idx="12"/>
          </p:nvPr>
        </p:nvSpPr>
        <p:spPr>
          <a:xfrm>
            <a:off x="2" y="4568400"/>
            <a:ext cx="1114424" cy="572286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75600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37</a:t>
            </a:fld>
            <a:endParaRPr/>
          </a:p>
        </p:txBody>
      </p:sp>
      <p:pic>
        <p:nvPicPr>
          <p:cNvPr id="758" name="Google Shape;758;p36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1746709" y="892970"/>
            <a:ext cx="6047122" cy="32504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B588C5-3E06-686A-3A3F-F6A1AEC373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SQuant</a:t>
            </a:r>
            <a:endParaRPr lang="en-NL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0403D1-A25D-C533-E328-6D7C34E151C5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/>
              <a:t>Evaluation of Quantization Methods for Neural Networks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ED024E-A421-5CFC-722B-03750679ABA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38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117055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7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" name="Google Shape;764;p37"/>
          <p:cNvSpPr txBox="1">
            <a:spLocks noGrp="1"/>
          </p:cNvSpPr>
          <p:nvPr>
            <p:ph type="title"/>
          </p:nvPr>
        </p:nvSpPr>
        <p:spPr>
          <a:xfrm>
            <a:off x="237331" y="240105"/>
            <a:ext cx="7556500" cy="539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Calibri"/>
              <a:buNone/>
            </a:pPr>
            <a:r>
              <a:rPr lang="en-GB"/>
              <a:t>NN models deployment</a:t>
            </a:r>
            <a:endParaRPr/>
          </a:p>
        </p:txBody>
      </p:sp>
      <p:sp>
        <p:nvSpPr>
          <p:cNvPr id="765" name="Google Shape;765;p37"/>
          <p:cNvSpPr txBox="1">
            <a:spLocks noGrp="1"/>
          </p:cNvSpPr>
          <p:nvPr>
            <p:ph type="ftr" idx="11"/>
          </p:nvPr>
        </p:nvSpPr>
        <p:spPr>
          <a:xfrm>
            <a:off x="1114426" y="4568400"/>
            <a:ext cx="7042149" cy="576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Evaluation of Quantization Methods for Neural Networks</a:t>
            </a:r>
            <a:endParaRPr/>
          </a:p>
        </p:txBody>
      </p:sp>
      <p:sp>
        <p:nvSpPr>
          <p:cNvPr id="766" name="Google Shape;766;p37"/>
          <p:cNvSpPr txBox="1">
            <a:spLocks noGrp="1"/>
          </p:cNvSpPr>
          <p:nvPr>
            <p:ph type="sldNum" idx="12"/>
          </p:nvPr>
        </p:nvSpPr>
        <p:spPr>
          <a:xfrm>
            <a:off x="2" y="4568400"/>
            <a:ext cx="1114424" cy="572286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75600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39</a:t>
            </a:fld>
            <a:endParaRPr/>
          </a:p>
        </p:txBody>
      </p:sp>
      <p:sp>
        <p:nvSpPr>
          <p:cNvPr id="767" name="Google Shape;767;p37"/>
          <p:cNvSpPr txBox="1"/>
          <p:nvPr/>
        </p:nvSpPr>
        <p:spPr>
          <a:xfrm>
            <a:off x="78262" y="469604"/>
            <a:ext cx="7556500" cy="3695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Calibri"/>
              <a:buNone/>
            </a:pPr>
            <a:endParaRPr sz="27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768" name="Google Shape;768;p37"/>
          <p:cNvGraphicFramePr/>
          <p:nvPr/>
        </p:nvGraphicFramePr>
        <p:xfrm>
          <a:off x="378619" y="2671920"/>
          <a:ext cx="8061150" cy="1988880"/>
        </p:xfrm>
        <a:graphic>
          <a:graphicData uri="http://schemas.openxmlformats.org/drawingml/2006/table">
            <a:tbl>
              <a:tblPr firstRow="1" bandRow="1">
                <a:noFill/>
                <a:tableStyleId>{2525947D-79E6-44B2-B12A-532D9E6C3FB6}</a:tableStyleId>
              </a:tblPr>
              <a:tblGrid>
                <a:gridCol w="2687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87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87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03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5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 u="none" strike="noStrike" cap="none"/>
                        <a:t>Cloud</a:t>
                      </a:r>
                      <a:endParaRPr sz="135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 u="none" strike="noStrike" cap="none"/>
                        <a:t>Edge</a:t>
                      </a:r>
                      <a:endParaRPr sz="135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03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 b="1" u="none" strike="noStrike" cap="none"/>
                        <a:t>Latency</a:t>
                      </a:r>
                      <a:endParaRPr sz="1350" b="1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 u="none" strike="noStrike" cap="none"/>
                        <a:t>High</a:t>
                      </a:r>
                      <a:endParaRPr sz="135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 u="none" strike="noStrike" cap="none"/>
                        <a:t>Low</a:t>
                      </a:r>
                      <a:endParaRPr sz="135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03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 b="1" u="none" strike="noStrike" cap="none"/>
                        <a:t>Internet</a:t>
                      </a:r>
                      <a:endParaRPr sz="1350" b="1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 u="none" strike="noStrike" cap="none"/>
                        <a:t>Needed</a:t>
                      </a:r>
                      <a:endParaRPr sz="135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 u="none" strike="noStrike" cap="none"/>
                        <a:t>Not needed</a:t>
                      </a:r>
                      <a:endParaRPr sz="135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03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 b="1" u="none" strike="noStrike" cap="none"/>
                        <a:t>Data source</a:t>
                      </a:r>
                      <a:endParaRPr sz="1350" b="1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 u="none" strike="noStrike" cap="none"/>
                        <a:t>Far compared to the edge</a:t>
                      </a:r>
                      <a:endParaRPr sz="135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 u="none" strike="noStrike" cap="none"/>
                        <a:t>At the edge</a:t>
                      </a:r>
                      <a:endParaRPr sz="135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03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 b="1" u="none" strike="noStrike" cap="none"/>
                        <a:t>Computing power</a:t>
                      </a:r>
                      <a:endParaRPr sz="1350" b="1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 u="none" strike="noStrike" cap="none"/>
                        <a:t>High</a:t>
                      </a:r>
                      <a:endParaRPr sz="135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 u="none" strike="noStrike" cap="none">
                          <a:solidFill>
                            <a:srgbClr val="FF0000"/>
                          </a:solidFill>
                        </a:rPr>
                        <a:t>Limited</a:t>
                      </a:r>
                      <a:endParaRPr sz="1350" u="none" strike="noStrike" cap="none">
                        <a:solidFill>
                          <a:srgbClr val="FF0000"/>
                        </a:solidFill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43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 b="1" u="none" strike="noStrike" cap="none"/>
                        <a:t>Applications</a:t>
                      </a:r>
                      <a:endParaRPr sz="1350" b="1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 u="none" strike="noStrike" cap="none"/>
                        <a:t>Less time sensitive application</a:t>
                      </a:r>
                      <a:endParaRPr sz="135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 u="none" strike="noStrike" cap="none"/>
                        <a:t>Fast decision-making and Real-time uses cases</a:t>
                      </a:r>
                      <a:endParaRPr sz="135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cxnSp>
        <p:nvCxnSpPr>
          <p:cNvPr id="769" name="Google Shape;769;p37"/>
          <p:cNvCxnSpPr>
            <a:stCxn id="770" idx="3"/>
            <a:endCxn id="771" idx="0"/>
          </p:cNvCxnSpPr>
          <p:nvPr/>
        </p:nvCxnSpPr>
        <p:spPr>
          <a:xfrm>
            <a:off x="4849493" y="1437073"/>
            <a:ext cx="1496100" cy="148500"/>
          </a:xfrm>
          <a:prstGeom prst="bentConnector2">
            <a:avLst/>
          </a:prstGeom>
          <a:noFill/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oval" w="med" len="med"/>
          </a:ln>
        </p:spPr>
      </p:cxnSp>
      <p:cxnSp>
        <p:nvCxnSpPr>
          <p:cNvPr id="772" name="Google Shape;772;p37"/>
          <p:cNvCxnSpPr>
            <a:stCxn id="770" idx="1"/>
            <a:endCxn id="773" idx="0"/>
          </p:cNvCxnSpPr>
          <p:nvPr/>
        </p:nvCxnSpPr>
        <p:spPr>
          <a:xfrm flipH="1">
            <a:off x="2284512" y="1437073"/>
            <a:ext cx="1572000" cy="148500"/>
          </a:xfrm>
          <a:prstGeom prst="bentConnector2">
            <a:avLst/>
          </a:prstGeom>
          <a:noFill/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oval" w="med" len="med"/>
          </a:ln>
        </p:spPr>
      </p:cxnSp>
      <p:sp>
        <p:nvSpPr>
          <p:cNvPr id="773" name="Google Shape;773;p37"/>
          <p:cNvSpPr txBox="1"/>
          <p:nvPr/>
        </p:nvSpPr>
        <p:spPr>
          <a:xfrm>
            <a:off x="1470145" y="1585470"/>
            <a:ext cx="1628775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Cloud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1" name="Google Shape;771;p37"/>
          <p:cNvSpPr txBox="1"/>
          <p:nvPr/>
        </p:nvSpPr>
        <p:spPr>
          <a:xfrm>
            <a:off x="6045082" y="1585470"/>
            <a:ext cx="600834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Edge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4" name="Google Shape;774;p37"/>
          <p:cNvSpPr txBox="1"/>
          <p:nvPr/>
        </p:nvSpPr>
        <p:spPr>
          <a:xfrm>
            <a:off x="7714" y="2317790"/>
            <a:ext cx="1021557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 source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5" name="Google Shape;775;p37"/>
          <p:cNvSpPr txBox="1"/>
          <p:nvPr/>
        </p:nvSpPr>
        <p:spPr>
          <a:xfrm>
            <a:off x="1612245" y="2334724"/>
            <a:ext cx="591829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Cloud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6" name="Google Shape;776;p37"/>
          <p:cNvSpPr txBox="1"/>
          <p:nvPr/>
        </p:nvSpPr>
        <p:spPr>
          <a:xfrm>
            <a:off x="2581136" y="2341230"/>
            <a:ext cx="686598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Results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7" name="Google Shape;777;p37"/>
          <p:cNvSpPr txBox="1"/>
          <p:nvPr/>
        </p:nvSpPr>
        <p:spPr>
          <a:xfrm>
            <a:off x="4849493" y="2174979"/>
            <a:ext cx="1021557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 source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8" name="Google Shape;778;p37"/>
          <p:cNvSpPr txBox="1"/>
          <p:nvPr/>
        </p:nvSpPr>
        <p:spPr>
          <a:xfrm>
            <a:off x="6166877" y="2179823"/>
            <a:ext cx="525337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Edge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9" name="Google Shape;779;p37"/>
          <p:cNvSpPr txBox="1"/>
          <p:nvPr/>
        </p:nvSpPr>
        <p:spPr>
          <a:xfrm>
            <a:off x="7350360" y="2153034"/>
            <a:ext cx="686598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Results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80" name="Google Shape;780;p37"/>
          <p:cNvCxnSpPr>
            <a:endCxn id="775" idx="1"/>
          </p:cNvCxnSpPr>
          <p:nvPr/>
        </p:nvCxnSpPr>
        <p:spPr>
          <a:xfrm rot="10800000" flipH="1">
            <a:off x="1049745" y="2484765"/>
            <a:ext cx="562500" cy="72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781" name="Google Shape;781;p37"/>
          <p:cNvCxnSpPr>
            <a:stCxn id="775" idx="3"/>
            <a:endCxn id="776" idx="1"/>
          </p:cNvCxnSpPr>
          <p:nvPr/>
        </p:nvCxnSpPr>
        <p:spPr>
          <a:xfrm>
            <a:off x="2204074" y="2484765"/>
            <a:ext cx="377100" cy="66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782" name="Google Shape;782;p37"/>
          <p:cNvCxnSpPr/>
          <p:nvPr/>
        </p:nvCxnSpPr>
        <p:spPr>
          <a:xfrm rot="10800000" flipH="1">
            <a:off x="5871050" y="2291318"/>
            <a:ext cx="295827" cy="16588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783" name="Google Shape;783;p37"/>
          <p:cNvCxnSpPr/>
          <p:nvPr/>
        </p:nvCxnSpPr>
        <p:spPr>
          <a:xfrm rot="10800000" flipH="1">
            <a:off x="6988408" y="2299612"/>
            <a:ext cx="295827" cy="16588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784" name="Google Shape;784;p37"/>
          <p:cNvSpPr txBox="1"/>
          <p:nvPr/>
        </p:nvSpPr>
        <p:spPr>
          <a:xfrm>
            <a:off x="993526" y="2271747"/>
            <a:ext cx="1538287" cy="169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via internet</a:t>
            </a:r>
            <a:endParaRPr sz="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0" name="Google Shape;770;p37"/>
          <p:cNvSpPr txBox="1"/>
          <p:nvPr/>
        </p:nvSpPr>
        <p:spPr>
          <a:xfrm>
            <a:off x="3856512" y="1282796"/>
            <a:ext cx="992981" cy="308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NN models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85" name="Google Shape;785;p3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164005" y="1858578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86" name="Google Shape;786;p3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31199" y="1885647"/>
            <a:ext cx="228600" cy="228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87" name="Google Shape;787;p37"/>
          <p:cNvGrpSpPr/>
          <p:nvPr/>
        </p:nvGrpSpPr>
        <p:grpSpPr>
          <a:xfrm>
            <a:off x="1153598" y="2109400"/>
            <a:ext cx="185262" cy="182968"/>
            <a:chOff x="980758" y="1787715"/>
            <a:chExt cx="185262" cy="182968"/>
          </a:xfrm>
        </p:grpSpPr>
        <p:pic>
          <p:nvPicPr>
            <p:cNvPr id="788" name="Google Shape;788;p37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1003775" y="1802375"/>
              <a:ext cx="139227" cy="13922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89" name="Google Shape;789;p37"/>
            <p:cNvSpPr/>
            <p:nvPr/>
          </p:nvSpPr>
          <p:spPr>
            <a:xfrm>
              <a:off x="1026792" y="1787715"/>
              <a:ext cx="139228" cy="139227"/>
            </a:xfrm>
            <a:prstGeom prst="arc">
              <a:avLst>
                <a:gd name="adj1" fmla="val 16200000"/>
                <a:gd name="adj2" fmla="val 0"/>
              </a:avLst>
            </a:prstGeom>
            <a:noFill/>
            <a:ln w="15875" cap="flat" cmpd="sng">
              <a:solidFill>
                <a:schemeClr val="dk1"/>
              </a:solidFill>
              <a:prstDash val="solid"/>
              <a:miter lim="800000"/>
              <a:headEnd type="triangl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0" name="Google Shape;790;p37"/>
            <p:cNvSpPr/>
            <p:nvPr/>
          </p:nvSpPr>
          <p:spPr>
            <a:xfrm rot="10378811">
              <a:off x="988744" y="1823470"/>
              <a:ext cx="139228" cy="139227"/>
            </a:xfrm>
            <a:prstGeom prst="arc">
              <a:avLst>
                <a:gd name="adj1" fmla="val 16200000"/>
                <a:gd name="adj2" fmla="val 0"/>
              </a:avLst>
            </a:prstGeom>
            <a:noFill/>
            <a:ln w="15875" cap="flat" cmpd="sng">
              <a:solidFill>
                <a:schemeClr val="dk1"/>
              </a:solidFill>
              <a:prstDash val="solid"/>
              <a:miter lim="800000"/>
              <a:headEnd type="triangl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7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/>
                                        <p:tgtEl>
                                          <p:spTgt spid="7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12"/>
          <p:cNvSpPr txBox="1">
            <a:spLocks noGrp="1"/>
          </p:cNvSpPr>
          <p:nvPr>
            <p:ph type="title"/>
          </p:nvPr>
        </p:nvSpPr>
        <p:spPr>
          <a:xfrm>
            <a:off x="237330" y="240105"/>
            <a:ext cx="8906670" cy="539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Calibri"/>
              <a:buNone/>
            </a:pPr>
            <a:r>
              <a:rPr lang="en-GB"/>
              <a:t>Types of Quantization (Based on How Quantization is Applied)</a:t>
            </a:r>
            <a:endParaRPr/>
          </a:p>
        </p:txBody>
      </p:sp>
      <p:sp>
        <p:nvSpPr>
          <p:cNvPr id="406" name="Google Shape;406;p12"/>
          <p:cNvSpPr txBox="1">
            <a:spLocks noGrp="1"/>
          </p:cNvSpPr>
          <p:nvPr>
            <p:ph type="ftr" idx="11"/>
          </p:nvPr>
        </p:nvSpPr>
        <p:spPr>
          <a:xfrm>
            <a:off x="1114426" y="4568400"/>
            <a:ext cx="7042149" cy="576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Evaluation of Quantization Methods for Neural Networks</a:t>
            </a:r>
            <a:endParaRPr/>
          </a:p>
        </p:txBody>
      </p:sp>
      <p:sp>
        <p:nvSpPr>
          <p:cNvPr id="407" name="Google Shape;407;p12"/>
          <p:cNvSpPr txBox="1">
            <a:spLocks noGrp="1"/>
          </p:cNvSpPr>
          <p:nvPr>
            <p:ph type="sldNum" idx="12"/>
          </p:nvPr>
        </p:nvSpPr>
        <p:spPr>
          <a:xfrm>
            <a:off x="2" y="4568400"/>
            <a:ext cx="1114424" cy="572286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75600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40</a:t>
            </a:fld>
            <a:endParaRPr/>
          </a:p>
        </p:txBody>
      </p:sp>
      <p:grpSp>
        <p:nvGrpSpPr>
          <p:cNvPr id="408" name="Google Shape;408;p12"/>
          <p:cNvGrpSpPr/>
          <p:nvPr/>
        </p:nvGrpSpPr>
        <p:grpSpPr>
          <a:xfrm>
            <a:off x="770407" y="733762"/>
            <a:ext cx="7141710" cy="1449746"/>
            <a:chOff x="0" y="242149"/>
            <a:chExt cx="7141710" cy="1449746"/>
          </a:xfrm>
        </p:grpSpPr>
        <p:sp>
          <p:nvSpPr>
            <p:cNvPr id="409" name="Google Shape;409;p12"/>
            <p:cNvSpPr/>
            <p:nvPr/>
          </p:nvSpPr>
          <p:spPr>
            <a:xfrm>
              <a:off x="3582362" y="826249"/>
              <a:ext cx="2451264" cy="279532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0"/>
                  </a:moveTo>
                  <a:lnTo>
                    <a:pt x="0" y="67343"/>
                  </a:lnTo>
                  <a:lnTo>
                    <a:pt x="120000" y="67343"/>
                  </a:lnTo>
                  <a:lnTo>
                    <a:pt x="120000" y="120000"/>
                  </a:lnTo>
                </a:path>
              </a:pathLst>
            </a:custGeom>
            <a:noFill/>
            <a:ln w="12700" cap="flat" cmpd="sng">
              <a:solidFill>
                <a:srgbClr val="9E1013"/>
              </a:solidFill>
              <a:prstDash val="solid"/>
              <a:miter lim="800000"/>
              <a:headEnd type="none" w="sm" len="sm"/>
              <a:tailEnd type="none" w="sm" len="sm"/>
            </a:ln>
          </p:spPr>
        </p:sp>
        <p:sp>
          <p:nvSpPr>
            <p:cNvPr id="410" name="Google Shape;410;p12"/>
            <p:cNvSpPr/>
            <p:nvPr/>
          </p:nvSpPr>
          <p:spPr>
            <a:xfrm>
              <a:off x="3534621" y="826249"/>
              <a:ext cx="91440" cy="281547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62651" y="0"/>
                  </a:moveTo>
                  <a:lnTo>
                    <a:pt x="62651" y="67720"/>
                  </a:lnTo>
                  <a:lnTo>
                    <a:pt x="60000" y="67720"/>
                  </a:lnTo>
                  <a:lnTo>
                    <a:pt x="60000" y="120000"/>
                  </a:lnTo>
                </a:path>
              </a:pathLst>
            </a:custGeom>
            <a:noFill/>
            <a:ln w="12700" cap="flat" cmpd="sng">
              <a:solidFill>
                <a:srgbClr val="9E1013"/>
              </a:solidFill>
              <a:prstDash val="solid"/>
              <a:miter lim="800000"/>
              <a:headEnd type="none" w="sm" len="sm"/>
              <a:tailEnd type="none" w="sm" len="sm"/>
            </a:ln>
          </p:spPr>
        </p:sp>
        <p:sp>
          <p:nvSpPr>
            <p:cNvPr id="411" name="Google Shape;411;p12"/>
            <p:cNvSpPr/>
            <p:nvPr/>
          </p:nvSpPr>
          <p:spPr>
            <a:xfrm>
              <a:off x="1108084" y="826249"/>
              <a:ext cx="2474278" cy="277739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120000" y="0"/>
                  </a:moveTo>
                  <a:lnTo>
                    <a:pt x="120000" y="67003"/>
                  </a:lnTo>
                  <a:lnTo>
                    <a:pt x="0" y="67003"/>
                  </a:lnTo>
                  <a:lnTo>
                    <a:pt x="0" y="120000"/>
                  </a:lnTo>
                </a:path>
              </a:pathLst>
            </a:custGeom>
            <a:noFill/>
            <a:ln w="12700" cap="flat" cmpd="sng">
              <a:solidFill>
                <a:srgbClr val="9E1013"/>
              </a:solidFill>
              <a:prstDash val="solid"/>
              <a:miter lim="800000"/>
              <a:headEnd type="none" w="sm" len="sm"/>
              <a:tailEnd type="none" w="sm" len="sm"/>
            </a:ln>
          </p:spPr>
        </p:sp>
        <p:sp>
          <p:nvSpPr>
            <p:cNvPr id="412" name="Google Shape;412;p12"/>
            <p:cNvSpPr/>
            <p:nvPr/>
          </p:nvSpPr>
          <p:spPr>
            <a:xfrm>
              <a:off x="2474278" y="242149"/>
              <a:ext cx="2216168" cy="584099"/>
            </a:xfrm>
            <a:prstGeom prst="rect">
              <a:avLst/>
            </a:prstGeom>
            <a:solidFill>
              <a:srgbClr val="C71719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" name="Google Shape;413;p12"/>
            <p:cNvSpPr txBox="1"/>
            <p:nvPr/>
          </p:nvSpPr>
          <p:spPr>
            <a:xfrm>
              <a:off x="2474278" y="242149"/>
              <a:ext cx="2216168" cy="5840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0150" tIns="10150" rIns="10150" bIns="1015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Calibri"/>
                <a:buNone/>
              </a:pPr>
              <a:r>
                <a:rPr lang="en-GB" sz="1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Quantization Types</a:t>
              </a:r>
              <a:endParaRPr/>
            </a:p>
          </p:txBody>
        </p:sp>
        <p:sp>
          <p:nvSpPr>
            <p:cNvPr id="414" name="Google Shape;414;p12"/>
            <p:cNvSpPr/>
            <p:nvPr/>
          </p:nvSpPr>
          <p:spPr>
            <a:xfrm>
              <a:off x="0" y="1103988"/>
              <a:ext cx="2216168" cy="584099"/>
            </a:xfrm>
            <a:prstGeom prst="rect">
              <a:avLst/>
            </a:prstGeom>
            <a:solidFill>
              <a:srgbClr val="C71719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" name="Google Shape;415;p12"/>
            <p:cNvSpPr txBox="1"/>
            <p:nvPr/>
          </p:nvSpPr>
          <p:spPr>
            <a:xfrm>
              <a:off x="0" y="1103988"/>
              <a:ext cx="2216168" cy="5840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875" tIns="8875" rIns="8875" bIns="88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Calibri"/>
                <a:buNone/>
              </a:pPr>
              <a:r>
                <a:rPr lang="en-GB"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Quantization aware training (QAT)</a:t>
              </a:r>
              <a:endParaRPr/>
            </a:p>
          </p:txBody>
        </p:sp>
        <p:sp>
          <p:nvSpPr>
            <p:cNvPr id="416" name="Google Shape;416;p12"/>
            <p:cNvSpPr/>
            <p:nvPr/>
          </p:nvSpPr>
          <p:spPr>
            <a:xfrm>
              <a:off x="2472257" y="1107796"/>
              <a:ext cx="2216168" cy="584099"/>
            </a:xfrm>
            <a:prstGeom prst="rect">
              <a:avLst/>
            </a:prstGeom>
            <a:solidFill>
              <a:srgbClr val="C71719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" name="Google Shape;417;p12"/>
            <p:cNvSpPr txBox="1"/>
            <p:nvPr/>
          </p:nvSpPr>
          <p:spPr>
            <a:xfrm>
              <a:off x="2472257" y="1107796"/>
              <a:ext cx="2216168" cy="5840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875" tIns="8875" rIns="8875" bIns="88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Calibri"/>
                <a:buNone/>
              </a:pPr>
              <a:r>
                <a:rPr lang="en-GB"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Post training quantization (PTQ)</a:t>
              </a:r>
              <a:endParaRPr/>
            </a:p>
          </p:txBody>
        </p:sp>
        <p:sp>
          <p:nvSpPr>
            <p:cNvPr id="418" name="Google Shape;418;p12"/>
            <p:cNvSpPr/>
            <p:nvPr/>
          </p:nvSpPr>
          <p:spPr>
            <a:xfrm>
              <a:off x="4925542" y="1105781"/>
              <a:ext cx="2216168" cy="584099"/>
            </a:xfrm>
            <a:prstGeom prst="rect">
              <a:avLst/>
            </a:prstGeom>
            <a:solidFill>
              <a:srgbClr val="C71719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Google Shape;419;p12"/>
            <p:cNvSpPr txBox="1"/>
            <p:nvPr/>
          </p:nvSpPr>
          <p:spPr>
            <a:xfrm>
              <a:off x="4925542" y="1105781"/>
              <a:ext cx="2216168" cy="5840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875" tIns="8875" rIns="8875" bIns="88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Calibri"/>
                <a:buNone/>
              </a:pPr>
              <a:r>
                <a:rPr lang="en-GB"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Data free quantization (DFQ)</a:t>
              </a:r>
              <a:endParaRPr/>
            </a:p>
          </p:txBody>
        </p:sp>
      </p:grpSp>
      <p:sp>
        <p:nvSpPr>
          <p:cNvPr id="420" name="Google Shape;420;p12"/>
          <p:cNvSpPr txBox="1"/>
          <p:nvPr/>
        </p:nvSpPr>
        <p:spPr>
          <a:xfrm>
            <a:off x="770407" y="2138127"/>
            <a:ext cx="2643187" cy="1384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✔ Quantization parameter updated</a:t>
            </a:r>
            <a:endParaRPr dirty="0"/>
          </a:p>
          <a:p>
            <a:pPr marL="0" marR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✘ Model parameters updated</a:t>
            </a:r>
            <a:endParaRPr dirty="0"/>
          </a:p>
          <a:p>
            <a:pPr marL="0" marR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✘ Model retrained</a:t>
            </a:r>
            <a:endParaRPr dirty="0"/>
          </a:p>
          <a:p>
            <a:pPr marL="0" marR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✘ Requires </a:t>
            </a:r>
            <a:r>
              <a:rPr lang="en-GB" sz="105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labeled</a:t>
            </a:r>
            <a:r>
              <a:rPr lang="en-GB" sz="105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data</a:t>
            </a:r>
            <a:endParaRPr sz="105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12"/>
          <p:cNvSpPr txBox="1"/>
          <p:nvPr/>
        </p:nvSpPr>
        <p:spPr>
          <a:xfrm>
            <a:off x="3250406" y="2138127"/>
            <a:ext cx="2643187" cy="1384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✔ Quantization parameter updated</a:t>
            </a:r>
            <a:endParaRPr dirty="0"/>
          </a:p>
          <a:p>
            <a:pPr marL="0" marR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✔ Model parameters not updated</a:t>
            </a:r>
            <a:endParaRPr dirty="0"/>
          </a:p>
          <a:p>
            <a:pPr marL="0" marR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✔ Model not retrained</a:t>
            </a:r>
            <a:endParaRPr dirty="0"/>
          </a:p>
          <a:p>
            <a:pPr marL="0" marR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✘ Requires </a:t>
            </a:r>
            <a:r>
              <a:rPr lang="en-GB" sz="105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unlabeled</a:t>
            </a:r>
            <a:r>
              <a:rPr lang="en-GB" sz="105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data</a:t>
            </a:r>
            <a:endParaRPr sz="105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12"/>
          <p:cNvSpPr txBox="1"/>
          <p:nvPr/>
        </p:nvSpPr>
        <p:spPr>
          <a:xfrm>
            <a:off x="5686081" y="2138127"/>
            <a:ext cx="2643187" cy="1384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✔ Quantization parameter updated</a:t>
            </a:r>
            <a:endParaRPr dirty="0"/>
          </a:p>
          <a:p>
            <a:pPr marL="0" marR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✘ Model parameters updated</a:t>
            </a:r>
            <a:endParaRPr dirty="0"/>
          </a:p>
          <a:p>
            <a:pPr marL="0" marR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✔ Model not retrained</a:t>
            </a:r>
            <a:endParaRPr dirty="0"/>
          </a:p>
          <a:p>
            <a:pPr marL="0" marR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✔ Requires no data</a:t>
            </a:r>
            <a:endParaRPr sz="105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p23"/>
          <p:cNvSpPr txBox="1">
            <a:spLocks noGrp="1"/>
          </p:cNvSpPr>
          <p:nvPr>
            <p:ph type="title"/>
          </p:nvPr>
        </p:nvSpPr>
        <p:spPr>
          <a:xfrm>
            <a:off x="237331" y="240105"/>
            <a:ext cx="7556500" cy="539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Calibri"/>
              <a:buNone/>
            </a:pPr>
            <a:r>
              <a:rPr lang="en-GB"/>
              <a:t>Recommendation for Quantization - 2</a:t>
            </a:r>
            <a:endParaRPr/>
          </a:p>
        </p:txBody>
      </p:sp>
      <p:sp>
        <p:nvSpPr>
          <p:cNvPr id="596" name="Google Shape;596;p23"/>
          <p:cNvSpPr txBox="1">
            <a:spLocks noGrp="1"/>
          </p:cNvSpPr>
          <p:nvPr>
            <p:ph type="ftr" idx="11"/>
          </p:nvPr>
        </p:nvSpPr>
        <p:spPr>
          <a:xfrm>
            <a:off x="1114426" y="4568400"/>
            <a:ext cx="7042149" cy="576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Evaluation of Quantization Methods for Neural Networks</a:t>
            </a:r>
            <a:endParaRPr/>
          </a:p>
        </p:txBody>
      </p:sp>
      <p:sp>
        <p:nvSpPr>
          <p:cNvPr id="597" name="Google Shape;597;p23"/>
          <p:cNvSpPr txBox="1">
            <a:spLocks noGrp="1"/>
          </p:cNvSpPr>
          <p:nvPr>
            <p:ph type="sldNum" idx="12"/>
          </p:nvPr>
        </p:nvSpPr>
        <p:spPr>
          <a:xfrm>
            <a:off x="2" y="4568400"/>
            <a:ext cx="1114424" cy="572286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75600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41</a:t>
            </a:fld>
            <a:endParaRPr/>
          </a:p>
        </p:txBody>
      </p:sp>
      <p:graphicFrame>
        <p:nvGraphicFramePr>
          <p:cNvPr id="598" name="Google Shape;598;p23"/>
          <p:cNvGraphicFramePr/>
          <p:nvPr>
            <p:extLst>
              <p:ext uri="{D42A27DB-BD31-4B8C-83A1-F6EECF244321}">
                <p14:modId xmlns:p14="http://schemas.microsoft.com/office/powerpoint/2010/main" val="4183433759"/>
              </p:ext>
            </p:extLst>
          </p:nvPr>
        </p:nvGraphicFramePr>
        <p:xfrm>
          <a:off x="871538" y="871538"/>
          <a:ext cx="7371700" cy="2595275"/>
        </p:xfrm>
        <a:graphic>
          <a:graphicData uri="http://schemas.openxmlformats.org/drawingml/2006/table">
            <a:tbl>
              <a:tblPr>
                <a:noFill/>
                <a:tableStyleId>{2525947D-79E6-44B2-B12A-532D9E6C3FB6}</a:tableStyleId>
              </a:tblPr>
              <a:tblGrid>
                <a:gridCol w="121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42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8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85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585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585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585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585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93382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9338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46775"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 b="1" u="none" strike="noStrike" cap="none">
                          <a:solidFill>
                            <a:schemeClr val="lt1"/>
                          </a:solidFill>
                        </a:rPr>
                        <a:t>NN use cases</a:t>
                      </a:r>
                      <a:endParaRPr sz="1350" b="1" i="0" u="none" strike="noStrike" cap="non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ctr">
                    <a:solidFill>
                      <a:schemeClr val="dk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NL"/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 b="1" u="none" strike="noStrike" cap="none" dirty="0">
                          <a:solidFill>
                            <a:schemeClr val="lt1"/>
                          </a:solidFill>
                        </a:rPr>
                        <a:t>Image classification</a:t>
                      </a:r>
                      <a:endParaRPr sz="1350" b="1" i="0" u="none" strike="noStrike" cap="none" dirty="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ctr">
                    <a:solidFill>
                      <a:schemeClr val="dk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N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N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N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N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NL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 b="1" u="none" strike="noStrike" cap="none" dirty="0">
                          <a:solidFill>
                            <a:schemeClr val="lt1"/>
                          </a:solidFill>
                        </a:rPr>
                        <a:t>Object detection</a:t>
                      </a:r>
                      <a:endParaRPr sz="1350" b="1" i="0" u="none" strike="noStrike" cap="none" dirty="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ctr">
                    <a:solidFill>
                      <a:schemeClr val="dk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N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6775"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 b="1" u="none" strike="noStrike" cap="none">
                          <a:solidFill>
                            <a:schemeClr val="lt1"/>
                          </a:solidFill>
                        </a:rPr>
                        <a:t>Framework</a:t>
                      </a:r>
                      <a:endParaRPr sz="1350" b="1" i="0" u="none" strike="noStrike" cap="non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ctr">
                    <a:solidFill>
                      <a:schemeClr val="dk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NL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 b="1" u="none" strike="noStrike" cap="none">
                          <a:solidFill>
                            <a:schemeClr val="lt1"/>
                          </a:solidFill>
                        </a:rPr>
                        <a:t>TensorFlow Lite</a:t>
                      </a:r>
                      <a:endParaRPr sz="1350" b="1" i="0" u="none" strike="noStrike" cap="non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ctr">
                    <a:solidFill>
                      <a:schemeClr val="dk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N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NL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 b="1" u="none" strike="noStrike" cap="none" dirty="0">
                          <a:solidFill>
                            <a:schemeClr val="lt1"/>
                          </a:solidFill>
                        </a:rPr>
                        <a:t>SQuant</a:t>
                      </a:r>
                      <a:endParaRPr sz="1350" b="1" i="0" u="none" strike="noStrike" cap="none" dirty="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ctr">
                    <a:solidFill>
                      <a:schemeClr val="dk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N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NL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 b="1" u="none" strike="noStrike" cap="none" dirty="0">
                          <a:solidFill>
                            <a:schemeClr val="lt1"/>
                          </a:solidFill>
                        </a:rPr>
                        <a:t>TensorFlow Lite</a:t>
                      </a:r>
                      <a:endParaRPr sz="1350" b="1" i="0" u="none" strike="noStrike" cap="none" dirty="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ctr">
                    <a:solidFill>
                      <a:schemeClr val="dk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N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5525"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 b="1" u="none" strike="noStrike" cap="none">
                          <a:solidFill>
                            <a:schemeClr val="lt1"/>
                          </a:solidFill>
                        </a:rPr>
                        <a:t>Quantization method</a:t>
                      </a:r>
                      <a:endParaRPr sz="1350" b="1" i="0" u="none" strike="noStrike" cap="non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ctr">
                    <a:solidFill>
                      <a:schemeClr val="dk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NL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 b="1" u="none" strike="noStrike" cap="none">
                          <a:solidFill>
                            <a:schemeClr val="lt1"/>
                          </a:solidFill>
                        </a:rPr>
                        <a:t>PTQ</a:t>
                      </a:r>
                      <a:endParaRPr sz="1350" b="1" i="0" u="none" strike="noStrike" cap="non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ctr">
                    <a:solidFill>
                      <a:schemeClr val="dk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N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 b="1" u="none" strike="noStrike" cap="none">
                          <a:solidFill>
                            <a:schemeClr val="lt1"/>
                          </a:solidFill>
                        </a:rPr>
                        <a:t>QAT</a:t>
                      </a:r>
                      <a:endParaRPr sz="1350" b="1" i="0" u="none" strike="noStrike" cap="non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ctr">
                    <a:solidFill>
                      <a:schemeClr val="dk2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 b="1" u="none" strike="noStrike" cap="none" dirty="0">
                          <a:solidFill>
                            <a:schemeClr val="lt1"/>
                          </a:solidFill>
                        </a:rPr>
                        <a:t>DFQ</a:t>
                      </a:r>
                      <a:endParaRPr sz="1350" b="1" i="0" u="none" strike="noStrike" cap="none" dirty="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ctr">
                    <a:solidFill>
                      <a:schemeClr val="dk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N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NL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 b="1" u="none" strike="noStrike" cap="none" dirty="0">
                          <a:solidFill>
                            <a:schemeClr val="lt1"/>
                          </a:solidFill>
                        </a:rPr>
                        <a:t>PTQ</a:t>
                      </a:r>
                      <a:endParaRPr sz="1350" b="1" i="0" u="none" strike="noStrike" cap="none" dirty="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ctr">
                    <a:solidFill>
                      <a:schemeClr val="dk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N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3825"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b="1" u="none" strike="noStrike" cap="none">
                          <a:solidFill>
                            <a:srgbClr val="000000"/>
                          </a:solidFill>
                        </a:rPr>
                        <a:t>Quantization bit precision</a:t>
                      </a:r>
                      <a:endParaRPr sz="1000" b="1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ctr">
                    <a:solidFill>
                      <a:srgbClr val="EBCC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N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b="0" u="none" strike="noStrike" cap="none">
                          <a:solidFill>
                            <a:srgbClr val="000000"/>
                          </a:solidFill>
                        </a:rPr>
                        <a:t>16 </a:t>
                      </a:r>
                      <a:endParaRPr sz="10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ctr">
                    <a:solidFill>
                      <a:srgbClr val="EB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b="0" u="none" strike="noStrike" cap="none">
                          <a:solidFill>
                            <a:srgbClr val="000000"/>
                          </a:solidFill>
                        </a:rPr>
                        <a:t>8</a:t>
                      </a:r>
                      <a:endParaRPr sz="10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ctr">
                    <a:solidFill>
                      <a:srgbClr val="EB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b="0" u="none" strike="noStrike" cap="none">
                          <a:solidFill>
                            <a:srgbClr val="000000"/>
                          </a:solidFill>
                        </a:rPr>
                        <a:t>8</a:t>
                      </a:r>
                      <a:endParaRPr sz="10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ctr">
                    <a:solidFill>
                      <a:srgbClr val="EB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b="0" u="none" strike="noStrike" cap="none" dirty="0">
                          <a:solidFill>
                            <a:srgbClr val="000000"/>
                          </a:solidFill>
                        </a:rPr>
                        <a:t>8</a:t>
                      </a:r>
                      <a:endParaRPr sz="10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ctr">
                    <a:solidFill>
                      <a:srgbClr val="EB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b="0" u="none" strike="noStrike" cap="none" dirty="0">
                          <a:solidFill>
                            <a:srgbClr val="000000"/>
                          </a:solidFill>
                        </a:rPr>
                        <a:t>6</a:t>
                      </a:r>
                      <a:endParaRPr sz="10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ctr">
                    <a:solidFill>
                      <a:srgbClr val="EB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b="0" u="none" strike="noStrike" cap="none">
                          <a:solidFill>
                            <a:srgbClr val="000000"/>
                          </a:solidFill>
                        </a:rPr>
                        <a:t>4</a:t>
                      </a:r>
                      <a:endParaRPr sz="10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ctr">
                    <a:solidFill>
                      <a:srgbClr val="EB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b="0" u="none" strike="noStrike" cap="none" dirty="0">
                          <a:solidFill>
                            <a:srgbClr val="000000"/>
                          </a:solidFill>
                        </a:rPr>
                        <a:t>16</a:t>
                      </a:r>
                      <a:endParaRPr sz="10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ctr">
                    <a:solidFill>
                      <a:srgbClr val="EB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b="0" u="none" strike="noStrike" cap="none">
                          <a:solidFill>
                            <a:srgbClr val="000000"/>
                          </a:solidFill>
                        </a:rPr>
                        <a:t>8</a:t>
                      </a:r>
                      <a:endParaRPr sz="10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ctr">
                    <a:solidFill>
                      <a:srgbClr val="EB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4600">
                <a:tc row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b="1" u="none" strike="noStrike" cap="none"/>
                        <a:t>Quantize all layers except </a:t>
                      </a:r>
                      <a:endParaRPr sz="1000" b="1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ctr">
                    <a:solidFill>
                      <a:srgbClr val="F5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b="1" u="none" strike="noStrike" cap="none"/>
                        <a:t>Input layer</a:t>
                      </a:r>
                      <a:endParaRPr sz="1000" b="1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ctr">
                    <a:solidFill>
                      <a:srgbClr val="F5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u="none" strike="noStrike" cap="none" dirty="0"/>
                        <a:t>✔ </a:t>
                      </a:r>
                      <a:endParaRPr sz="10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ctr">
                    <a:solidFill>
                      <a:srgbClr val="F5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en-GB" sz="1000" u="none" strike="noStrike" cap="none"/>
                        <a:t>✔ </a:t>
                      </a:r>
                      <a:endParaRPr sz="10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ctr">
                    <a:solidFill>
                      <a:srgbClr val="F5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u="none" strike="noStrike" cap="none"/>
                        <a:t>✔ </a:t>
                      </a:r>
                      <a:endParaRPr sz="10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ctr">
                    <a:solidFill>
                      <a:srgbClr val="F5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en-GB" sz="1000" u="none" strike="noStrike" cap="none"/>
                        <a:t>✔ </a:t>
                      </a:r>
                      <a:endParaRPr sz="10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ctr">
                    <a:solidFill>
                      <a:srgbClr val="F5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en-GB" sz="1000" u="none" strike="noStrike" cap="none" dirty="0"/>
                        <a:t>✔ </a:t>
                      </a:r>
                      <a:endParaRPr sz="10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ctr">
                    <a:solidFill>
                      <a:srgbClr val="F5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u="none" strike="noStrike" cap="none"/>
                        <a:t>✔ </a:t>
                      </a:r>
                      <a:endParaRPr sz="10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ctr">
                    <a:solidFill>
                      <a:srgbClr val="F5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u="none" strike="noStrike" cap="none" dirty="0"/>
                        <a:t>✔ </a:t>
                      </a:r>
                      <a:endParaRPr sz="10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ctr">
                    <a:solidFill>
                      <a:srgbClr val="F5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u="none" strike="noStrike" cap="none" dirty="0"/>
                        <a:t>✔ </a:t>
                      </a:r>
                      <a:endParaRPr sz="10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ctr">
                    <a:solidFill>
                      <a:srgbClr val="F5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4600">
                <a:tc vMerge="1">
                  <a:txBody>
                    <a:bodyPr/>
                    <a:lstStyle/>
                    <a:p>
                      <a:endParaRPr lang="en-N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b="1" u="none" strike="noStrike" cap="none"/>
                        <a:t>Output layer</a:t>
                      </a:r>
                      <a:endParaRPr sz="1000" b="1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ctr">
                    <a:solidFill>
                      <a:srgbClr val="F5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u="none" strike="noStrike" cap="none"/>
                        <a:t>✔ </a:t>
                      </a:r>
                      <a:endParaRPr sz="10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ctr">
                    <a:solidFill>
                      <a:srgbClr val="F5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en-GB" sz="1000" u="none" strike="noStrike" cap="none"/>
                        <a:t>✔ </a:t>
                      </a:r>
                      <a:endParaRPr sz="10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ctr">
                    <a:solidFill>
                      <a:srgbClr val="F5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ctr">
                    <a:solidFill>
                      <a:srgbClr val="F5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ctr">
                    <a:solidFill>
                      <a:srgbClr val="F5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ctr">
                    <a:solidFill>
                      <a:srgbClr val="F5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ctr">
                    <a:solidFill>
                      <a:srgbClr val="F5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u="none" strike="noStrike" cap="none"/>
                        <a:t>✔ </a:t>
                      </a:r>
                      <a:endParaRPr sz="10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ctr">
                    <a:solidFill>
                      <a:srgbClr val="F5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u="none" strike="noStrike" cap="none" dirty="0"/>
                        <a:t>✔ </a:t>
                      </a:r>
                      <a:endParaRPr sz="10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ctr">
                    <a:solidFill>
                      <a:srgbClr val="F5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0700">
                <a:tc vMerge="1">
                  <a:txBody>
                    <a:bodyPr/>
                    <a:lstStyle/>
                    <a:p>
                      <a:endParaRPr lang="en-N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b="1" u="none" strike="noStrike" cap="none"/>
                        <a:t>Suspected layers</a:t>
                      </a:r>
                      <a:endParaRPr sz="1000" b="1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ctr">
                    <a:solidFill>
                      <a:srgbClr val="F5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ctr">
                    <a:solidFill>
                      <a:srgbClr val="F5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ctr">
                    <a:solidFill>
                      <a:srgbClr val="F5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ctr">
                    <a:solidFill>
                      <a:srgbClr val="F5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ctr">
                    <a:solidFill>
                      <a:srgbClr val="F5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ctr">
                    <a:solidFill>
                      <a:srgbClr val="F5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ctr">
                    <a:solidFill>
                      <a:srgbClr val="F5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u="none" strike="noStrike" cap="none"/>
                        <a:t> </a:t>
                      </a:r>
                      <a:endParaRPr sz="10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ctr">
                    <a:solidFill>
                      <a:srgbClr val="F5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u="none" strike="noStrike" cap="none" dirty="0"/>
                        <a:t>✔ </a:t>
                      </a:r>
                      <a:endParaRPr sz="10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ctr">
                    <a:solidFill>
                      <a:srgbClr val="F5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1350"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b="1" u="none" strike="noStrike" cap="none">
                          <a:solidFill>
                            <a:srgbClr val="000000"/>
                          </a:solidFill>
                        </a:rPr>
                        <a:t>Model compression (%)</a:t>
                      </a:r>
                      <a:endParaRPr sz="1000" b="1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ctr">
                    <a:solidFill>
                      <a:srgbClr val="EBCC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N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u="none" strike="noStrike" cap="none" dirty="0"/>
                        <a:t>∼75</a:t>
                      </a:r>
                      <a:endParaRPr sz="10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ctr">
                    <a:solidFill>
                      <a:srgbClr val="EB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u="none" strike="noStrike" cap="none"/>
                        <a:t>∼85</a:t>
                      </a:r>
                      <a:endParaRPr sz="10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ctr">
                    <a:solidFill>
                      <a:srgbClr val="EB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u="none" strike="noStrike" cap="none"/>
                        <a:t>∼85</a:t>
                      </a:r>
                      <a:endParaRPr sz="10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ctr">
                    <a:solidFill>
                      <a:srgbClr val="EB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b="0" u="none" strike="noStrike" cap="none">
                          <a:solidFill>
                            <a:srgbClr val="000000"/>
                          </a:solidFill>
                        </a:rPr>
                        <a:t>*</a:t>
                      </a:r>
                      <a:endParaRPr sz="10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ctr">
                    <a:solidFill>
                      <a:srgbClr val="EB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b="0" u="none" strike="noStrike" cap="none" dirty="0">
                          <a:solidFill>
                            <a:srgbClr val="000000"/>
                          </a:solidFill>
                        </a:rPr>
                        <a:t>*</a:t>
                      </a:r>
                      <a:endParaRPr sz="10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ctr">
                    <a:solidFill>
                      <a:srgbClr val="EB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b="0" u="none" strike="noStrike" cap="none">
                          <a:solidFill>
                            <a:srgbClr val="000000"/>
                          </a:solidFill>
                        </a:rPr>
                        <a:t>*</a:t>
                      </a:r>
                      <a:endParaRPr sz="10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ctr">
                    <a:solidFill>
                      <a:srgbClr val="EB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u="none" strike="noStrike" cap="none"/>
                        <a:t>∼75</a:t>
                      </a:r>
                      <a:endParaRPr sz="10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ctr">
                    <a:solidFill>
                      <a:srgbClr val="EB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u="none" strike="noStrike" cap="none" dirty="0"/>
                        <a:t>∼85</a:t>
                      </a:r>
                      <a:endParaRPr sz="10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ctr">
                    <a:solidFill>
                      <a:srgbClr val="EB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1125"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b="1" u="none" strike="noStrike" cap="none">
                          <a:solidFill>
                            <a:srgbClr val="000000"/>
                          </a:solidFill>
                        </a:rPr>
                        <a:t>Change in accuracy (or mAP) (%)</a:t>
                      </a:r>
                      <a:endParaRPr sz="1000" b="1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ctr"/>
                </a:tc>
                <a:tc hMerge="1">
                  <a:txBody>
                    <a:bodyPr/>
                    <a:lstStyle/>
                    <a:p>
                      <a:endParaRPr lang="en-N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b="0" u="none" strike="noStrike" cap="none">
                          <a:solidFill>
                            <a:srgbClr val="000000"/>
                          </a:solidFill>
                        </a:rPr>
                        <a:t>&lt;1</a:t>
                      </a:r>
                      <a:endParaRPr sz="10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GB" sz="1000" b="0" u="none" strike="noStrike" cap="none">
                          <a:solidFill>
                            <a:srgbClr val="000000"/>
                          </a:solidFill>
                        </a:rPr>
                        <a:t>&lt;1</a:t>
                      </a:r>
                      <a:endParaRPr sz="10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GB" sz="1000" b="0" u="none" strike="noStrike" cap="none">
                          <a:solidFill>
                            <a:srgbClr val="000000"/>
                          </a:solidFill>
                        </a:rPr>
                        <a:t>&lt;1</a:t>
                      </a:r>
                      <a:endParaRPr sz="10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GB" sz="1000" b="0" u="none" strike="noStrike" cap="none">
                          <a:solidFill>
                            <a:srgbClr val="000000"/>
                          </a:solidFill>
                        </a:rPr>
                        <a:t>&lt;1</a:t>
                      </a:r>
                      <a:endParaRPr sz="10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GB" sz="1000" b="0" u="none" strike="noStrike" cap="none" dirty="0">
                          <a:solidFill>
                            <a:srgbClr val="000000"/>
                          </a:solidFill>
                        </a:rPr>
                        <a:t>&lt;5</a:t>
                      </a:r>
                      <a:endParaRPr sz="10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GB" sz="1000" b="0" u="none" strike="noStrike" cap="none" dirty="0">
                          <a:solidFill>
                            <a:srgbClr val="000000"/>
                          </a:solidFill>
                        </a:rPr>
                        <a:t>&lt;25</a:t>
                      </a:r>
                      <a:endParaRPr sz="10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GB" sz="1000" b="0" u="none" strike="noStrike" cap="none">
                          <a:solidFill>
                            <a:srgbClr val="000000"/>
                          </a:solidFill>
                        </a:rPr>
                        <a:t>&lt;2</a:t>
                      </a:r>
                      <a:endParaRPr sz="10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GB" sz="1000" b="0" u="none" strike="noStrike" cap="none" dirty="0">
                          <a:solidFill>
                            <a:srgbClr val="000000"/>
                          </a:solidFill>
                        </a:rPr>
                        <a:t>&lt;2</a:t>
                      </a:r>
                      <a:endParaRPr sz="10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13"/>
          <p:cNvSpPr txBox="1">
            <a:spLocks noGrp="1"/>
          </p:cNvSpPr>
          <p:nvPr>
            <p:ph type="title"/>
          </p:nvPr>
        </p:nvSpPr>
        <p:spPr>
          <a:xfrm>
            <a:off x="237331" y="240105"/>
            <a:ext cx="7556500" cy="539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642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GB" sz="2800"/>
              <a:t>Quantization Support in Frameworks</a:t>
            </a:r>
            <a:endParaRPr sz="2800"/>
          </a:p>
        </p:txBody>
      </p:sp>
      <p:sp>
        <p:nvSpPr>
          <p:cNvPr id="429" name="Google Shape;429;p13"/>
          <p:cNvSpPr txBox="1">
            <a:spLocks noGrp="1"/>
          </p:cNvSpPr>
          <p:nvPr>
            <p:ph type="ftr" idx="11"/>
          </p:nvPr>
        </p:nvSpPr>
        <p:spPr>
          <a:xfrm>
            <a:off x="1114426" y="4568400"/>
            <a:ext cx="7042149" cy="576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Evaluation of Quantization Methods for Neural Networks</a:t>
            </a:r>
            <a:endParaRPr dirty="0"/>
          </a:p>
        </p:txBody>
      </p:sp>
      <p:sp>
        <p:nvSpPr>
          <p:cNvPr id="430" name="Google Shape;430;p13"/>
          <p:cNvSpPr txBox="1">
            <a:spLocks noGrp="1"/>
          </p:cNvSpPr>
          <p:nvPr>
            <p:ph type="sldNum" idx="12"/>
          </p:nvPr>
        </p:nvSpPr>
        <p:spPr>
          <a:xfrm>
            <a:off x="2" y="4568400"/>
            <a:ext cx="1114424" cy="572286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75600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42</a:t>
            </a:fld>
            <a:endParaRPr dirty="0"/>
          </a:p>
        </p:txBody>
      </p:sp>
      <p:graphicFrame>
        <p:nvGraphicFramePr>
          <p:cNvPr id="431" name="Google Shape;431;p13"/>
          <p:cNvGraphicFramePr/>
          <p:nvPr/>
        </p:nvGraphicFramePr>
        <p:xfrm>
          <a:off x="157735" y="650322"/>
          <a:ext cx="8828525" cy="1211620"/>
        </p:xfrm>
        <a:graphic>
          <a:graphicData uri="http://schemas.openxmlformats.org/drawingml/2006/table">
            <a:tbl>
              <a:tblPr firstRow="1" bandRow="1">
                <a:noFill/>
                <a:tableStyleId>{2525947D-79E6-44B2-B12A-532D9E6C3FB6}</a:tableStyleId>
              </a:tblPr>
              <a:tblGrid>
                <a:gridCol w="2732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7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47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349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 u="none" strike="noStrike" cap="none"/>
                        <a:t>Frameworks</a:t>
                      </a:r>
                      <a:endParaRPr sz="1350" u="none" strike="noStrike" cap="none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 u="none" strike="noStrike" cap="none"/>
                        <a:t>Types of layers</a:t>
                      </a:r>
                      <a:endParaRPr sz="1350" u="none" strike="noStrike" cap="none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 u="none" strike="noStrike" cap="none"/>
                        <a:t>Supported quantization methods</a:t>
                      </a:r>
                      <a:endParaRPr sz="1350" u="none" strike="noStrike" cap="none"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1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-GB" sz="1400" i="1" u="none" strike="noStrike" cap="none" dirty="0"/>
                        <a:t>TensorFlow Lite</a:t>
                      </a:r>
                      <a:endParaRPr sz="1350" u="none" strike="noStrike" cap="none" dirty="0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i="1" u="none" strike="noStrike" cap="none"/>
                        <a:t>Keras </a:t>
                      </a:r>
                      <a:endParaRPr sz="1350" u="none" strike="noStrike" cap="none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GB" sz="1200" u="none" strike="noStrike" cap="none"/>
                        <a:t>PTQ and QAT</a:t>
                      </a:r>
                      <a:endParaRPr sz="1350" u="none" strike="noStrike" cap="none"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49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-GB" sz="1400" i="1" u="none" strike="noStrike" cap="none"/>
                        <a:t>QKeras</a:t>
                      </a:r>
                      <a:endParaRPr sz="1350" u="none" strike="noStrike" cap="none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i="1" u="none" strike="noStrike" cap="none" dirty="0"/>
                        <a:t>QKeras</a:t>
                      </a:r>
                      <a:endParaRPr sz="1350" u="none" strike="noStrike" cap="none" dirty="0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u="none" strike="noStrike" cap="none" dirty="0"/>
                        <a:t>QAT</a:t>
                      </a:r>
                      <a:endParaRPr sz="1350" u="none" strike="noStrike" cap="none" dirty="0"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49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-GB" sz="1400" i="1" u="none" strike="noStrike" cap="none" dirty="0"/>
                        <a:t>SQuant</a:t>
                      </a:r>
                      <a:endParaRPr sz="1350" u="none" strike="noStrike" cap="none" dirty="0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i="1" u="none" strike="noStrike" cap="none"/>
                        <a:t>PyTorch</a:t>
                      </a:r>
                      <a:r>
                        <a:rPr lang="en-GB" sz="1200" u="none" strike="noStrike" cap="none"/>
                        <a:t> </a:t>
                      </a:r>
                      <a:endParaRPr sz="1350" u="none" strike="noStrike" cap="none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u="none" strike="noStrike" cap="none" dirty="0"/>
                        <a:t>DFQ</a:t>
                      </a:r>
                      <a:endParaRPr sz="1350" u="none" strike="noStrike" cap="none" dirty="0"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32" name="Google Shape;432;p13"/>
          <p:cNvSpPr txBox="1"/>
          <p:nvPr/>
        </p:nvSpPr>
        <p:spPr>
          <a:xfrm>
            <a:off x="237331" y="1861902"/>
            <a:ext cx="7556500" cy="539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9285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GB" sz="1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Quantization capabilities of these frameworks</a:t>
            </a:r>
            <a:endParaRPr sz="14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AutoShape 3">
            <a:extLst>
              <a:ext uri="{FF2B5EF4-FFF2-40B4-BE49-F238E27FC236}">
                <a16:creationId xmlns:a16="http://schemas.microsoft.com/office/drawing/2014/main" id="{32957F49-D3EC-197B-1CC2-4C2155BBED0D}"/>
              </a:ext>
            </a:extLst>
          </p:cNvPr>
          <p:cNvSpPr>
            <a:spLocks noChangeAspect="1" noChangeArrowheads="1" noTextEdit="1"/>
          </p:cNvSpPr>
          <p:nvPr/>
        </p:nvSpPr>
        <p:spPr bwMode="auto">
          <a:xfrm>
            <a:off x="174625" y="2185988"/>
            <a:ext cx="8850313" cy="2581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NL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EA863249-5541-AB39-D017-32D8282C83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563" y="2232026"/>
            <a:ext cx="769938" cy="425450"/>
          </a:xfrm>
          <a:prstGeom prst="rect">
            <a:avLst/>
          </a:prstGeom>
          <a:solidFill>
            <a:srgbClr val="C8191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NL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A5F5B235-D8E6-0B79-F8ED-C72A99B27E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2500" y="2232026"/>
            <a:ext cx="715963" cy="425450"/>
          </a:xfrm>
          <a:prstGeom prst="rect">
            <a:avLst/>
          </a:prstGeom>
          <a:solidFill>
            <a:srgbClr val="C8191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NL"/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C3A8C4AE-4DD7-98C7-5DD1-5606D9AFE1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68463" y="2232026"/>
            <a:ext cx="1035050" cy="425450"/>
          </a:xfrm>
          <a:prstGeom prst="rect">
            <a:avLst/>
          </a:prstGeom>
          <a:solidFill>
            <a:srgbClr val="C8191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NL"/>
          </a:p>
        </p:txBody>
      </p:sp>
      <p:sp>
        <p:nvSpPr>
          <p:cNvPr id="8" name="Rectangle 8">
            <a:extLst>
              <a:ext uri="{FF2B5EF4-FFF2-40B4-BE49-F238E27FC236}">
                <a16:creationId xmlns:a16="http://schemas.microsoft.com/office/drawing/2014/main" id="{D85724A0-D292-98A7-0400-A55B05B27B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03513" y="2232026"/>
            <a:ext cx="1047750" cy="425450"/>
          </a:xfrm>
          <a:prstGeom prst="rect">
            <a:avLst/>
          </a:prstGeom>
          <a:solidFill>
            <a:srgbClr val="C8191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NL"/>
          </a:p>
        </p:txBody>
      </p:sp>
      <p:sp>
        <p:nvSpPr>
          <p:cNvPr id="9" name="Rectangle 9">
            <a:extLst>
              <a:ext uri="{FF2B5EF4-FFF2-40B4-BE49-F238E27FC236}">
                <a16:creationId xmlns:a16="http://schemas.microsoft.com/office/drawing/2014/main" id="{C7AE327A-2A06-4370-077D-1A469E4BB8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51263" y="2232026"/>
            <a:ext cx="2316163" cy="425450"/>
          </a:xfrm>
          <a:prstGeom prst="rect">
            <a:avLst/>
          </a:prstGeom>
          <a:solidFill>
            <a:srgbClr val="C8191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NL"/>
          </a:p>
        </p:txBody>
      </p:sp>
      <p:sp>
        <p:nvSpPr>
          <p:cNvPr id="10" name="Rectangle 10">
            <a:extLst>
              <a:ext uri="{FF2B5EF4-FFF2-40B4-BE49-F238E27FC236}">
                <a16:creationId xmlns:a16="http://schemas.microsoft.com/office/drawing/2014/main" id="{2F6C7856-C2FA-3F6F-BDE9-E33D807103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67425" y="2232026"/>
            <a:ext cx="1574800" cy="425450"/>
          </a:xfrm>
          <a:prstGeom prst="rect">
            <a:avLst/>
          </a:prstGeom>
          <a:solidFill>
            <a:srgbClr val="C8191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NL"/>
          </a:p>
        </p:txBody>
      </p:sp>
      <p:sp>
        <p:nvSpPr>
          <p:cNvPr id="11" name="Rectangle 11">
            <a:extLst>
              <a:ext uri="{FF2B5EF4-FFF2-40B4-BE49-F238E27FC236}">
                <a16:creationId xmlns:a16="http://schemas.microsoft.com/office/drawing/2014/main" id="{FA53C8DB-4045-CC58-DAE7-A12935FCA7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42225" y="2232026"/>
            <a:ext cx="1370013" cy="425450"/>
          </a:xfrm>
          <a:prstGeom prst="rect">
            <a:avLst/>
          </a:prstGeom>
          <a:solidFill>
            <a:srgbClr val="C8191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NL"/>
          </a:p>
        </p:txBody>
      </p:sp>
      <p:sp>
        <p:nvSpPr>
          <p:cNvPr id="12" name="Rectangle 12">
            <a:extLst>
              <a:ext uri="{FF2B5EF4-FFF2-40B4-BE49-F238E27FC236}">
                <a16:creationId xmlns:a16="http://schemas.microsoft.com/office/drawing/2014/main" id="{9D0574DE-1443-9F72-E00A-C2152EBE6C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563" y="2657476"/>
            <a:ext cx="769938" cy="331788"/>
          </a:xfrm>
          <a:prstGeom prst="rect">
            <a:avLst/>
          </a:prstGeom>
          <a:solidFill>
            <a:srgbClr val="C8191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NL"/>
          </a:p>
        </p:txBody>
      </p:sp>
      <p:sp>
        <p:nvSpPr>
          <p:cNvPr id="13" name="Rectangle 13">
            <a:extLst>
              <a:ext uri="{FF2B5EF4-FFF2-40B4-BE49-F238E27FC236}">
                <a16:creationId xmlns:a16="http://schemas.microsoft.com/office/drawing/2014/main" id="{A3EA14C7-5F69-9DEC-0BC9-268AA31D6A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2500" y="2657476"/>
            <a:ext cx="715963" cy="331788"/>
          </a:xfrm>
          <a:prstGeom prst="rect">
            <a:avLst/>
          </a:prstGeom>
          <a:solidFill>
            <a:srgbClr val="C8191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NL"/>
          </a:p>
        </p:txBody>
      </p:sp>
      <p:sp>
        <p:nvSpPr>
          <p:cNvPr id="14" name="Rectangle 14">
            <a:extLst>
              <a:ext uri="{FF2B5EF4-FFF2-40B4-BE49-F238E27FC236}">
                <a16:creationId xmlns:a16="http://schemas.microsoft.com/office/drawing/2014/main" id="{6F16BEF2-AA0C-41DE-62FD-71789A3D39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68463" y="2657476"/>
            <a:ext cx="517525" cy="331788"/>
          </a:xfrm>
          <a:prstGeom prst="rect">
            <a:avLst/>
          </a:prstGeom>
          <a:solidFill>
            <a:srgbClr val="C8191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NL"/>
          </a:p>
        </p:txBody>
      </p:sp>
      <p:sp>
        <p:nvSpPr>
          <p:cNvPr id="15" name="Rectangle 15">
            <a:extLst>
              <a:ext uri="{FF2B5EF4-FFF2-40B4-BE49-F238E27FC236}">
                <a16:creationId xmlns:a16="http://schemas.microsoft.com/office/drawing/2014/main" id="{FB12799C-5B26-85B9-BBA9-5E3EED12C7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85988" y="2657476"/>
            <a:ext cx="517525" cy="331788"/>
          </a:xfrm>
          <a:prstGeom prst="rect">
            <a:avLst/>
          </a:prstGeom>
          <a:solidFill>
            <a:srgbClr val="C8191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NL"/>
          </a:p>
        </p:txBody>
      </p:sp>
      <p:sp>
        <p:nvSpPr>
          <p:cNvPr id="16" name="Rectangle 16">
            <a:extLst>
              <a:ext uri="{FF2B5EF4-FFF2-40B4-BE49-F238E27FC236}">
                <a16:creationId xmlns:a16="http://schemas.microsoft.com/office/drawing/2014/main" id="{B1ED6B35-D446-3112-A285-3649DE71D5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03513" y="2657476"/>
            <a:ext cx="414338" cy="331788"/>
          </a:xfrm>
          <a:prstGeom prst="rect">
            <a:avLst/>
          </a:prstGeom>
          <a:solidFill>
            <a:srgbClr val="C8191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NL"/>
          </a:p>
        </p:txBody>
      </p:sp>
      <p:sp>
        <p:nvSpPr>
          <p:cNvPr id="17" name="Rectangle 17">
            <a:extLst>
              <a:ext uri="{FF2B5EF4-FFF2-40B4-BE49-F238E27FC236}">
                <a16:creationId xmlns:a16="http://schemas.microsoft.com/office/drawing/2014/main" id="{D65A30CF-81AD-5C45-A3DC-F6C3D611F9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17850" y="2657476"/>
            <a:ext cx="317500" cy="331788"/>
          </a:xfrm>
          <a:prstGeom prst="rect">
            <a:avLst/>
          </a:prstGeom>
          <a:solidFill>
            <a:srgbClr val="C8191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NL"/>
          </a:p>
        </p:txBody>
      </p:sp>
      <p:sp>
        <p:nvSpPr>
          <p:cNvPr id="18" name="Rectangle 18">
            <a:extLst>
              <a:ext uri="{FF2B5EF4-FFF2-40B4-BE49-F238E27FC236}">
                <a16:creationId xmlns:a16="http://schemas.microsoft.com/office/drawing/2014/main" id="{DEF8A50A-4874-7E5A-32F3-D35922952B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35350" y="2657476"/>
            <a:ext cx="315913" cy="331788"/>
          </a:xfrm>
          <a:prstGeom prst="rect">
            <a:avLst/>
          </a:prstGeom>
          <a:solidFill>
            <a:srgbClr val="C8191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NL"/>
          </a:p>
        </p:txBody>
      </p:sp>
      <p:sp>
        <p:nvSpPr>
          <p:cNvPr id="19" name="Rectangle 19">
            <a:extLst>
              <a:ext uri="{FF2B5EF4-FFF2-40B4-BE49-F238E27FC236}">
                <a16:creationId xmlns:a16="http://schemas.microsoft.com/office/drawing/2014/main" id="{0E0E72D5-77B3-FA43-CB5E-11C2DFE296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51263" y="2657476"/>
            <a:ext cx="742950" cy="331788"/>
          </a:xfrm>
          <a:prstGeom prst="rect">
            <a:avLst/>
          </a:prstGeom>
          <a:solidFill>
            <a:srgbClr val="C8191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NL"/>
          </a:p>
        </p:txBody>
      </p:sp>
      <p:sp>
        <p:nvSpPr>
          <p:cNvPr id="20" name="Rectangle 20">
            <a:extLst>
              <a:ext uri="{FF2B5EF4-FFF2-40B4-BE49-F238E27FC236}">
                <a16:creationId xmlns:a16="http://schemas.microsoft.com/office/drawing/2014/main" id="{41D05BEC-9710-339C-351A-99F7AFB0DD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94213" y="2657476"/>
            <a:ext cx="787400" cy="331788"/>
          </a:xfrm>
          <a:prstGeom prst="rect">
            <a:avLst/>
          </a:prstGeom>
          <a:solidFill>
            <a:srgbClr val="C8191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NL"/>
          </a:p>
        </p:txBody>
      </p:sp>
      <p:sp>
        <p:nvSpPr>
          <p:cNvPr id="21" name="Rectangle 21">
            <a:extLst>
              <a:ext uri="{FF2B5EF4-FFF2-40B4-BE49-F238E27FC236}">
                <a16:creationId xmlns:a16="http://schemas.microsoft.com/office/drawing/2014/main" id="{A69CD6D7-95E1-34E8-B0E2-57708282D7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81613" y="2657476"/>
            <a:ext cx="785813" cy="331788"/>
          </a:xfrm>
          <a:prstGeom prst="rect">
            <a:avLst/>
          </a:prstGeom>
          <a:solidFill>
            <a:srgbClr val="C8191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NL"/>
          </a:p>
        </p:txBody>
      </p:sp>
      <p:sp>
        <p:nvSpPr>
          <p:cNvPr id="22" name="Rectangle 22">
            <a:extLst>
              <a:ext uri="{FF2B5EF4-FFF2-40B4-BE49-F238E27FC236}">
                <a16:creationId xmlns:a16="http://schemas.microsoft.com/office/drawing/2014/main" id="{3579348F-AB62-3807-D0A5-3128FF25A1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67425" y="2657476"/>
            <a:ext cx="787400" cy="331788"/>
          </a:xfrm>
          <a:prstGeom prst="rect">
            <a:avLst/>
          </a:prstGeom>
          <a:solidFill>
            <a:srgbClr val="C8191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NL"/>
          </a:p>
        </p:txBody>
      </p:sp>
      <p:sp>
        <p:nvSpPr>
          <p:cNvPr id="23" name="Rectangle 23">
            <a:extLst>
              <a:ext uri="{FF2B5EF4-FFF2-40B4-BE49-F238E27FC236}">
                <a16:creationId xmlns:a16="http://schemas.microsoft.com/office/drawing/2014/main" id="{C4EEFF4E-02B0-A3B6-B589-897D46D219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4825" y="2657476"/>
            <a:ext cx="787400" cy="331788"/>
          </a:xfrm>
          <a:prstGeom prst="rect">
            <a:avLst/>
          </a:prstGeom>
          <a:solidFill>
            <a:srgbClr val="C8191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NL"/>
          </a:p>
        </p:txBody>
      </p:sp>
      <p:sp>
        <p:nvSpPr>
          <p:cNvPr id="24" name="Rectangle 24">
            <a:extLst>
              <a:ext uri="{FF2B5EF4-FFF2-40B4-BE49-F238E27FC236}">
                <a16:creationId xmlns:a16="http://schemas.microsoft.com/office/drawing/2014/main" id="{3EA6A7DF-DAA5-7294-036D-663B1E578E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42225" y="2657476"/>
            <a:ext cx="666750" cy="331788"/>
          </a:xfrm>
          <a:prstGeom prst="rect">
            <a:avLst/>
          </a:prstGeom>
          <a:solidFill>
            <a:srgbClr val="C8191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NL"/>
          </a:p>
        </p:txBody>
      </p:sp>
      <p:sp>
        <p:nvSpPr>
          <p:cNvPr id="25" name="Rectangle 25">
            <a:extLst>
              <a:ext uri="{FF2B5EF4-FFF2-40B4-BE49-F238E27FC236}">
                <a16:creationId xmlns:a16="http://schemas.microsoft.com/office/drawing/2014/main" id="{B9ABBCE3-3892-732E-543E-097F60ADB3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08975" y="2657476"/>
            <a:ext cx="703263" cy="331788"/>
          </a:xfrm>
          <a:prstGeom prst="rect">
            <a:avLst/>
          </a:prstGeom>
          <a:solidFill>
            <a:srgbClr val="C8191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NL"/>
          </a:p>
        </p:txBody>
      </p:sp>
      <p:sp>
        <p:nvSpPr>
          <p:cNvPr id="26" name="Rectangle 26">
            <a:extLst>
              <a:ext uri="{FF2B5EF4-FFF2-40B4-BE49-F238E27FC236}">
                <a16:creationId xmlns:a16="http://schemas.microsoft.com/office/drawing/2014/main" id="{954319CA-A5B3-C9E8-6B74-45C9EAAEE1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563" y="2989263"/>
            <a:ext cx="769938" cy="593725"/>
          </a:xfrm>
          <a:prstGeom prst="rect">
            <a:avLst/>
          </a:prstGeom>
          <a:solidFill>
            <a:srgbClr val="EBCC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NL"/>
          </a:p>
        </p:txBody>
      </p:sp>
      <p:sp>
        <p:nvSpPr>
          <p:cNvPr id="27" name="Rectangle 27">
            <a:extLst>
              <a:ext uri="{FF2B5EF4-FFF2-40B4-BE49-F238E27FC236}">
                <a16:creationId xmlns:a16="http://schemas.microsoft.com/office/drawing/2014/main" id="{4E802566-58D2-0110-A9EA-EC4A9464D0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2500" y="2989263"/>
            <a:ext cx="715963" cy="290513"/>
          </a:xfrm>
          <a:prstGeom prst="rect">
            <a:avLst/>
          </a:prstGeom>
          <a:solidFill>
            <a:srgbClr val="EBCC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NL"/>
          </a:p>
        </p:txBody>
      </p:sp>
      <p:sp>
        <p:nvSpPr>
          <p:cNvPr id="28" name="Rectangle 28">
            <a:extLst>
              <a:ext uri="{FF2B5EF4-FFF2-40B4-BE49-F238E27FC236}">
                <a16:creationId xmlns:a16="http://schemas.microsoft.com/office/drawing/2014/main" id="{5FB6742C-47DF-07E0-2F28-7D9E6FAB6C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68463" y="2989263"/>
            <a:ext cx="517525" cy="593725"/>
          </a:xfrm>
          <a:prstGeom prst="rect">
            <a:avLst/>
          </a:prstGeom>
          <a:solidFill>
            <a:srgbClr val="EBCC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NL"/>
          </a:p>
        </p:txBody>
      </p:sp>
      <p:sp>
        <p:nvSpPr>
          <p:cNvPr id="29" name="Rectangle 29">
            <a:extLst>
              <a:ext uri="{FF2B5EF4-FFF2-40B4-BE49-F238E27FC236}">
                <a16:creationId xmlns:a16="http://schemas.microsoft.com/office/drawing/2014/main" id="{A837CE14-7EDF-4EDF-1B78-A7B0B48D87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85988" y="2989263"/>
            <a:ext cx="517525" cy="593725"/>
          </a:xfrm>
          <a:prstGeom prst="rect">
            <a:avLst/>
          </a:prstGeom>
          <a:solidFill>
            <a:srgbClr val="EBCC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NL"/>
          </a:p>
        </p:txBody>
      </p:sp>
      <p:sp>
        <p:nvSpPr>
          <p:cNvPr id="30" name="Rectangle 30">
            <a:extLst>
              <a:ext uri="{FF2B5EF4-FFF2-40B4-BE49-F238E27FC236}">
                <a16:creationId xmlns:a16="http://schemas.microsoft.com/office/drawing/2014/main" id="{D5D32ACF-2EBB-F81A-1468-614AE1390B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03513" y="2989263"/>
            <a:ext cx="414338" cy="593725"/>
          </a:xfrm>
          <a:prstGeom prst="rect">
            <a:avLst/>
          </a:prstGeom>
          <a:solidFill>
            <a:srgbClr val="EBCC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NL"/>
          </a:p>
        </p:txBody>
      </p:sp>
      <p:sp>
        <p:nvSpPr>
          <p:cNvPr id="31" name="Rectangle 31">
            <a:extLst>
              <a:ext uri="{FF2B5EF4-FFF2-40B4-BE49-F238E27FC236}">
                <a16:creationId xmlns:a16="http://schemas.microsoft.com/office/drawing/2014/main" id="{B3E59C69-5B35-C91E-418C-29EF376939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17850" y="2989263"/>
            <a:ext cx="317500" cy="593725"/>
          </a:xfrm>
          <a:prstGeom prst="rect">
            <a:avLst/>
          </a:prstGeom>
          <a:solidFill>
            <a:srgbClr val="EBCC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NL"/>
          </a:p>
        </p:txBody>
      </p:sp>
      <p:sp>
        <p:nvSpPr>
          <p:cNvPr id="32" name="Rectangle 32">
            <a:extLst>
              <a:ext uri="{FF2B5EF4-FFF2-40B4-BE49-F238E27FC236}">
                <a16:creationId xmlns:a16="http://schemas.microsoft.com/office/drawing/2014/main" id="{825EB6A8-5D68-9CA0-CE41-5254EC6C0B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35350" y="2989263"/>
            <a:ext cx="315913" cy="593725"/>
          </a:xfrm>
          <a:prstGeom prst="rect">
            <a:avLst/>
          </a:prstGeom>
          <a:solidFill>
            <a:srgbClr val="EBCC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NL"/>
          </a:p>
        </p:txBody>
      </p:sp>
      <p:sp>
        <p:nvSpPr>
          <p:cNvPr id="33" name="Rectangle 33">
            <a:extLst>
              <a:ext uri="{FF2B5EF4-FFF2-40B4-BE49-F238E27FC236}">
                <a16:creationId xmlns:a16="http://schemas.microsoft.com/office/drawing/2014/main" id="{3BE7D68B-A733-4720-28E4-4357962D2C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51263" y="2989263"/>
            <a:ext cx="742950" cy="593725"/>
          </a:xfrm>
          <a:prstGeom prst="rect">
            <a:avLst/>
          </a:prstGeom>
          <a:solidFill>
            <a:srgbClr val="EBCC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NL"/>
          </a:p>
        </p:txBody>
      </p:sp>
      <p:sp>
        <p:nvSpPr>
          <p:cNvPr id="34" name="Rectangle 34">
            <a:extLst>
              <a:ext uri="{FF2B5EF4-FFF2-40B4-BE49-F238E27FC236}">
                <a16:creationId xmlns:a16="http://schemas.microsoft.com/office/drawing/2014/main" id="{8FD78AA6-D601-174F-7600-2F2BB1A08A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94213" y="2989263"/>
            <a:ext cx="787400" cy="593725"/>
          </a:xfrm>
          <a:prstGeom prst="rect">
            <a:avLst/>
          </a:prstGeom>
          <a:solidFill>
            <a:srgbClr val="EBCC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NL"/>
          </a:p>
        </p:txBody>
      </p:sp>
      <p:sp>
        <p:nvSpPr>
          <p:cNvPr id="35" name="Rectangle 35">
            <a:extLst>
              <a:ext uri="{FF2B5EF4-FFF2-40B4-BE49-F238E27FC236}">
                <a16:creationId xmlns:a16="http://schemas.microsoft.com/office/drawing/2014/main" id="{25E59010-9356-0A2E-DF0C-5A68146FDA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81613" y="2989263"/>
            <a:ext cx="785813" cy="593725"/>
          </a:xfrm>
          <a:prstGeom prst="rect">
            <a:avLst/>
          </a:prstGeom>
          <a:solidFill>
            <a:srgbClr val="EBCC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NL"/>
          </a:p>
        </p:txBody>
      </p:sp>
      <p:sp>
        <p:nvSpPr>
          <p:cNvPr id="36" name="Rectangle 36">
            <a:extLst>
              <a:ext uri="{FF2B5EF4-FFF2-40B4-BE49-F238E27FC236}">
                <a16:creationId xmlns:a16="http://schemas.microsoft.com/office/drawing/2014/main" id="{BEF08398-6966-803B-9595-3B0DE684A1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67425" y="2989263"/>
            <a:ext cx="787400" cy="290513"/>
          </a:xfrm>
          <a:prstGeom prst="rect">
            <a:avLst/>
          </a:prstGeom>
          <a:solidFill>
            <a:srgbClr val="EBCC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NL"/>
          </a:p>
        </p:txBody>
      </p:sp>
      <p:sp>
        <p:nvSpPr>
          <p:cNvPr id="37" name="Rectangle 37">
            <a:extLst>
              <a:ext uri="{FF2B5EF4-FFF2-40B4-BE49-F238E27FC236}">
                <a16:creationId xmlns:a16="http://schemas.microsoft.com/office/drawing/2014/main" id="{4D8CCDE2-B2C4-CCC2-B3CB-5A29BD0C24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4825" y="2989263"/>
            <a:ext cx="787400" cy="290513"/>
          </a:xfrm>
          <a:prstGeom prst="rect">
            <a:avLst/>
          </a:prstGeom>
          <a:solidFill>
            <a:srgbClr val="EBCC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NL"/>
          </a:p>
        </p:txBody>
      </p:sp>
      <p:sp>
        <p:nvSpPr>
          <p:cNvPr id="38" name="Rectangle 38">
            <a:extLst>
              <a:ext uri="{FF2B5EF4-FFF2-40B4-BE49-F238E27FC236}">
                <a16:creationId xmlns:a16="http://schemas.microsoft.com/office/drawing/2014/main" id="{CDAC3C5C-DFA8-7D1D-806C-7896C11719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42225" y="2989263"/>
            <a:ext cx="666750" cy="593725"/>
          </a:xfrm>
          <a:prstGeom prst="rect">
            <a:avLst/>
          </a:prstGeom>
          <a:solidFill>
            <a:srgbClr val="EBCC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NL"/>
          </a:p>
        </p:txBody>
      </p:sp>
      <p:sp>
        <p:nvSpPr>
          <p:cNvPr id="39" name="Rectangle 39">
            <a:extLst>
              <a:ext uri="{FF2B5EF4-FFF2-40B4-BE49-F238E27FC236}">
                <a16:creationId xmlns:a16="http://schemas.microsoft.com/office/drawing/2014/main" id="{0D0EC544-32CB-DB8B-84FD-0DE2309112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08975" y="2989263"/>
            <a:ext cx="703263" cy="593725"/>
          </a:xfrm>
          <a:prstGeom prst="rect">
            <a:avLst/>
          </a:prstGeom>
          <a:solidFill>
            <a:srgbClr val="EBCC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NL"/>
          </a:p>
        </p:txBody>
      </p:sp>
      <p:sp>
        <p:nvSpPr>
          <p:cNvPr id="40" name="Rectangle 40">
            <a:extLst>
              <a:ext uri="{FF2B5EF4-FFF2-40B4-BE49-F238E27FC236}">
                <a16:creationId xmlns:a16="http://schemas.microsoft.com/office/drawing/2014/main" id="{0B4C1BB0-C88B-7959-2E45-5BE4E6B645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2500" y="3279776"/>
            <a:ext cx="715963" cy="303213"/>
          </a:xfrm>
          <a:prstGeom prst="rect">
            <a:avLst/>
          </a:prstGeom>
          <a:solidFill>
            <a:srgbClr val="EBCC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NL"/>
          </a:p>
        </p:txBody>
      </p:sp>
      <p:sp>
        <p:nvSpPr>
          <p:cNvPr id="41" name="Rectangle 41">
            <a:extLst>
              <a:ext uri="{FF2B5EF4-FFF2-40B4-BE49-F238E27FC236}">
                <a16:creationId xmlns:a16="http://schemas.microsoft.com/office/drawing/2014/main" id="{FEBD4BF4-AFD4-1B3C-E327-25A278D31E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67425" y="3279776"/>
            <a:ext cx="787400" cy="303213"/>
          </a:xfrm>
          <a:prstGeom prst="rect">
            <a:avLst/>
          </a:prstGeom>
          <a:solidFill>
            <a:srgbClr val="EBCC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NL"/>
          </a:p>
        </p:txBody>
      </p:sp>
      <p:sp>
        <p:nvSpPr>
          <p:cNvPr id="42" name="Rectangle 42">
            <a:extLst>
              <a:ext uri="{FF2B5EF4-FFF2-40B4-BE49-F238E27FC236}">
                <a16:creationId xmlns:a16="http://schemas.microsoft.com/office/drawing/2014/main" id="{E42D32BC-0D69-44C0-C27F-AB93298E78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4825" y="3279776"/>
            <a:ext cx="787400" cy="303213"/>
          </a:xfrm>
          <a:prstGeom prst="rect">
            <a:avLst/>
          </a:prstGeom>
          <a:solidFill>
            <a:srgbClr val="EBCC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NL"/>
          </a:p>
        </p:txBody>
      </p:sp>
      <p:sp>
        <p:nvSpPr>
          <p:cNvPr id="43" name="Rectangle 43">
            <a:extLst>
              <a:ext uri="{FF2B5EF4-FFF2-40B4-BE49-F238E27FC236}">
                <a16:creationId xmlns:a16="http://schemas.microsoft.com/office/drawing/2014/main" id="{ABB1384E-036F-7BE9-8DE9-E54E9B1582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563" y="3582988"/>
            <a:ext cx="769938" cy="581025"/>
          </a:xfrm>
          <a:prstGeom prst="rect">
            <a:avLst/>
          </a:prstGeom>
          <a:solidFill>
            <a:srgbClr val="F5E7E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NL"/>
          </a:p>
        </p:txBody>
      </p:sp>
      <p:sp>
        <p:nvSpPr>
          <p:cNvPr id="44" name="Rectangle 44">
            <a:extLst>
              <a:ext uri="{FF2B5EF4-FFF2-40B4-BE49-F238E27FC236}">
                <a16:creationId xmlns:a16="http://schemas.microsoft.com/office/drawing/2014/main" id="{E59ED895-77F0-EE6E-922B-953B2C8FE3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2500" y="3582988"/>
            <a:ext cx="715963" cy="290513"/>
          </a:xfrm>
          <a:prstGeom prst="rect">
            <a:avLst/>
          </a:prstGeom>
          <a:solidFill>
            <a:srgbClr val="F5E7E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NL"/>
          </a:p>
        </p:txBody>
      </p:sp>
      <p:sp>
        <p:nvSpPr>
          <p:cNvPr id="45" name="Rectangle 45">
            <a:extLst>
              <a:ext uri="{FF2B5EF4-FFF2-40B4-BE49-F238E27FC236}">
                <a16:creationId xmlns:a16="http://schemas.microsoft.com/office/drawing/2014/main" id="{3045068C-DCE5-878C-AB71-C242D972CF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68463" y="3582988"/>
            <a:ext cx="517525" cy="581025"/>
          </a:xfrm>
          <a:prstGeom prst="rect">
            <a:avLst/>
          </a:prstGeom>
          <a:solidFill>
            <a:srgbClr val="F5E7E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NL"/>
          </a:p>
        </p:txBody>
      </p:sp>
      <p:sp>
        <p:nvSpPr>
          <p:cNvPr id="46" name="Rectangle 46">
            <a:extLst>
              <a:ext uri="{FF2B5EF4-FFF2-40B4-BE49-F238E27FC236}">
                <a16:creationId xmlns:a16="http://schemas.microsoft.com/office/drawing/2014/main" id="{CDBD56BB-11CB-75B8-C123-A1278155C5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85988" y="3582988"/>
            <a:ext cx="517525" cy="581025"/>
          </a:xfrm>
          <a:prstGeom prst="rect">
            <a:avLst/>
          </a:prstGeom>
          <a:solidFill>
            <a:srgbClr val="F5E7E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NL"/>
          </a:p>
        </p:txBody>
      </p:sp>
      <p:sp>
        <p:nvSpPr>
          <p:cNvPr id="47" name="Rectangle 47">
            <a:extLst>
              <a:ext uri="{FF2B5EF4-FFF2-40B4-BE49-F238E27FC236}">
                <a16:creationId xmlns:a16="http://schemas.microsoft.com/office/drawing/2014/main" id="{27DC5B10-9CC6-1F56-A664-CEAF27FC55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03513" y="3582988"/>
            <a:ext cx="414338" cy="581025"/>
          </a:xfrm>
          <a:prstGeom prst="rect">
            <a:avLst/>
          </a:prstGeom>
          <a:solidFill>
            <a:srgbClr val="F5E7E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NL"/>
          </a:p>
        </p:txBody>
      </p:sp>
      <p:sp>
        <p:nvSpPr>
          <p:cNvPr id="48" name="Rectangle 48">
            <a:extLst>
              <a:ext uri="{FF2B5EF4-FFF2-40B4-BE49-F238E27FC236}">
                <a16:creationId xmlns:a16="http://schemas.microsoft.com/office/drawing/2014/main" id="{4A819213-67B9-2751-EA38-DEB0E67E2B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17850" y="3582988"/>
            <a:ext cx="317500" cy="581025"/>
          </a:xfrm>
          <a:prstGeom prst="rect">
            <a:avLst/>
          </a:prstGeom>
          <a:solidFill>
            <a:srgbClr val="F5E7E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NL"/>
          </a:p>
        </p:txBody>
      </p:sp>
      <p:sp>
        <p:nvSpPr>
          <p:cNvPr id="49" name="Rectangle 49">
            <a:extLst>
              <a:ext uri="{FF2B5EF4-FFF2-40B4-BE49-F238E27FC236}">
                <a16:creationId xmlns:a16="http://schemas.microsoft.com/office/drawing/2014/main" id="{FEA7A940-559E-DB08-63A5-2B6ADCBC52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35350" y="3582988"/>
            <a:ext cx="315913" cy="581025"/>
          </a:xfrm>
          <a:prstGeom prst="rect">
            <a:avLst/>
          </a:prstGeom>
          <a:solidFill>
            <a:srgbClr val="F5E7E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NL"/>
          </a:p>
        </p:txBody>
      </p:sp>
      <p:sp>
        <p:nvSpPr>
          <p:cNvPr id="50" name="Rectangle 50">
            <a:extLst>
              <a:ext uri="{FF2B5EF4-FFF2-40B4-BE49-F238E27FC236}">
                <a16:creationId xmlns:a16="http://schemas.microsoft.com/office/drawing/2014/main" id="{0652093E-DF17-9749-C34C-1ED8B79FF0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51263" y="3582988"/>
            <a:ext cx="742950" cy="581025"/>
          </a:xfrm>
          <a:prstGeom prst="rect">
            <a:avLst/>
          </a:prstGeom>
          <a:solidFill>
            <a:srgbClr val="F5E7E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NL"/>
          </a:p>
        </p:txBody>
      </p:sp>
      <p:sp>
        <p:nvSpPr>
          <p:cNvPr id="51" name="Rectangle 51">
            <a:extLst>
              <a:ext uri="{FF2B5EF4-FFF2-40B4-BE49-F238E27FC236}">
                <a16:creationId xmlns:a16="http://schemas.microsoft.com/office/drawing/2014/main" id="{6062A89B-8E93-C7C1-F2CF-8FD207C363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94213" y="3582988"/>
            <a:ext cx="787400" cy="290513"/>
          </a:xfrm>
          <a:prstGeom prst="rect">
            <a:avLst/>
          </a:prstGeom>
          <a:solidFill>
            <a:srgbClr val="F5E7E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NL"/>
          </a:p>
        </p:txBody>
      </p:sp>
      <p:sp>
        <p:nvSpPr>
          <p:cNvPr id="52" name="Rectangle 52">
            <a:extLst>
              <a:ext uri="{FF2B5EF4-FFF2-40B4-BE49-F238E27FC236}">
                <a16:creationId xmlns:a16="http://schemas.microsoft.com/office/drawing/2014/main" id="{50513505-8689-BD91-262F-0871071D31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81613" y="3582988"/>
            <a:ext cx="785813" cy="290513"/>
          </a:xfrm>
          <a:prstGeom prst="rect">
            <a:avLst/>
          </a:prstGeom>
          <a:solidFill>
            <a:srgbClr val="F5E7E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NL"/>
          </a:p>
        </p:txBody>
      </p:sp>
      <p:sp>
        <p:nvSpPr>
          <p:cNvPr id="53" name="Rectangle 53">
            <a:extLst>
              <a:ext uri="{FF2B5EF4-FFF2-40B4-BE49-F238E27FC236}">
                <a16:creationId xmlns:a16="http://schemas.microsoft.com/office/drawing/2014/main" id="{0AD8217E-B255-1B77-A1FB-8B1EEB3F44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67425" y="3582988"/>
            <a:ext cx="787400" cy="581025"/>
          </a:xfrm>
          <a:prstGeom prst="rect">
            <a:avLst/>
          </a:prstGeom>
          <a:solidFill>
            <a:srgbClr val="F5E7E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NL"/>
          </a:p>
        </p:txBody>
      </p:sp>
      <p:sp>
        <p:nvSpPr>
          <p:cNvPr id="54" name="Rectangle 54">
            <a:extLst>
              <a:ext uri="{FF2B5EF4-FFF2-40B4-BE49-F238E27FC236}">
                <a16:creationId xmlns:a16="http://schemas.microsoft.com/office/drawing/2014/main" id="{715D36C3-7255-8FCC-9B8D-3724B083E5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4825" y="3582988"/>
            <a:ext cx="787400" cy="581025"/>
          </a:xfrm>
          <a:prstGeom prst="rect">
            <a:avLst/>
          </a:prstGeom>
          <a:solidFill>
            <a:srgbClr val="F5E7E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NL"/>
          </a:p>
        </p:txBody>
      </p:sp>
      <p:sp>
        <p:nvSpPr>
          <p:cNvPr id="55" name="Rectangle 55">
            <a:extLst>
              <a:ext uri="{FF2B5EF4-FFF2-40B4-BE49-F238E27FC236}">
                <a16:creationId xmlns:a16="http://schemas.microsoft.com/office/drawing/2014/main" id="{3F7BE20A-FBD6-EE25-01A8-C1E1B34D95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42225" y="3582988"/>
            <a:ext cx="666750" cy="290513"/>
          </a:xfrm>
          <a:prstGeom prst="rect">
            <a:avLst/>
          </a:prstGeom>
          <a:solidFill>
            <a:srgbClr val="F5E7E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NL"/>
          </a:p>
        </p:txBody>
      </p:sp>
      <p:sp>
        <p:nvSpPr>
          <p:cNvPr id="56" name="Rectangle 56">
            <a:extLst>
              <a:ext uri="{FF2B5EF4-FFF2-40B4-BE49-F238E27FC236}">
                <a16:creationId xmlns:a16="http://schemas.microsoft.com/office/drawing/2014/main" id="{9874CD75-1641-D94B-C87D-68D82FAB9E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08975" y="3582988"/>
            <a:ext cx="703263" cy="290513"/>
          </a:xfrm>
          <a:prstGeom prst="rect">
            <a:avLst/>
          </a:prstGeom>
          <a:solidFill>
            <a:srgbClr val="F5E7E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NL"/>
          </a:p>
        </p:txBody>
      </p:sp>
      <p:sp>
        <p:nvSpPr>
          <p:cNvPr id="57" name="Rectangle 57">
            <a:extLst>
              <a:ext uri="{FF2B5EF4-FFF2-40B4-BE49-F238E27FC236}">
                <a16:creationId xmlns:a16="http://schemas.microsoft.com/office/drawing/2014/main" id="{61B5E13D-D925-A1D1-6B67-339E09240A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2500" y="3873501"/>
            <a:ext cx="715963" cy="290513"/>
          </a:xfrm>
          <a:prstGeom prst="rect">
            <a:avLst/>
          </a:prstGeom>
          <a:solidFill>
            <a:srgbClr val="F5E7E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NL"/>
          </a:p>
        </p:txBody>
      </p:sp>
      <p:sp>
        <p:nvSpPr>
          <p:cNvPr id="58" name="Rectangle 58">
            <a:extLst>
              <a:ext uri="{FF2B5EF4-FFF2-40B4-BE49-F238E27FC236}">
                <a16:creationId xmlns:a16="http://schemas.microsoft.com/office/drawing/2014/main" id="{EFD7FD68-0DE1-439A-34DA-15F12E3E13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94213" y="3873501"/>
            <a:ext cx="787400" cy="290513"/>
          </a:xfrm>
          <a:prstGeom prst="rect">
            <a:avLst/>
          </a:prstGeom>
          <a:solidFill>
            <a:srgbClr val="F5E7E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NL"/>
          </a:p>
        </p:txBody>
      </p:sp>
      <p:sp>
        <p:nvSpPr>
          <p:cNvPr id="59" name="Rectangle 59">
            <a:extLst>
              <a:ext uri="{FF2B5EF4-FFF2-40B4-BE49-F238E27FC236}">
                <a16:creationId xmlns:a16="http://schemas.microsoft.com/office/drawing/2014/main" id="{DE71CEFD-5C9D-3971-8F5C-F8F3170820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81613" y="3873501"/>
            <a:ext cx="785813" cy="290513"/>
          </a:xfrm>
          <a:prstGeom prst="rect">
            <a:avLst/>
          </a:prstGeom>
          <a:solidFill>
            <a:srgbClr val="F5E7E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NL"/>
          </a:p>
        </p:txBody>
      </p:sp>
      <p:sp>
        <p:nvSpPr>
          <p:cNvPr id="60" name="Rectangle 60">
            <a:extLst>
              <a:ext uri="{FF2B5EF4-FFF2-40B4-BE49-F238E27FC236}">
                <a16:creationId xmlns:a16="http://schemas.microsoft.com/office/drawing/2014/main" id="{EE56A42F-DDBA-9004-7BE8-4F78AFA967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42225" y="3873501"/>
            <a:ext cx="666750" cy="290513"/>
          </a:xfrm>
          <a:prstGeom prst="rect">
            <a:avLst/>
          </a:prstGeom>
          <a:solidFill>
            <a:srgbClr val="F5E7E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NL"/>
          </a:p>
        </p:txBody>
      </p:sp>
      <p:sp>
        <p:nvSpPr>
          <p:cNvPr id="61" name="Rectangle 61">
            <a:extLst>
              <a:ext uri="{FF2B5EF4-FFF2-40B4-BE49-F238E27FC236}">
                <a16:creationId xmlns:a16="http://schemas.microsoft.com/office/drawing/2014/main" id="{8F6B11EC-C588-1E8E-98AE-3D39C7FDB7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08975" y="3873501"/>
            <a:ext cx="703263" cy="290513"/>
          </a:xfrm>
          <a:prstGeom prst="rect">
            <a:avLst/>
          </a:prstGeom>
          <a:solidFill>
            <a:srgbClr val="F5E7E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NL"/>
          </a:p>
        </p:txBody>
      </p:sp>
      <p:sp>
        <p:nvSpPr>
          <p:cNvPr id="62" name="Rectangle 62">
            <a:extLst>
              <a:ext uri="{FF2B5EF4-FFF2-40B4-BE49-F238E27FC236}">
                <a16:creationId xmlns:a16="http://schemas.microsoft.com/office/drawing/2014/main" id="{48AF1449-6F5A-8818-8DD6-48F8C05680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563" y="4164013"/>
            <a:ext cx="769938" cy="581025"/>
          </a:xfrm>
          <a:prstGeom prst="rect">
            <a:avLst/>
          </a:prstGeom>
          <a:solidFill>
            <a:srgbClr val="EBCC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NL"/>
          </a:p>
        </p:txBody>
      </p:sp>
      <p:sp>
        <p:nvSpPr>
          <p:cNvPr id="63" name="Rectangle 63">
            <a:extLst>
              <a:ext uri="{FF2B5EF4-FFF2-40B4-BE49-F238E27FC236}">
                <a16:creationId xmlns:a16="http://schemas.microsoft.com/office/drawing/2014/main" id="{5021E12B-05C4-EF31-0E8B-4C4863E1E1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2500" y="4164013"/>
            <a:ext cx="715963" cy="290513"/>
          </a:xfrm>
          <a:prstGeom prst="rect">
            <a:avLst/>
          </a:prstGeom>
          <a:solidFill>
            <a:srgbClr val="EBCC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NL"/>
          </a:p>
        </p:txBody>
      </p:sp>
      <p:sp>
        <p:nvSpPr>
          <p:cNvPr id="384" name="Rectangle 64">
            <a:extLst>
              <a:ext uri="{FF2B5EF4-FFF2-40B4-BE49-F238E27FC236}">
                <a16:creationId xmlns:a16="http://schemas.microsoft.com/office/drawing/2014/main" id="{17FB48F1-70F3-994D-F4D2-EE84ACD360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68463" y="4164013"/>
            <a:ext cx="517525" cy="581025"/>
          </a:xfrm>
          <a:prstGeom prst="rect">
            <a:avLst/>
          </a:prstGeom>
          <a:solidFill>
            <a:srgbClr val="EBCC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NL"/>
          </a:p>
        </p:txBody>
      </p:sp>
      <p:sp>
        <p:nvSpPr>
          <p:cNvPr id="385" name="Rectangle 65">
            <a:extLst>
              <a:ext uri="{FF2B5EF4-FFF2-40B4-BE49-F238E27FC236}">
                <a16:creationId xmlns:a16="http://schemas.microsoft.com/office/drawing/2014/main" id="{3E6DBC25-DE91-B145-3B45-D02BBBA526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85988" y="4164013"/>
            <a:ext cx="517525" cy="581025"/>
          </a:xfrm>
          <a:prstGeom prst="rect">
            <a:avLst/>
          </a:prstGeom>
          <a:solidFill>
            <a:srgbClr val="EBCC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NL"/>
          </a:p>
        </p:txBody>
      </p:sp>
      <p:sp>
        <p:nvSpPr>
          <p:cNvPr id="386" name="Rectangle 66">
            <a:extLst>
              <a:ext uri="{FF2B5EF4-FFF2-40B4-BE49-F238E27FC236}">
                <a16:creationId xmlns:a16="http://schemas.microsoft.com/office/drawing/2014/main" id="{B7BA3880-9940-472C-2713-623A08F204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03513" y="4164013"/>
            <a:ext cx="414338" cy="581025"/>
          </a:xfrm>
          <a:prstGeom prst="rect">
            <a:avLst/>
          </a:prstGeom>
          <a:solidFill>
            <a:srgbClr val="EBCC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NL"/>
          </a:p>
        </p:txBody>
      </p:sp>
      <p:sp>
        <p:nvSpPr>
          <p:cNvPr id="387" name="Rectangle 67">
            <a:extLst>
              <a:ext uri="{FF2B5EF4-FFF2-40B4-BE49-F238E27FC236}">
                <a16:creationId xmlns:a16="http://schemas.microsoft.com/office/drawing/2014/main" id="{23DAA3DB-5FC2-6601-A4E5-B5F84035B1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17850" y="4164013"/>
            <a:ext cx="317500" cy="581025"/>
          </a:xfrm>
          <a:prstGeom prst="rect">
            <a:avLst/>
          </a:prstGeom>
          <a:solidFill>
            <a:srgbClr val="EBCC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NL"/>
          </a:p>
        </p:txBody>
      </p:sp>
      <p:sp>
        <p:nvSpPr>
          <p:cNvPr id="388" name="Rectangle 68">
            <a:extLst>
              <a:ext uri="{FF2B5EF4-FFF2-40B4-BE49-F238E27FC236}">
                <a16:creationId xmlns:a16="http://schemas.microsoft.com/office/drawing/2014/main" id="{F7D4B9D6-8616-1B0A-7817-62843408AE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35350" y="4164013"/>
            <a:ext cx="315913" cy="581025"/>
          </a:xfrm>
          <a:prstGeom prst="rect">
            <a:avLst/>
          </a:prstGeom>
          <a:solidFill>
            <a:srgbClr val="EBCC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NL"/>
          </a:p>
        </p:txBody>
      </p:sp>
      <p:sp>
        <p:nvSpPr>
          <p:cNvPr id="389" name="Rectangle 69">
            <a:extLst>
              <a:ext uri="{FF2B5EF4-FFF2-40B4-BE49-F238E27FC236}">
                <a16:creationId xmlns:a16="http://schemas.microsoft.com/office/drawing/2014/main" id="{908C178A-D3BF-A733-C22A-156B2665EE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51263" y="4164013"/>
            <a:ext cx="742950" cy="581025"/>
          </a:xfrm>
          <a:prstGeom prst="rect">
            <a:avLst/>
          </a:prstGeom>
          <a:solidFill>
            <a:srgbClr val="EBCC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NL"/>
          </a:p>
        </p:txBody>
      </p:sp>
      <p:sp>
        <p:nvSpPr>
          <p:cNvPr id="390" name="Rectangle 70">
            <a:extLst>
              <a:ext uri="{FF2B5EF4-FFF2-40B4-BE49-F238E27FC236}">
                <a16:creationId xmlns:a16="http://schemas.microsoft.com/office/drawing/2014/main" id="{BAFFFE32-10F3-BFF9-1E76-EF82CD1580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94213" y="4164013"/>
            <a:ext cx="787400" cy="581025"/>
          </a:xfrm>
          <a:prstGeom prst="rect">
            <a:avLst/>
          </a:prstGeom>
          <a:solidFill>
            <a:srgbClr val="EBCC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NL"/>
          </a:p>
        </p:txBody>
      </p:sp>
      <p:sp>
        <p:nvSpPr>
          <p:cNvPr id="391" name="Rectangle 71">
            <a:extLst>
              <a:ext uri="{FF2B5EF4-FFF2-40B4-BE49-F238E27FC236}">
                <a16:creationId xmlns:a16="http://schemas.microsoft.com/office/drawing/2014/main" id="{E7DD5B8E-79DA-05FE-2D08-9759D60C9E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81613" y="4164013"/>
            <a:ext cx="785813" cy="581025"/>
          </a:xfrm>
          <a:prstGeom prst="rect">
            <a:avLst/>
          </a:prstGeom>
          <a:solidFill>
            <a:srgbClr val="EBCC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NL"/>
          </a:p>
        </p:txBody>
      </p:sp>
      <p:sp>
        <p:nvSpPr>
          <p:cNvPr id="392" name="Rectangle 72">
            <a:extLst>
              <a:ext uri="{FF2B5EF4-FFF2-40B4-BE49-F238E27FC236}">
                <a16:creationId xmlns:a16="http://schemas.microsoft.com/office/drawing/2014/main" id="{29EDAD0C-7F1C-3697-BDFC-741823A10D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67425" y="4164013"/>
            <a:ext cx="787400" cy="290513"/>
          </a:xfrm>
          <a:prstGeom prst="rect">
            <a:avLst/>
          </a:prstGeom>
          <a:solidFill>
            <a:srgbClr val="EBCC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NL"/>
          </a:p>
        </p:txBody>
      </p:sp>
      <p:sp>
        <p:nvSpPr>
          <p:cNvPr id="393" name="Rectangle 73">
            <a:extLst>
              <a:ext uri="{FF2B5EF4-FFF2-40B4-BE49-F238E27FC236}">
                <a16:creationId xmlns:a16="http://schemas.microsoft.com/office/drawing/2014/main" id="{4E65F7FC-27C9-CA3E-8DFC-C7453B5F93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4825" y="4164013"/>
            <a:ext cx="787400" cy="290513"/>
          </a:xfrm>
          <a:prstGeom prst="rect">
            <a:avLst/>
          </a:prstGeom>
          <a:solidFill>
            <a:srgbClr val="EBCC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NL"/>
          </a:p>
        </p:txBody>
      </p:sp>
      <p:sp>
        <p:nvSpPr>
          <p:cNvPr id="394" name="Rectangle 74">
            <a:extLst>
              <a:ext uri="{FF2B5EF4-FFF2-40B4-BE49-F238E27FC236}">
                <a16:creationId xmlns:a16="http://schemas.microsoft.com/office/drawing/2014/main" id="{A364D4B5-2866-537A-E9A8-379F64B4DC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42225" y="4164013"/>
            <a:ext cx="666750" cy="581025"/>
          </a:xfrm>
          <a:prstGeom prst="rect">
            <a:avLst/>
          </a:prstGeom>
          <a:solidFill>
            <a:srgbClr val="EBCC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NL"/>
          </a:p>
        </p:txBody>
      </p:sp>
      <p:sp>
        <p:nvSpPr>
          <p:cNvPr id="395" name="Rectangle 75">
            <a:extLst>
              <a:ext uri="{FF2B5EF4-FFF2-40B4-BE49-F238E27FC236}">
                <a16:creationId xmlns:a16="http://schemas.microsoft.com/office/drawing/2014/main" id="{1ED0475C-55ED-D6B9-ACEE-3829A9F094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08975" y="4164013"/>
            <a:ext cx="703263" cy="581025"/>
          </a:xfrm>
          <a:prstGeom prst="rect">
            <a:avLst/>
          </a:prstGeom>
          <a:solidFill>
            <a:srgbClr val="EBCC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NL"/>
          </a:p>
        </p:txBody>
      </p:sp>
      <p:sp>
        <p:nvSpPr>
          <p:cNvPr id="396" name="Rectangle 76">
            <a:extLst>
              <a:ext uri="{FF2B5EF4-FFF2-40B4-BE49-F238E27FC236}">
                <a16:creationId xmlns:a16="http://schemas.microsoft.com/office/drawing/2014/main" id="{62C9D626-B8F9-A693-5E9D-BF308F3F30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2500" y="4454526"/>
            <a:ext cx="715963" cy="290513"/>
          </a:xfrm>
          <a:prstGeom prst="rect">
            <a:avLst/>
          </a:prstGeom>
          <a:solidFill>
            <a:srgbClr val="EBCC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NL"/>
          </a:p>
        </p:txBody>
      </p:sp>
      <p:sp>
        <p:nvSpPr>
          <p:cNvPr id="397" name="Rectangle 77">
            <a:extLst>
              <a:ext uri="{FF2B5EF4-FFF2-40B4-BE49-F238E27FC236}">
                <a16:creationId xmlns:a16="http://schemas.microsoft.com/office/drawing/2014/main" id="{BD774295-1B2B-8165-3783-ABC72BD23C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67425" y="4454526"/>
            <a:ext cx="787400" cy="290513"/>
          </a:xfrm>
          <a:prstGeom prst="rect">
            <a:avLst/>
          </a:prstGeom>
          <a:solidFill>
            <a:srgbClr val="EBCC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NL"/>
          </a:p>
        </p:txBody>
      </p:sp>
      <p:sp>
        <p:nvSpPr>
          <p:cNvPr id="398" name="Rectangle 78">
            <a:extLst>
              <a:ext uri="{FF2B5EF4-FFF2-40B4-BE49-F238E27FC236}">
                <a16:creationId xmlns:a16="http://schemas.microsoft.com/office/drawing/2014/main" id="{3552C893-DABC-A9BD-3269-24348CACCC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4825" y="4454526"/>
            <a:ext cx="787400" cy="290513"/>
          </a:xfrm>
          <a:prstGeom prst="rect">
            <a:avLst/>
          </a:prstGeom>
          <a:solidFill>
            <a:srgbClr val="EBCC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NL"/>
          </a:p>
        </p:txBody>
      </p:sp>
      <p:sp>
        <p:nvSpPr>
          <p:cNvPr id="399" name="Line 79">
            <a:extLst>
              <a:ext uri="{FF2B5EF4-FFF2-40B4-BE49-F238E27FC236}">
                <a16:creationId xmlns:a16="http://schemas.microsoft.com/office/drawing/2014/main" id="{922A6648-284C-4C46-5DFE-9FA4C0B979CA}"/>
              </a:ext>
            </a:extLst>
          </p:cNvPr>
          <p:cNvSpPr>
            <a:spLocks noChangeShapeType="1"/>
          </p:cNvSpPr>
          <p:nvPr/>
        </p:nvSpPr>
        <p:spPr bwMode="auto">
          <a:xfrm>
            <a:off x="952500" y="2225676"/>
            <a:ext cx="0" cy="2525713"/>
          </a:xfrm>
          <a:prstGeom prst="line">
            <a:avLst/>
          </a:prstGeom>
          <a:noFill/>
          <a:ln w="12700" cap="flat">
            <a:solidFill>
              <a:srgbClr val="FFFFFF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NL"/>
          </a:p>
        </p:txBody>
      </p:sp>
      <p:sp>
        <p:nvSpPr>
          <p:cNvPr id="400" name="Line 80">
            <a:extLst>
              <a:ext uri="{FF2B5EF4-FFF2-40B4-BE49-F238E27FC236}">
                <a16:creationId xmlns:a16="http://schemas.microsoft.com/office/drawing/2014/main" id="{75434746-60C1-74C9-A95D-37D30905E25B}"/>
              </a:ext>
            </a:extLst>
          </p:cNvPr>
          <p:cNvSpPr>
            <a:spLocks noChangeShapeType="1"/>
          </p:cNvSpPr>
          <p:nvPr/>
        </p:nvSpPr>
        <p:spPr bwMode="auto">
          <a:xfrm>
            <a:off x="1668463" y="2225676"/>
            <a:ext cx="0" cy="2525713"/>
          </a:xfrm>
          <a:prstGeom prst="line">
            <a:avLst/>
          </a:prstGeom>
          <a:noFill/>
          <a:ln w="12700" cap="flat">
            <a:solidFill>
              <a:srgbClr val="FFFFFF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NL"/>
          </a:p>
        </p:txBody>
      </p:sp>
      <p:sp>
        <p:nvSpPr>
          <p:cNvPr id="401" name="Line 81">
            <a:extLst>
              <a:ext uri="{FF2B5EF4-FFF2-40B4-BE49-F238E27FC236}">
                <a16:creationId xmlns:a16="http://schemas.microsoft.com/office/drawing/2014/main" id="{5E87BE98-DD70-359E-BE6A-12604B80965E}"/>
              </a:ext>
            </a:extLst>
          </p:cNvPr>
          <p:cNvSpPr>
            <a:spLocks noChangeShapeType="1"/>
          </p:cNvSpPr>
          <p:nvPr/>
        </p:nvSpPr>
        <p:spPr bwMode="auto">
          <a:xfrm>
            <a:off x="2185988" y="2651126"/>
            <a:ext cx="0" cy="2100263"/>
          </a:xfrm>
          <a:prstGeom prst="line">
            <a:avLst/>
          </a:prstGeom>
          <a:noFill/>
          <a:ln w="12700" cap="flat">
            <a:solidFill>
              <a:srgbClr val="FFFFFF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NL"/>
          </a:p>
        </p:txBody>
      </p:sp>
      <p:sp>
        <p:nvSpPr>
          <p:cNvPr id="402" name="Line 82">
            <a:extLst>
              <a:ext uri="{FF2B5EF4-FFF2-40B4-BE49-F238E27FC236}">
                <a16:creationId xmlns:a16="http://schemas.microsoft.com/office/drawing/2014/main" id="{19BB37D0-E41D-9203-C9F5-E6BF2415666B}"/>
              </a:ext>
            </a:extLst>
          </p:cNvPr>
          <p:cNvSpPr>
            <a:spLocks noChangeShapeType="1"/>
          </p:cNvSpPr>
          <p:nvPr/>
        </p:nvSpPr>
        <p:spPr bwMode="auto">
          <a:xfrm>
            <a:off x="2703513" y="2225676"/>
            <a:ext cx="0" cy="2525713"/>
          </a:xfrm>
          <a:prstGeom prst="line">
            <a:avLst/>
          </a:prstGeom>
          <a:noFill/>
          <a:ln w="12700" cap="flat">
            <a:solidFill>
              <a:srgbClr val="FFFFFF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NL"/>
          </a:p>
        </p:txBody>
      </p:sp>
      <p:sp>
        <p:nvSpPr>
          <p:cNvPr id="403" name="Line 83">
            <a:extLst>
              <a:ext uri="{FF2B5EF4-FFF2-40B4-BE49-F238E27FC236}">
                <a16:creationId xmlns:a16="http://schemas.microsoft.com/office/drawing/2014/main" id="{0F6812CC-0519-A193-23A8-D7373684F5D0}"/>
              </a:ext>
            </a:extLst>
          </p:cNvPr>
          <p:cNvSpPr>
            <a:spLocks noChangeShapeType="1"/>
          </p:cNvSpPr>
          <p:nvPr/>
        </p:nvSpPr>
        <p:spPr bwMode="auto">
          <a:xfrm>
            <a:off x="3117850" y="2651126"/>
            <a:ext cx="0" cy="2100263"/>
          </a:xfrm>
          <a:prstGeom prst="line">
            <a:avLst/>
          </a:prstGeom>
          <a:noFill/>
          <a:ln w="12700" cap="flat">
            <a:solidFill>
              <a:srgbClr val="FFFFFF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NL"/>
          </a:p>
        </p:txBody>
      </p:sp>
      <p:sp>
        <p:nvSpPr>
          <p:cNvPr id="404" name="Line 84">
            <a:extLst>
              <a:ext uri="{FF2B5EF4-FFF2-40B4-BE49-F238E27FC236}">
                <a16:creationId xmlns:a16="http://schemas.microsoft.com/office/drawing/2014/main" id="{DCBFE660-B823-EC11-A72C-414C0086145F}"/>
              </a:ext>
            </a:extLst>
          </p:cNvPr>
          <p:cNvSpPr>
            <a:spLocks noChangeShapeType="1"/>
          </p:cNvSpPr>
          <p:nvPr/>
        </p:nvSpPr>
        <p:spPr bwMode="auto">
          <a:xfrm>
            <a:off x="3435350" y="2651126"/>
            <a:ext cx="0" cy="2100263"/>
          </a:xfrm>
          <a:prstGeom prst="line">
            <a:avLst/>
          </a:prstGeom>
          <a:noFill/>
          <a:ln w="12700" cap="flat">
            <a:solidFill>
              <a:srgbClr val="FFFFFF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NL"/>
          </a:p>
        </p:txBody>
      </p:sp>
      <p:sp>
        <p:nvSpPr>
          <p:cNvPr id="405" name="Line 85">
            <a:extLst>
              <a:ext uri="{FF2B5EF4-FFF2-40B4-BE49-F238E27FC236}">
                <a16:creationId xmlns:a16="http://schemas.microsoft.com/office/drawing/2014/main" id="{C350D9AA-4DD7-BE56-9DC6-F0F191EC920F}"/>
              </a:ext>
            </a:extLst>
          </p:cNvPr>
          <p:cNvSpPr>
            <a:spLocks noChangeShapeType="1"/>
          </p:cNvSpPr>
          <p:nvPr/>
        </p:nvSpPr>
        <p:spPr bwMode="auto">
          <a:xfrm>
            <a:off x="3751263" y="2225676"/>
            <a:ext cx="0" cy="2525713"/>
          </a:xfrm>
          <a:prstGeom prst="line">
            <a:avLst/>
          </a:prstGeom>
          <a:noFill/>
          <a:ln w="12700" cap="flat">
            <a:solidFill>
              <a:srgbClr val="FFFFFF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NL"/>
          </a:p>
        </p:txBody>
      </p:sp>
      <p:sp>
        <p:nvSpPr>
          <p:cNvPr id="406" name="Line 86">
            <a:extLst>
              <a:ext uri="{FF2B5EF4-FFF2-40B4-BE49-F238E27FC236}">
                <a16:creationId xmlns:a16="http://schemas.microsoft.com/office/drawing/2014/main" id="{1B10A302-E443-827B-1F49-06B873C781C7}"/>
              </a:ext>
            </a:extLst>
          </p:cNvPr>
          <p:cNvSpPr>
            <a:spLocks noChangeShapeType="1"/>
          </p:cNvSpPr>
          <p:nvPr/>
        </p:nvSpPr>
        <p:spPr bwMode="auto">
          <a:xfrm>
            <a:off x="4494213" y="2651126"/>
            <a:ext cx="0" cy="2100263"/>
          </a:xfrm>
          <a:prstGeom prst="line">
            <a:avLst/>
          </a:prstGeom>
          <a:noFill/>
          <a:ln w="12700" cap="flat">
            <a:solidFill>
              <a:srgbClr val="FFFFFF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NL"/>
          </a:p>
        </p:txBody>
      </p:sp>
      <p:sp>
        <p:nvSpPr>
          <p:cNvPr id="407" name="Line 87">
            <a:extLst>
              <a:ext uri="{FF2B5EF4-FFF2-40B4-BE49-F238E27FC236}">
                <a16:creationId xmlns:a16="http://schemas.microsoft.com/office/drawing/2014/main" id="{38737E92-5814-5061-B8DF-3B2FE4070C61}"/>
              </a:ext>
            </a:extLst>
          </p:cNvPr>
          <p:cNvSpPr>
            <a:spLocks noChangeShapeType="1"/>
          </p:cNvSpPr>
          <p:nvPr/>
        </p:nvSpPr>
        <p:spPr bwMode="auto">
          <a:xfrm>
            <a:off x="5281613" y="2651126"/>
            <a:ext cx="0" cy="2100263"/>
          </a:xfrm>
          <a:prstGeom prst="line">
            <a:avLst/>
          </a:prstGeom>
          <a:noFill/>
          <a:ln w="12700" cap="flat">
            <a:solidFill>
              <a:srgbClr val="FFFFFF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NL"/>
          </a:p>
        </p:txBody>
      </p:sp>
      <p:sp>
        <p:nvSpPr>
          <p:cNvPr id="408" name="Line 88">
            <a:extLst>
              <a:ext uri="{FF2B5EF4-FFF2-40B4-BE49-F238E27FC236}">
                <a16:creationId xmlns:a16="http://schemas.microsoft.com/office/drawing/2014/main" id="{BA0EA71D-DB56-B02D-9806-1D761AD6EC8A}"/>
              </a:ext>
            </a:extLst>
          </p:cNvPr>
          <p:cNvSpPr>
            <a:spLocks noChangeShapeType="1"/>
          </p:cNvSpPr>
          <p:nvPr/>
        </p:nvSpPr>
        <p:spPr bwMode="auto">
          <a:xfrm>
            <a:off x="6067425" y="2225676"/>
            <a:ext cx="0" cy="2525713"/>
          </a:xfrm>
          <a:prstGeom prst="line">
            <a:avLst/>
          </a:prstGeom>
          <a:noFill/>
          <a:ln w="12700" cap="flat">
            <a:solidFill>
              <a:srgbClr val="FFFFFF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NL"/>
          </a:p>
        </p:txBody>
      </p:sp>
      <p:sp>
        <p:nvSpPr>
          <p:cNvPr id="409" name="Line 89">
            <a:extLst>
              <a:ext uri="{FF2B5EF4-FFF2-40B4-BE49-F238E27FC236}">
                <a16:creationId xmlns:a16="http://schemas.microsoft.com/office/drawing/2014/main" id="{E943B379-F52D-15D9-4ED1-15B5D8D2867E}"/>
              </a:ext>
            </a:extLst>
          </p:cNvPr>
          <p:cNvSpPr>
            <a:spLocks noChangeShapeType="1"/>
          </p:cNvSpPr>
          <p:nvPr/>
        </p:nvSpPr>
        <p:spPr bwMode="auto">
          <a:xfrm>
            <a:off x="6854825" y="2651126"/>
            <a:ext cx="0" cy="2100263"/>
          </a:xfrm>
          <a:prstGeom prst="line">
            <a:avLst/>
          </a:prstGeom>
          <a:noFill/>
          <a:ln w="12700" cap="flat">
            <a:solidFill>
              <a:srgbClr val="FFFFFF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NL"/>
          </a:p>
        </p:txBody>
      </p:sp>
      <p:sp>
        <p:nvSpPr>
          <p:cNvPr id="410" name="Line 90">
            <a:extLst>
              <a:ext uri="{FF2B5EF4-FFF2-40B4-BE49-F238E27FC236}">
                <a16:creationId xmlns:a16="http://schemas.microsoft.com/office/drawing/2014/main" id="{8014E2EE-4E74-E6C3-42ED-F501A08595AD}"/>
              </a:ext>
            </a:extLst>
          </p:cNvPr>
          <p:cNvSpPr>
            <a:spLocks noChangeShapeType="1"/>
          </p:cNvSpPr>
          <p:nvPr/>
        </p:nvSpPr>
        <p:spPr bwMode="auto">
          <a:xfrm>
            <a:off x="7642225" y="2225676"/>
            <a:ext cx="0" cy="2525713"/>
          </a:xfrm>
          <a:prstGeom prst="line">
            <a:avLst/>
          </a:prstGeom>
          <a:noFill/>
          <a:ln w="12700" cap="flat">
            <a:solidFill>
              <a:srgbClr val="FFFFFF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NL"/>
          </a:p>
        </p:txBody>
      </p:sp>
      <p:sp>
        <p:nvSpPr>
          <p:cNvPr id="411" name="Line 91">
            <a:extLst>
              <a:ext uri="{FF2B5EF4-FFF2-40B4-BE49-F238E27FC236}">
                <a16:creationId xmlns:a16="http://schemas.microsoft.com/office/drawing/2014/main" id="{06551BEA-301D-DF47-556A-BB8DE7958977}"/>
              </a:ext>
            </a:extLst>
          </p:cNvPr>
          <p:cNvSpPr>
            <a:spLocks noChangeShapeType="1"/>
          </p:cNvSpPr>
          <p:nvPr/>
        </p:nvSpPr>
        <p:spPr bwMode="auto">
          <a:xfrm>
            <a:off x="8308975" y="2651126"/>
            <a:ext cx="0" cy="2100263"/>
          </a:xfrm>
          <a:prstGeom prst="line">
            <a:avLst/>
          </a:prstGeom>
          <a:noFill/>
          <a:ln w="12700" cap="flat">
            <a:solidFill>
              <a:srgbClr val="FFFFFF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NL"/>
          </a:p>
        </p:txBody>
      </p:sp>
      <p:sp>
        <p:nvSpPr>
          <p:cNvPr id="412" name="Line 92">
            <a:extLst>
              <a:ext uri="{FF2B5EF4-FFF2-40B4-BE49-F238E27FC236}">
                <a16:creationId xmlns:a16="http://schemas.microsoft.com/office/drawing/2014/main" id="{A54902B4-CFDF-5DB0-A0EC-68E404E73585}"/>
              </a:ext>
            </a:extLst>
          </p:cNvPr>
          <p:cNvSpPr>
            <a:spLocks noChangeShapeType="1"/>
          </p:cNvSpPr>
          <p:nvPr/>
        </p:nvSpPr>
        <p:spPr bwMode="auto">
          <a:xfrm>
            <a:off x="176213" y="2657476"/>
            <a:ext cx="8842375" cy="0"/>
          </a:xfrm>
          <a:prstGeom prst="line">
            <a:avLst/>
          </a:prstGeom>
          <a:noFill/>
          <a:ln w="12700" cap="flat">
            <a:solidFill>
              <a:srgbClr val="FFFFFF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NL"/>
          </a:p>
        </p:txBody>
      </p:sp>
      <p:sp>
        <p:nvSpPr>
          <p:cNvPr id="413" name="Line 93">
            <a:extLst>
              <a:ext uri="{FF2B5EF4-FFF2-40B4-BE49-F238E27FC236}">
                <a16:creationId xmlns:a16="http://schemas.microsoft.com/office/drawing/2014/main" id="{93C420C2-15DF-5F74-1C8F-B60509554CE2}"/>
              </a:ext>
            </a:extLst>
          </p:cNvPr>
          <p:cNvSpPr>
            <a:spLocks noChangeShapeType="1"/>
          </p:cNvSpPr>
          <p:nvPr/>
        </p:nvSpPr>
        <p:spPr bwMode="auto">
          <a:xfrm>
            <a:off x="176213" y="2989263"/>
            <a:ext cx="8842375" cy="0"/>
          </a:xfrm>
          <a:prstGeom prst="line">
            <a:avLst/>
          </a:prstGeom>
          <a:noFill/>
          <a:ln w="12700" cap="flat">
            <a:solidFill>
              <a:srgbClr val="FFFFFF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NL"/>
          </a:p>
        </p:txBody>
      </p:sp>
      <p:sp>
        <p:nvSpPr>
          <p:cNvPr id="414" name="Line 94">
            <a:extLst>
              <a:ext uri="{FF2B5EF4-FFF2-40B4-BE49-F238E27FC236}">
                <a16:creationId xmlns:a16="http://schemas.microsoft.com/office/drawing/2014/main" id="{05E3D14E-75B9-A83A-AC35-EFA30A41ACC1}"/>
              </a:ext>
            </a:extLst>
          </p:cNvPr>
          <p:cNvSpPr>
            <a:spLocks noChangeShapeType="1"/>
          </p:cNvSpPr>
          <p:nvPr/>
        </p:nvSpPr>
        <p:spPr bwMode="auto">
          <a:xfrm>
            <a:off x="946150" y="3279776"/>
            <a:ext cx="728663" cy="0"/>
          </a:xfrm>
          <a:prstGeom prst="line">
            <a:avLst/>
          </a:prstGeom>
          <a:noFill/>
          <a:ln w="12700" cap="flat">
            <a:solidFill>
              <a:srgbClr val="FFFFFF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NL"/>
          </a:p>
        </p:txBody>
      </p:sp>
      <p:sp>
        <p:nvSpPr>
          <p:cNvPr id="415" name="Line 95">
            <a:extLst>
              <a:ext uri="{FF2B5EF4-FFF2-40B4-BE49-F238E27FC236}">
                <a16:creationId xmlns:a16="http://schemas.microsoft.com/office/drawing/2014/main" id="{2DF65783-90E3-7E7F-3391-7446C106BB0F}"/>
              </a:ext>
            </a:extLst>
          </p:cNvPr>
          <p:cNvSpPr>
            <a:spLocks noChangeShapeType="1"/>
          </p:cNvSpPr>
          <p:nvPr/>
        </p:nvSpPr>
        <p:spPr bwMode="auto">
          <a:xfrm>
            <a:off x="6061075" y="3279776"/>
            <a:ext cx="1587500" cy="0"/>
          </a:xfrm>
          <a:prstGeom prst="line">
            <a:avLst/>
          </a:prstGeom>
          <a:noFill/>
          <a:ln w="12700" cap="flat">
            <a:solidFill>
              <a:srgbClr val="FFFFFF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NL"/>
          </a:p>
        </p:txBody>
      </p:sp>
      <p:sp>
        <p:nvSpPr>
          <p:cNvPr id="416" name="Line 96">
            <a:extLst>
              <a:ext uri="{FF2B5EF4-FFF2-40B4-BE49-F238E27FC236}">
                <a16:creationId xmlns:a16="http://schemas.microsoft.com/office/drawing/2014/main" id="{C1C1A8A5-0607-0B30-16BC-A915CEDE1599}"/>
              </a:ext>
            </a:extLst>
          </p:cNvPr>
          <p:cNvSpPr>
            <a:spLocks noChangeShapeType="1"/>
          </p:cNvSpPr>
          <p:nvPr/>
        </p:nvSpPr>
        <p:spPr bwMode="auto">
          <a:xfrm>
            <a:off x="176213" y="3582988"/>
            <a:ext cx="8842375" cy="0"/>
          </a:xfrm>
          <a:prstGeom prst="line">
            <a:avLst/>
          </a:prstGeom>
          <a:noFill/>
          <a:ln w="12700" cap="flat">
            <a:solidFill>
              <a:srgbClr val="FFFFFF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NL"/>
          </a:p>
        </p:txBody>
      </p:sp>
      <p:sp>
        <p:nvSpPr>
          <p:cNvPr id="417" name="Line 97">
            <a:extLst>
              <a:ext uri="{FF2B5EF4-FFF2-40B4-BE49-F238E27FC236}">
                <a16:creationId xmlns:a16="http://schemas.microsoft.com/office/drawing/2014/main" id="{7E055BC5-22F9-DBD3-E060-A4ACEAC480F5}"/>
              </a:ext>
            </a:extLst>
          </p:cNvPr>
          <p:cNvSpPr>
            <a:spLocks noChangeShapeType="1"/>
          </p:cNvSpPr>
          <p:nvPr/>
        </p:nvSpPr>
        <p:spPr bwMode="auto">
          <a:xfrm>
            <a:off x="946150" y="3873501"/>
            <a:ext cx="728663" cy="0"/>
          </a:xfrm>
          <a:prstGeom prst="line">
            <a:avLst/>
          </a:prstGeom>
          <a:noFill/>
          <a:ln w="12700" cap="flat">
            <a:solidFill>
              <a:srgbClr val="FFFFFF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NL"/>
          </a:p>
        </p:txBody>
      </p:sp>
      <p:sp>
        <p:nvSpPr>
          <p:cNvPr id="418" name="Line 98">
            <a:extLst>
              <a:ext uri="{FF2B5EF4-FFF2-40B4-BE49-F238E27FC236}">
                <a16:creationId xmlns:a16="http://schemas.microsoft.com/office/drawing/2014/main" id="{7B98F9BC-73B2-0ECE-3380-C8A838103171}"/>
              </a:ext>
            </a:extLst>
          </p:cNvPr>
          <p:cNvSpPr>
            <a:spLocks noChangeShapeType="1"/>
          </p:cNvSpPr>
          <p:nvPr/>
        </p:nvSpPr>
        <p:spPr bwMode="auto">
          <a:xfrm>
            <a:off x="4487863" y="3873501"/>
            <a:ext cx="1585913" cy="0"/>
          </a:xfrm>
          <a:prstGeom prst="line">
            <a:avLst/>
          </a:prstGeom>
          <a:noFill/>
          <a:ln w="12700" cap="flat">
            <a:solidFill>
              <a:srgbClr val="FFFFFF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NL"/>
          </a:p>
        </p:txBody>
      </p:sp>
      <p:sp>
        <p:nvSpPr>
          <p:cNvPr id="419" name="Line 99">
            <a:extLst>
              <a:ext uri="{FF2B5EF4-FFF2-40B4-BE49-F238E27FC236}">
                <a16:creationId xmlns:a16="http://schemas.microsoft.com/office/drawing/2014/main" id="{9EE73AD0-8F2C-4FC9-A96D-B862F5C2F3DC}"/>
              </a:ext>
            </a:extLst>
          </p:cNvPr>
          <p:cNvSpPr>
            <a:spLocks noChangeShapeType="1"/>
          </p:cNvSpPr>
          <p:nvPr/>
        </p:nvSpPr>
        <p:spPr bwMode="auto">
          <a:xfrm>
            <a:off x="7635875" y="3873501"/>
            <a:ext cx="1382713" cy="0"/>
          </a:xfrm>
          <a:prstGeom prst="line">
            <a:avLst/>
          </a:prstGeom>
          <a:noFill/>
          <a:ln w="12700" cap="flat">
            <a:solidFill>
              <a:srgbClr val="FFFFFF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NL"/>
          </a:p>
        </p:txBody>
      </p:sp>
      <p:sp>
        <p:nvSpPr>
          <p:cNvPr id="420" name="Line 100">
            <a:extLst>
              <a:ext uri="{FF2B5EF4-FFF2-40B4-BE49-F238E27FC236}">
                <a16:creationId xmlns:a16="http://schemas.microsoft.com/office/drawing/2014/main" id="{EFE9D4DC-512B-B2D7-DA70-E8DB6A9C6497}"/>
              </a:ext>
            </a:extLst>
          </p:cNvPr>
          <p:cNvSpPr>
            <a:spLocks noChangeShapeType="1"/>
          </p:cNvSpPr>
          <p:nvPr/>
        </p:nvSpPr>
        <p:spPr bwMode="auto">
          <a:xfrm>
            <a:off x="176213" y="4164013"/>
            <a:ext cx="8842375" cy="0"/>
          </a:xfrm>
          <a:prstGeom prst="line">
            <a:avLst/>
          </a:prstGeom>
          <a:noFill/>
          <a:ln w="12700" cap="flat">
            <a:solidFill>
              <a:srgbClr val="FFFFFF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NL"/>
          </a:p>
        </p:txBody>
      </p:sp>
      <p:sp>
        <p:nvSpPr>
          <p:cNvPr id="421" name="Line 101">
            <a:extLst>
              <a:ext uri="{FF2B5EF4-FFF2-40B4-BE49-F238E27FC236}">
                <a16:creationId xmlns:a16="http://schemas.microsoft.com/office/drawing/2014/main" id="{33F22C5B-4F64-62D9-B0EE-3199999DF6C8}"/>
              </a:ext>
            </a:extLst>
          </p:cNvPr>
          <p:cNvSpPr>
            <a:spLocks noChangeShapeType="1"/>
          </p:cNvSpPr>
          <p:nvPr/>
        </p:nvSpPr>
        <p:spPr bwMode="auto">
          <a:xfrm>
            <a:off x="946150" y="4454526"/>
            <a:ext cx="728663" cy="0"/>
          </a:xfrm>
          <a:prstGeom prst="line">
            <a:avLst/>
          </a:prstGeom>
          <a:noFill/>
          <a:ln w="12700" cap="flat">
            <a:solidFill>
              <a:srgbClr val="FFFFFF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NL"/>
          </a:p>
        </p:txBody>
      </p:sp>
      <p:sp>
        <p:nvSpPr>
          <p:cNvPr id="422" name="Line 102">
            <a:extLst>
              <a:ext uri="{FF2B5EF4-FFF2-40B4-BE49-F238E27FC236}">
                <a16:creationId xmlns:a16="http://schemas.microsoft.com/office/drawing/2014/main" id="{655A25C3-6A9B-A9B8-F297-8CA24D3D66BD}"/>
              </a:ext>
            </a:extLst>
          </p:cNvPr>
          <p:cNvSpPr>
            <a:spLocks noChangeShapeType="1"/>
          </p:cNvSpPr>
          <p:nvPr/>
        </p:nvSpPr>
        <p:spPr bwMode="auto">
          <a:xfrm>
            <a:off x="6061075" y="4454526"/>
            <a:ext cx="1587500" cy="0"/>
          </a:xfrm>
          <a:prstGeom prst="line">
            <a:avLst/>
          </a:prstGeom>
          <a:noFill/>
          <a:ln w="12700" cap="flat">
            <a:solidFill>
              <a:srgbClr val="FFFFFF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NL"/>
          </a:p>
        </p:txBody>
      </p:sp>
      <p:sp>
        <p:nvSpPr>
          <p:cNvPr id="423" name="Line 103">
            <a:extLst>
              <a:ext uri="{FF2B5EF4-FFF2-40B4-BE49-F238E27FC236}">
                <a16:creationId xmlns:a16="http://schemas.microsoft.com/office/drawing/2014/main" id="{93F85DF2-B520-1A87-71F4-2B7ACB392A06}"/>
              </a:ext>
            </a:extLst>
          </p:cNvPr>
          <p:cNvSpPr>
            <a:spLocks noChangeShapeType="1"/>
          </p:cNvSpPr>
          <p:nvPr/>
        </p:nvSpPr>
        <p:spPr bwMode="auto">
          <a:xfrm>
            <a:off x="182563" y="2225676"/>
            <a:ext cx="0" cy="2525713"/>
          </a:xfrm>
          <a:prstGeom prst="line">
            <a:avLst/>
          </a:prstGeom>
          <a:noFill/>
          <a:ln w="12700" cap="flat">
            <a:solidFill>
              <a:srgbClr val="FFFFFF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NL"/>
          </a:p>
        </p:txBody>
      </p:sp>
      <p:sp>
        <p:nvSpPr>
          <p:cNvPr id="424" name="Line 104">
            <a:extLst>
              <a:ext uri="{FF2B5EF4-FFF2-40B4-BE49-F238E27FC236}">
                <a16:creationId xmlns:a16="http://schemas.microsoft.com/office/drawing/2014/main" id="{96816F63-CE0C-391F-13C0-6790D9D43DD4}"/>
              </a:ext>
            </a:extLst>
          </p:cNvPr>
          <p:cNvSpPr>
            <a:spLocks noChangeShapeType="1"/>
          </p:cNvSpPr>
          <p:nvPr/>
        </p:nvSpPr>
        <p:spPr bwMode="auto">
          <a:xfrm>
            <a:off x="9012238" y="2225676"/>
            <a:ext cx="0" cy="2525713"/>
          </a:xfrm>
          <a:prstGeom prst="line">
            <a:avLst/>
          </a:prstGeom>
          <a:noFill/>
          <a:ln w="12700" cap="flat">
            <a:solidFill>
              <a:srgbClr val="FFFFFF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NL"/>
          </a:p>
        </p:txBody>
      </p:sp>
      <p:sp>
        <p:nvSpPr>
          <p:cNvPr id="425" name="Line 105">
            <a:extLst>
              <a:ext uri="{FF2B5EF4-FFF2-40B4-BE49-F238E27FC236}">
                <a16:creationId xmlns:a16="http://schemas.microsoft.com/office/drawing/2014/main" id="{D7D045C2-12FA-06C2-DC7C-EF9E944F9209}"/>
              </a:ext>
            </a:extLst>
          </p:cNvPr>
          <p:cNvSpPr>
            <a:spLocks noChangeShapeType="1"/>
          </p:cNvSpPr>
          <p:nvPr/>
        </p:nvSpPr>
        <p:spPr bwMode="auto">
          <a:xfrm>
            <a:off x="176213" y="2232026"/>
            <a:ext cx="8842375" cy="0"/>
          </a:xfrm>
          <a:prstGeom prst="line">
            <a:avLst/>
          </a:prstGeom>
          <a:noFill/>
          <a:ln w="12700" cap="flat">
            <a:solidFill>
              <a:srgbClr val="FFFFFF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NL"/>
          </a:p>
        </p:txBody>
      </p:sp>
      <p:sp>
        <p:nvSpPr>
          <p:cNvPr id="426" name="Line 106">
            <a:extLst>
              <a:ext uri="{FF2B5EF4-FFF2-40B4-BE49-F238E27FC236}">
                <a16:creationId xmlns:a16="http://schemas.microsoft.com/office/drawing/2014/main" id="{15DE3787-DC09-ADB1-9882-82D127457721}"/>
              </a:ext>
            </a:extLst>
          </p:cNvPr>
          <p:cNvSpPr>
            <a:spLocks noChangeShapeType="1"/>
          </p:cNvSpPr>
          <p:nvPr/>
        </p:nvSpPr>
        <p:spPr bwMode="auto">
          <a:xfrm>
            <a:off x="176213" y="4745038"/>
            <a:ext cx="8842375" cy="0"/>
          </a:xfrm>
          <a:prstGeom prst="line">
            <a:avLst/>
          </a:prstGeom>
          <a:noFill/>
          <a:ln w="12700" cap="flat">
            <a:solidFill>
              <a:srgbClr val="FFFFFF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NL"/>
          </a:p>
        </p:txBody>
      </p:sp>
      <p:sp>
        <p:nvSpPr>
          <p:cNvPr id="427" name="Rectangle 107">
            <a:extLst>
              <a:ext uri="{FF2B5EF4-FFF2-40B4-BE49-F238E27FC236}">
                <a16:creationId xmlns:a16="http://schemas.microsoft.com/office/drawing/2014/main" id="{C09B91A8-8EC3-EEA5-3AED-EE39290235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90713" y="2238376"/>
            <a:ext cx="758825" cy="266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NL" altLang="en-NL" sz="1400" b="1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Calibri" panose="020F0502020204030204" pitchFamily="34" charset="0"/>
              </a:rPr>
              <a:t>Types of </a:t>
            </a:r>
            <a:endParaRPr kumimoji="0" lang="en-NL" altLang="en-NL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34" name="Rectangle 108">
            <a:extLst>
              <a:ext uri="{FF2B5EF4-FFF2-40B4-BE49-F238E27FC236}">
                <a16:creationId xmlns:a16="http://schemas.microsoft.com/office/drawing/2014/main" id="{B67C56FB-D031-18F0-D1F4-9080492CB0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36725" y="2444751"/>
            <a:ext cx="1030288" cy="266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NL" altLang="en-NL" sz="14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Calibri" panose="020F0502020204030204" pitchFamily="34" charset="0"/>
              </a:rPr>
              <a:t>quantization</a:t>
            </a:r>
            <a:endParaRPr kumimoji="0" lang="en-NL" altLang="en-NL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35" name="Rectangle 109">
            <a:extLst>
              <a:ext uri="{FF2B5EF4-FFF2-40B4-BE49-F238E27FC236}">
                <a16:creationId xmlns:a16="http://schemas.microsoft.com/office/drawing/2014/main" id="{AF063ECA-FFA0-1C5A-D2CD-62033DAAA9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8613" y="2238376"/>
            <a:ext cx="882650" cy="266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NL" altLang="en-NL" sz="1400" b="1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Calibri" panose="020F0502020204030204" pitchFamily="34" charset="0"/>
              </a:rPr>
              <a:t>Precisions </a:t>
            </a:r>
            <a:endParaRPr kumimoji="0" lang="en-NL" altLang="en-NL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36" name="Rectangle 110">
            <a:extLst>
              <a:ext uri="{FF2B5EF4-FFF2-40B4-BE49-F238E27FC236}">
                <a16:creationId xmlns:a16="http://schemas.microsoft.com/office/drawing/2014/main" id="{7866DF74-96CF-14EF-D2F4-C81FDAC3B1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59088" y="2444751"/>
            <a:ext cx="860425" cy="266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NL" altLang="en-NL" sz="1400" b="1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Calibri" panose="020F0502020204030204" pitchFamily="34" charset="0"/>
              </a:rPr>
              <a:t>supported</a:t>
            </a:r>
            <a:endParaRPr kumimoji="0" lang="en-NL" altLang="en-NL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37" name="Rectangle 111">
            <a:extLst>
              <a:ext uri="{FF2B5EF4-FFF2-40B4-BE49-F238E27FC236}">
                <a16:creationId xmlns:a16="http://schemas.microsoft.com/office/drawing/2014/main" id="{99222806-98AF-4017-5F56-88FF0FF1A7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02138" y="2341563"/>
            <a:ext cx="1154113" cy="266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NL" altLang="en-NL" sz="14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Calibri" panose="020F0502020204030204" pitchFamily="34" charset="0"/>
              </a:rPr>
              <a:t>Clipping range</a:t>
            </a:r>
            <a:endParaRPr kumimoji="0" lang="en-NL" altLang="en-NL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38" name="Rectangle 112">
            <a:extLst>
              <a:ext uri="{FF2B5EF4-FFF2-40B4-BE49-F238E27FC236}">
                <a16:creationId xmlns:a16="http://schemas.microsoft.com/office/drawing/2014/main" id="{337A2EA2-CF50-6141-E9C4-383E9AFF56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94438" y="2341563"/>
            <a:ext cx="1263650" cy="266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NL" altLang="en-NL" sz="1400" b="1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Calibri" panose="020F0502020204030204" pitchFamily="34" charset="0"/>
              </a:rPr>
              <a:t>Type of clipping</a:t>
            </a:r>
            <a:endParaRPr kumimoji="0" lang="en-NL" altLang="en-NL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39" name="Rectangle 113">
            <a:extLst>
              <a:ext uri="{FF2B5EF4-FFF2-40B4-BE49-F238E27FC236}">
                <a16:creationId xmlns:a16="http://schemas.microsoft.com/office/drawing/2014/main" id="{E573649A-B5B7-E718-25FB-A25EE126ED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85125" y="2238376"/>
            <a:ext cx="839788" cy="266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NL" altLang="en-NL" sz="1400" b="1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Calibri" panose="020F0502020204030204" pitchFamily="34" charset="0"/>
              </a:rPr>
              <a:t>Rounding </a:t>
            </a:r>
            <a:endParaRPr kumimoji="0" lang="en-NL" altLang="en-NL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40" name="Rectangle 114">
            <a:extLst>
              <a:ext uri="{FF2B5EF4-FFF2-40B4-BE49-F238E27FC236}">
                <a16:creationId xmlns:a16="http://schemas.microsoft.com/office/drawing/2014/main" id="{0566F331-9F6B-4A85-884D-D31A422A06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78775" y="2444751"/>
            <a:ext cx="823913" cy="266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NL" altLang="en-NL" sz="1400" b="1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Calibri" panose="020F0502020204030204" pitchFamily="34" charset="0"/>
              </a:rPr>
              <a:t>operation</a:t>
            </a:r>
            <a:endParaRPr kumimoji="0" lang="en-NL" altLang="en-NL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41" name="Rectangle 115">
            <a:extLst>
              <a:ext uri="{FF2B5EF4-FFF2-40B4-BE49-F238E27FC236}">
                <a16:creationId xmlns:a16="http://schemas.microsoft.com/office/drawing/2014/main" id="{F5A429DB-308B-7994-DF8F-9BE0F4B35D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6950" y="2744788"/>
            <a:ext cx="731838" cy="207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NL" altLang="en-NL" sz="11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Calibri" panose="020F0502020204030204" pitchFamily="34" charset="0"/>
              </a:rPr>
              <a:t>parameters</a:t>
            </a:r>
            <a:endParaRPr kumimoji="0" lang="en-NL" altLang="en-NL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42" name="Rectangle 116">
            <a:extLst>
              <a:ext uri="{FF2B5EF4-FFF2-40B4-BE49-F238E27FC236}">
                <a16:creationId xmlns:a16="http://schemas.microsoft.com/office/drawing/2014/main" id="{2C07F8C2-9D46-3C86-7FE3-868F0228E5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01800" y="2744788"/>
            <a:ext cx="547688" cy="207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NL" altLang="en-NL" sz="11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Calibri" panose="020F0502020204030204" pitchFamily="34" charset="0"/>
              </a:rPr>
              <a:t>Uniform</a:t>
            </a:r>
            <a:endParaRPr kumimoji="0" lang="en-NL" altLang="en-NL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43" name="Rectangle 117">
            <a:extLst>
              <a:ext uri="{FF2B5EF4-FFF2-40B4-BE49-F238E27FC236}">
                <a16:creationId xmlns:a16="http://schemas.microsoft.com/office/drawing/2014/main" id="{3AB72B5D-8DB8-67E3-ABAF-320957D713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11400" y="2662238"/>
            <a:ext cx="311150" cy="209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NL" altLang="en-NL" sz="11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Calibri" panose="020F0502020204030204" pitchFamily="34" charset="0"/>
              </a:rPr>
              <a:t>Non</a:t>
            </a:r>
            <a:endParaRPr kumimoji="0" lang="en-NL" altLang="en-NL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44" name="Rectangle 118">
            <a:extLst>
              <a:ext uri="{FF2B5EF4-FFF2-40B4-BE49-F238E27FC236}">
                <a16:creationId xmlns:a16="http://schemas.microsoft.com/office/drawing/2014/main" id="{F58B5879-9BA8-6057-E323-2FC260BB5C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38413" y="2662238"/>
            <a:ext cx="115888" cy="209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NL" altLang="en-NL" sz="11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Calibri" panose="020F0502020204030204" pitchFamily="34" charset="0"/>
              </a:rPr>
              <a:t>-</a:t>
            </a:r>
            <a:endParaRPr kumimoji="0" lang="en-NL" altLang="en-NL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45" name="Rectangle 119">
            <a:extLst>
              <a:ext uri="{FF2B5EF4-FFF2-40B4-BE49-F238E27FC236}">
                <a16:creationId xmlns:a16="http://schemas.microsoft.com/office/drawing/2014/main" id="{1CD2F65B-8903-80C0-F5EA-14B32D7514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27263" y="2822576"/>
            <a:ext cx="530225" cy="209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NL" altLang="en-NL" sz="11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Calibri" panose="020F0502020204030204" pitchFamily="34" charset="0"/>
              </a:rPr>
              <a:t>uniform</a:t>
            </a:r>
            <a:endParaRPr kumimoji="0" lang="en-NL" altLang="en-NL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46" name="Rectangle 120">
            <a:extLst>
              <a:ext uri="{FF2B5EF4-FFF2-40B4-BE49-F238E27FC236}">
                <a16:creationId xmlns:a16="http://schemas.microsoft.com/office/drawing/2014/main" id="{1E51AAAD-287D-15BC-9743-739CEA52B7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43213" y="2744788"/>
            <a:ext cx="215900" cy="207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NL" altLang="en-NL" sz="11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Calibri" panose="020F0502020204030204" pitchFamily="34" charset="0"/>
              </a:rPr>
              <a:t>16</a:t>
            </a:r>
            <a:endParaRPr kumimoji="0" lang="en-NL" altLang="en-NL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47" name="Rectangle 121">
            <a:extLst>
              <a:ext uri="{FF2B5EF4-FFF2-40B4-BE49-F238E27FC236}">
                <a16:creationId xmlns:a16="http://schemas.microsoft.com/office/drawing/2014/main" id="{14D1C1F6-682D-452A-8408-15C41C8F95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43263" y="2744788"/>
            <a:ext cx="144463" cy="207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NL" altLang="en-NL" sz="11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Calibri" panose="020F0502020204030204" pitchFamily="34" charset="0"/>
              </a:rPr>
              <a:t>8</a:t>
            </a:r>
            <a:endParaRPr kumimoji="0" lang="en-NL" altLang="en-NL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48" name="Rectangle 122">
            <a:extLst>
              <a:ext uri="{FF2B5EF4-FFF2-40B4-BE49-F238E27FC236}">
                <a16:creationId xmlns:a16="http://schemas.microsoft.com/office/drawing/2014/main" id="{AE2E8007-9013-C8F4-3AD7-3A433A8082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25838" y="2744788"/>
            <a:ext cx="215900" cy="207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NL" altLang="en-NL" sz="11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Calibri" panose="020F0502020204030204" pitchFamily="34" charset="0"/>
              </a:rPr>
              <a:t>&lt;8</a:t>
            </a:r>
            <a:endParaRPr kumimoji="0" lang="en-NL" altLang="en-NL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49" name="Rectangle 123">
            <a:extLst>
              <a:ext uri="{FF2B5EF4-FFF2-40B4-BE49-F238E27FC236}">
                <a16:creationId xmlns:a16="http://schemas.microsoft.com/office/drawing/2014/main" id="{AFBCF1A0-E140-D8BB-338B-15C6481FC7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76675" y="2662238"/>
            <a:ext cx="298450" cy="209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NL" altLang="en-NL" sz="11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Calibri" panose="020F0502020204030204" pitchFamily="34" charset="0"/>
              </a:rPr>
              <a:t>Min</a:t>
            </a:r>
            <a:endParaRPr kumimoji="0" lang="en-NL" altLang="en-NL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50" name="Rectangle 124">
            <a:extLst>
              <a:ext uri="{FF2B5EF4-FFF2-40B4-BE49-F238E27FC236}">
                <a16:creationId xmlns:a16="http://schemas.microsoft.com/office/drawing/2014/main" id="{F09C27EC-4980-8BD1-F8EA-7989E62FBC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90988" y="2662238"/>
            <a:ext cx="115888" cy="209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NL" altLang="en-NL" sz="11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Calibri" panose="020F0502020204030204" pitchFamily="34" charset="0"/>
              </a:rPr>
              <a:t>-</a:t>
            </a:r>
            <a:endParaRPr kumimoji="0" lang="en-NL" altLang="en-NL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51" name="Rectangle 125">
            <a:extLst>
              <a:ext uri="{FF2B5EF4-FFF2-40B4-BE49-F238E27FC236}">
                <a16:creationId xmlns:a16="http://schemas.microsoft.com/office/drawing/2014/main" id="{20BAAC16-3631-C630-2205-11C4088587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32263" y="2662238"/>
            <a:ext cx="352425" cy="209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NL" altLang="en-NL" sz="11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Calibri" panose="020F0502020204030204" pitchFamily="34" charset="0"/>
              </a:rPr>
              <a:t>Max </a:t>
            </a:r>
            <a:endParaRPr kumimoji="0" lang="en-NL" altLang="en-NL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52" name="Rectangle 126">
            <a:extLst>
              <a:ext uri="{FF2B5EF4-FFF2-40B4-BE49-F238E27FC236}">
                <a16:creationId xmlns:a16="http://schemas.microsoft.com/office/drawing/2014/main" id="{3C9ACAE6-8BE5-F858-718F-0AE7C786BD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13188" y="2822576"/>
            <a:ext cx="512763" cy="209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NL" altLang="en-NL" sz="11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Calibri" panose="020F0502020204030204" pitchFamily="34" charset="0"/>
              </a:rPr>
              <a:t>clipping</a:t>
            </a:r>
            <a:endParaRPr kumimoji="0" lang="en-NL" altLang="en-NL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53" name="Rectangle 127">
            <a:extLst>
              <a:ext uri="{FF2B5EF4-FFF2-40B4-BE49-F238E27FC236}">
                <a16:creationId xmlns:a16="http://schemas.microsoft.com/office/drawing/2014/main" id="{25E6D666-CD0A-7A38-C2B9-67A823E87A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89463" y="2662238"/>
            <a:ext cx="728663" cy="209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NL" altLang="en-NL" sz="11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Calibri" panose="020F0502020204030204" pitchFamily="34" charset="0"/>
              </a:rPr>
              <a:t>MSE based </a:t>
            </a:r>
            <a:endParaRPr kumimoji="0" lang="en-NL" altLang="en-NL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54" name="Rectangle 128">
            <a:extLst>
              <a:ext uri="{FF2B5EF4-FFF2-40B4-BE49-F238E27FC236}">
                <a16:creationId xmlns:a16="http://schemas.microsoft.com/office/drawing/2014/main" id="{B330BD80-2C3C-FDF8-E2CB-D12889C46E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32313" y="2822576"/>
            <a:ext cx="822325" cy="209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NL" altLang="en-NL" sz="11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Calibri" panose="020F0502020204030204" pitchFamily="34" charset="0"/>
              </a:rPr>
              <a:t>range setting</a:t>
            </a:r>
            <a:endParaRPr kumimoji="0" lang="en-NL" altLang="en-NL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55" name="Rectangle 129">
            <a:extLst>
              <a:ext uri="{FF2B5EF4-FFF2-40B4-BE49-F238E27FC236}">
                <a16:creationId xmlns:a16="http://schemas.microsoft.com/office/drawing/2014/main" id="{E10EBCE7-F790-58EF-998B-FA2268BBB4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65750" y="2744788"/>
            <a:ext cx="722313" cy="207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NL" altLang="en-NL" sz="11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Calibri" panose="020F0502020204030204" pitchFamily="34" charset="0"/>
              </a:rPr>
              <a:t>BN method</a:t>
            </a:r>
            <a:endParaRPr kumimoji="0" lang="en-NL" altLang="en-NL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56" name="Rectangle 130">
            <a:extLst>
              <a:ext uri="{FF2B5EF4-FFF2-40B4-BE49-F238E27FC236}">
                <a16:creationId xmlns:a16="http://schemas.microsoft.com/office/drawing/2014/main" id="{76B0C8F1-789F-4D0D-81F2-D4671C4B00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0613" y="2744788"/>
            <a:ext cx="685800" cy="207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NL" altLang="en-NL" sz="11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Calibri" panose="020F0502020204030204" pitchFamily="34" charset="0"/>
              </a:rPr>
              <a:t>Symmetric</a:t>
            </a:r>
            <a:endParaRPr kumimoji="0" lang="en-NL" altLang="en-NL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57" name="Rectangle 131">
            <a:extLst>
              <a:ext uri="{FF2B5EF4-FFF2-40B4-BE49-F238E27FC236}">
                <a16:creationId xmlns:a16="http://schemas.microsoft.com/office/drawing/2014/main" id="{545DBBDD-E010-D593-5F04-2763DF02C4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23088" y="2744788"/>
            <a:ext cx="755650" cy="207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NL" altLang="en-NL" sz="11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Calibri" panose="020F0502020204030204" pitchFamily="34" charset="0"/>
              </a:rPr>
              <a:t>Asymmetric</a:t>
            </a:r>
            <a:endParaRPr kumimoji="0" lang="en-NL" altLang="en-NL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58" name="Rectangle 132">
            <a:extLst>
              <a:ext uri="{FF2B5EF4-FFF2-40B4-BE49-F238E27FC236}">
                <a16:creationId xmlns:a16="http://schemas.microsoft.com/office/drawing/2014/main" id="{E82AEA32-BDBD-B2A1-D68F-E4BD6F730F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26363" y="2662238"/>
            <a:ext cx="630238" cy="209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NL" altLang="en-NL" sz="11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Calibri" panose="020F0502020204030204" pitchFamily="34" charset="0"/>
              </a:rPr>
              <a:t>Round to </a:t>
            </a:r>
            <a:endParaRPr kumimoji="0" lang="en-NL" altLang="en-NL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59" name="Rectangle 133">
            <a:extLst>
              <a:ext uri="{FF2B5EF4-FFF2-40B4-BE49-F238E27FC236}">
                <a16:creationId xmlns:a16="http://schemas.microsoft.com/office/drawing/2014/main" id="{0F4022A8-C230-DFE7-4520-6F63C6305E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69225" y="2822576"/>
            <a:ext cx="504825" cy="209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NL" altLang="en-NL" sz="11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Calibri" panose="020F0502020204030204" pitchFamily="34" charset="0"/>
              </a:rPr>
              <a:t>nearest</a:t>
            </a:r>
            <a:endParaRPr kumimoji="0" lang="en-NL" altLang="en-NL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60" name="Rectangle 134">
            <a:extLst>
              <a:ext uri="{FF2B5EF4-FFF2-40B4-BE49-F238E27FC236}">
                <a16:creationId xmlns:a16="http://schemas.microsoft.com/office/drawing/2014/main" id="{2D98266F-E445-E46F-A25F-8592C1DF00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61375" y="2662238"/>
            <a:ext cx="525463" cy="209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NL" altLang="en-NL" sz="11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Calibri" panose="020F0502020204030204" pitchFamily="34" charset="0"/>
              </a:rPr>
              <a:t>SQuant </a:t>
            </a:r>
            <a:endParaRPr kumimoji="0" lang="en-NL" altLang="en-NL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61" name="Rectangle 135">
            <a:extLst>
              <a:ext uri="{FF2B5EF4-FFF2-40B4-BE49-F238E27FC236}">
                <a16:creationId xmlns:a16="http://schemas.microsoft.com/office/drawing/2014/main" id="{818E7C86-F67D-0198-0FA8-4252146DDA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58200" y="2822576"/>
            <a:ext cx="498475" cy="209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NL" altLang="en-NL" sz="11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Calibri" panose="020F0502020204030204" pitchFamily="34" charset="0"/>
              </a:rPr>
              <a:t>hessian</a:t>
            </a:r>
            <a:endParaRPr kumimoji="0" lang="en-NL" altLang="en-NL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62" name="Rectangle 136">
            <a:extLst>
              <a:ext uri="{FF2B5EF4-FFF2-40B4-BE49-F238E27FC236}">
                <a16:creationId xmlns:a16="http://schemas.microsoft.com/office/drawing/2014/main" id="{DD7F7880-3DE1-DE11-C90E-AF3A314F9A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6063" y="3125788"/>
            <a:ext cx="777875" cy="207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NL" altLang="en-NL" sz="11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TensorFlow </a:t>
            </a:r>
            <a:endParaRPr kumimoji="0" lang="en-NL" altLang="en-NL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63" name="Rectangle 137">
            <a:extLst>
              <a:ext uri="{FF2B5EF4-FFF2-40B4-BE49-F238E27FC236}">
                <a16:creationId xmlns:a16="http://schemas.microsoft.com/office/drawing/2014/main" id="{0043CBD3-5E58-A131-C1CB-F968967C48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5138" y="3287713"/>
            <a:ext cx="288925" cy="207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NL" altLang="en-NL" sz="11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Lite</a:t>
            </a:r>
            <a:endParaRPr kumimoji="0" lang="en-NL" altLang="en-NL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64" name="Rectangle 138">
            <a:extLst>
              <a:ext uri="{FF2B5EF4-FFF2-40B4-BE49-F238E27FC236}">
                <a16:creationId xmlns:a16="http://schemas.microsoft.com/office/drawing/2014/main" id="{F0ECE49F-2E31-A622-9E73-4F0B2EA4CB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2513" y="3013076"/>
            <a:ext cx="600075" cy="150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NL" altLang="en-NL" sz="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Weights and </a:t>
            </a:r>
            <a:endParaRPr kumimoji="0" lang="en-NL" altLang="en-NL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65" name="Rectangle 139">
            <a:extLst>
              <a:ext uri="{FF2B5EF4-FFF2-40B4-BE49-F238E27FC236}">
                <a16:creationId xmlns:a16="http://schemas.microsoft.com/office/drawing/2014/main" id="{114C9A0A-EB98-1DF9-57A5-3FFB1678EA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4275" y="3136901"/>
            <a:ext cx="311150" cy="150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NL" altLang="en-NL" sz="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biases</a:t>
            </a:r>
            <a:endParaRPr kumimoji="0" lang="en-NL" altLang="en-NL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66" name="Rectangle 140">
            <a:extLst>
              <a:ext uri="{FF2B5EF4-FFF2-40B4-BE49-F238E27FC236}">
                <a16:creationId xmlns:a16="http://schemas.microsoft.com/office/drawing/2014/main" id="{2681344E-6F29-94D9-8EA3-D8AA3D4432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71663" y="3189288"/>
            <a:ext cx="112210" cy="1692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NL" altLang="en-NL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egoe UI Symbol" panose="020B0502040204020203" pitchFamily="34" charset="0"/>
              </a:rPr>
              <a:t>✔</a:t>
            </a:r>
            <a:endParaRPr kumimoji="0" lang="en-NL" altLang="en-NL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67" name="Rectangle 141">
            <a:extLst>
              <a:ext uri="{FF2B5EF4-FFF2-40B4-BE49-F238E27FC236}">
                <a16:creationId xmlns:a16="http://schemas.microsoft.com/office/drawing/2014/main" id="{C746EE15-98EC-420C-04EC-4B4028A66F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55913" y="3189288"/>
            <a:ext cx="112210" cy="1692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NL" altLang="en-NL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egoe UI Symbol" panose="020B0502040204020203" pitchFamily="34" charset="0"/>
              </a:rPr>
              <a:t>✔</a:t>
            </a:r>
            <a:endParaRPr kumimoji="0" lang="en-NL" altLang="en-NL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68" name="Rectangle 142">
            <a:extLst>
              <a:ext uri="{FF2B5EF4-FFF2-40B4-BE49-F238E27FC236}">
                <a16:creationId xmlns:a16="http://schemas.microsoft.com/office/drawing/2014/main" id="{BAAF7583-649C-F7DB-03AF-D4093E6727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19450" y="3189288"/>
            <a:ext cx="112210" cy="1692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NL" altLang="en-NL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egoe UI Symbol" panose="020B0502040204020203" pitchFamily="34" charset="0"/>
              </a:rPr>
              <a:t>✔</a:t>
            </a:r>
            <a:endParaRPr kumimoji="0" lang="en-NL" altLang="en-NL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69" name="Rectangle 143">
            <a:extLst>
              <a:ext uri="{FF2B5EF4-FFF2-40B4-BE49-F238E27FC236}">
                <a16:creationId xmlns:a16="http://schemas.microsoft.com/office/drawing/2014/main" id="{8BCE7F24-F180-06A2-34F7-38F7C9A75C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67175" y="3189288"/>
            <a:ext cx="112210" cy="1692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NL" altLang="en-NL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egoe UI Symbol" panose="020B0502040204020203" pitchFamily="34" charset="0"/>
              </a:rPr>
              <a:t>✔</a:t>
            </a:r>
            <a:endParaRPr kumimoji="0" lang="en-NL" altLang="en-NL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70" name="Rectangle 144">
            <a:extLst>
              <a:ext uri="{FF2B5EF4-FFF2-40B4-BE49-F238E27FC236}">
                <a16:creationId xmlns:a16="http://schemas.microsoft.com/office/drawing/2014/main" id="{7C122A1C-3108-3F4E-21B7-8998801EA5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03975" y="3036888"/>
            <a:ext cx="112210" cy="1692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NL" altLang="en-NL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egoe UI Symbol" panose="020B0502040204020203" pitchFamily="34" charset="0"/>
              </a:rPr>
              <a:t>✔</a:t>
            </a:r>
            <a:endParaRPr kumimoji="0" lang="en-NL" altLang="en-NL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71" name="Rectangle 145">
            <a:extLst>
              <a:ext uri="{FF2B5EF4-FFF2-40B4-BE49-F238E27FC236}">
                <a16:creationId xmlns:a16="http://schemas.microsoft.com/office/drawing/2014/main" id="{D66331F6-B903-872A-9500-3A68EDCC23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18450" y="3189288"/>
            <a:ext cx="112210" cy="1692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NL" altLang="en-NL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egoe UI Symbol" panose="020B0502040204020203" pitchFamily="34" charset="0"/>
              </a:rPr>
              <a:t>✔</a:t>
            </a:r>
            <a:endParaRPr kumimoji="0" lang="en-NL" altLang="en-NL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72" name="Rectangle 146">
            <a:extLst>
              <a:ext uri="{FF2B5EF4-FFF2-40B4-BE49-F238E27FC236}">
                <a16:creationId xmlns:a16="http://schemas.microsoft.com/office/drawing/2014/main" id="{172FA0E3-1E54-068A-86DB-81DB47031B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2675" y="3370263"/>
            <a:ext cx="577850" cy="171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NL" altLang="en-NL" sz="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Activations</a:t>
            </a:r>
            <a:endParaRPr kumimoji="0" lang="en-NL" altLang="en-NL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73" name="Rectangle 147">
            <a:extLst>
              <a:ext uri="{FF2B5EF4-FFF2-40B4-BE49-F238E27FC236}">
                <a16:creationId xmlns:a16="http://schemas.microsoft.com/office/drawing/2014/main" id="{55A029AD-11DA-5E29-5B2C-07A6865229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91375" y="3333751"/>
            <a:ext cx="112210" cy="1692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NL" altLang="en-NL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egoe UI Symbol" panose="020B0502040204020203" pitchFamily="34" charset="0"/>
              </a:rPr>
              <a:t>✔</a:t>
            </a:r>
            <a:endParaRPr kumimoji="0" lang="en-NL" altLang="en-NL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74" name="Rectangle 148">
            <a:extLst>
              <a:ext uri="{FF2B5EF4-FFF2-40B4-BE49-F238E27FC236}">
                <a16:creationId xmlns:a16="http://schemas.microsoft.com/office/drawing/2014/main" id="{636C1103-1AB3-BA42-9A70-B8B80D7F46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1950" y="3792538"/>
            <a:ext cx="506413" cy="209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NL" altLang="en-NL" sz="11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SQuant</a:t>
            </a:r>
            <a:endParaRPr kumimoji="0" lang="en-NL" altLang="en-NL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75" name="Rectangle 149">
            <a:extLst>
              <a:ext uri="{FF2B5EF4-FFF2-40B4-BE49-F238E27FC236}">
                <a16:creationId xmlns:a16="http://schemas.microsoft.com/office/drawing/2014/main" id="{3496B59F-4BD3-5955-8D0C-CD501BAAEB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1413" y="3670301"/>
            <a:ext cx="395288" cy="150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NL" altLang="en-NL" sz="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Weights</a:t>
            </a:r>
            <a:endParaRPr kumimoji="0" lang="en-NL" altLang="en-NL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76" name="Rectangle 150">
            <a:extLst>
              <a:ext uri="{FF2B5EF4-FFF2-40B4-BE49-F238E27FC236}">
                <a16:creationId xmlns:a16="http://schemas.microsoft.com/office/drawing/2014/main" id="{070A806A-5A8A-A81D-3F9D-DCDF6EAB17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71663" y="3776663"/>
            <a:ext cx="112210" cy="1692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NL" altLang="en-NL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egoe UI Symbol" panose="020B0502040204020203" pitchFamily="34" charset="0"/>
              </a:rPr>
              <a:t>✔</a:t>
            </a:r>
            <a:endParaRPr kumimoji="0" lang="en-NL" altLang="en-NL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77" name="Rectangle 151">
            <a:extLst>
              <a:ext uri="{FF2B5EF4-FFF2-40B4-BE49-F238E27FC236}">
                <a16:creationId xmlns:a16="http://schemas.microsoft.com/office/drawing/2014/main" id="{112B8295-BB1B-700A-672E-9334ED4ED3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55913" y="3776663"/>
            <a:ext cx="112210" cy="1692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NL" altLang="en-NL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egoe UI Symbol" panose="020B0502040204020203" pitchFamily="34" charset="0"/>
              </a:rPr>
              <a:t>✔</a:t>
            </a:r>
            <a:endParaRPr kumimoji="0" lang="en-NL" altLang="en-NL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78" name="Rectangle 152">
            <a:extLst>
              <a:ext uri="{FF2B5EF4-FFF2-40B4-BE49-F238E27FC236}">
                <a16:creationId xmlns:a16="http://schemas.microsoft.com/office/drawing/2014/main" id="{92FDDA78-8C30-3D64-11D9-050675621B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19450" y="3776663"/>
            <a:ext cx="112210" cy="1692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NL" altLang="en-NL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egoe UI Symbol" panose="020B0502040204020203" pitchFamily="34" charset="0"/>
              </a:rPr>
              <a:t>✔</a:t>
            </a:r>
            <a:endParaRPr kumimoji="0" lang="en-NL" altLang="en-NL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79" name="Rectangle 153">
            <a:extLst>
              <a:ext uri="{FF2B5EF4-FFF2-40B4-BE49-F238E27FC236}">
                <a16:creationId xmlns:a16="http://schemas.microsoft.com/office/drawing/2014/main" id="{0AC1322E-5AA8-4F53-6C77-C1B1E1FB5E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6950" y="3776663"/>
            <a:ext cx="112210" cy="1692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NL" altLang="en-NL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egoe UI Symbol" panose="020B0502040204020203" pitchFamily="34" charset="0"/>
              </a:rPr>
              <a:t>✔</a:t>
            </a:r>
            <a:endParaRPr kumimoji="0" lang="en-NL" altLang="en-NL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80" name="Rectangle 154">
            <a:extLst>
              <a:ext uri="{FF2B5EF4-FFF2-40B4-BE49-F238E27FC236}">
                <a16:creationId xmlns:a16="http://schemas.microsoft.com/office/drawing/2014/main" id="{F6718E70-01AC-9F79-D945-BB6D243453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30763" y="3630613"/>
            <a:ext cx="112210" cy="1692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NL" altLang="en-NL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egoe UI Symbol" panose="020B0502040204020203" pitchFamily="34" charset="0"/>
              </a:rPr>
              <a:t>✔</a:t>
            </a:r>
            <a:endParaRPr kumimoji="0" lang="en-NL" altLang="en-NL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81" name="Rectangle 155">
            <a:extLst>
              <a:ext uri="{FF2B5EF4-FFF2-40B4-BE49-F238E27FC236}">
                <a16:creationId xmlns:a16="http://schemas.microsoft.com/office/drawing/2014/main" id="{B84A5E26-3B88-75B8-17FA-3E633390F2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03975" y="3776663"/>
            <a:ext cx="112210" cy="1692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NL" altLang="en-NL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egoe UI Symbol" panose="020B0502040204020203" pitchFamily="34" charset="0"/>
              </a:rPr>
              <a:t>✔</a:t>
            </a:r>
            <a:endParaRPr kumimoji="0" lang="en-NL" altLang="en-NL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82" name="Rectangle 156">
            <a:extLst>
              <a:ext uri="{FF2B5EF4-FFF2-40B4-BE49-F238E27FC236}">
                <a16:creationId xmlns:a16="http://schemas.microsoft.com/office/drawing/2014/main" id="{36888382-1CC3-9BC2-3FB7-9AB9902608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05838" y="3630613"/>
            <a:ext cx="112210" cy="1692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NL" altLang="en-NL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egoe UI Symbol" panose="020B0502040204020203" pitchFamily="34" charset="0"/>
              </a:rPr>
              <a:t>✔</a:t>
            </a:r>
            <a:endParaRPr kumimoji="0" lang="en-NL" altLang="en-NL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83" name="Rectangle 157">
            <a:extLst>
              <a:ext uri="{FF2B5EF4-FFF2-40B4-BE49-F238E27FC236}">
                <a16:creationId xmlns:a16="http://schemas.microsoft.com/office/drawing/2014/main" id="{6E6C8268-306F-FA83-A7C1-2E512EAE05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2675" y="3957638"/>
            <a:ext cx="577850" cy="171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NL" altLang="en-NL" sz="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Activations</a:t>
            </a:r>
            <a:endParaRPr kumimoji="0" lang="en-NL" altLang="en-NL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84" name="Rectangle 158">
            <a:extLst>
              <a:ext uri="{FF2B5EF4-FFF2-40B4-BE49-F238E27FC236}">
                <a16:creationId xmlns:a16="http://schemas.microsoft.com/office/drawing/2014/main" id="{E8B65D1A-E22A-FEEC-0807-785D29C13C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18163" y="3921126"/>
            <a:ext cx="112210" cy="1692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NL" altLang="en-NL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egoe UI Symbol" panose="020B0502040204020203" pitchFamily="34" charset="0"/>
              </a:rPr>
              <a:t>✔</a:t>
            </a:r>
            <a:endParaRPr kumimoji="0" lang="en-NL" altLang="en-NL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85" name="Rectangle 159">
            <a:extLst>
              <a:ext uri="{FF2B5EF4-FFF2-40B4-BE49-F238E27FC236}">
                <a16:creationId xmlns:a16="http://schemas.microsoft.com/office/drawing/2014/main" id="{88EE1642-A7E6-F21B-6379-F4193F438E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18450" y="3921126"/>
            <a:ext cx="112210" cy="1692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NL" altLang="en-NL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egoe UI Symbol" panose="020B0502040204020203" pitchFamily="34" charset="0"/>
              </a:rPr>
              <a:t>✔</a:t>
            </a:r>
            <a:endParaRPr kumimoji="0" lang="en-NL" altLang="en-NL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86" name="Rectangle 160">
            <a:extLst>
              <a:ext uri="{FF2B5EF4-FFF2-40B4-BE49-F238E27FC236}">
                <a16:creationId xmlns:a16="http://schemas.microsoft.com/office/drawing/2014/main" id="{372584D0-1000-6BF4-B9E9-7FDC1BCB4E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9888" y="4373563"/>
            <a:ext cx="492125" cy="209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NL" altLang="en-NL" sz="11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QKeras</a:t>
            </a:r>
            <a:endParaRPr kumimoji="0" lang="en-NL" altLang="en-NL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87" name="Rectangle 161">
            <a:extLst>
              <a:ext uri="{FF2B5EF4-FFF2-40B4-BE49-F238E27FC236}">
                <a16:creationId xmlns:a16="http://schemas.microsoft.com/office/drawing/2014/main" id="{B8ADD256-BAEE-9AAE-92EB-01D203554D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2513" y="4189413"/>
            <a:ext cx="600075" cy="150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NL" altLang="en-NL" sz="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Weights and </a:t>
            </a:r>
            <a:endParaRPr kumimoji="0" lang="en-NL" altLang="en-NL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88" name="Rectangle 162">
            <a:extLst>
              <a:ext uri="{FF2B5EF4-FFF2-40B4-BE49-F238E27FC236}">
                <a16:creationId xmlns:a16="http://schemas.microsoft.com/office/drawing/2014/main" id="{A05D29AF-29B6-5894-CC54-710D68F58B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4275" y="4311651"/>
            <a:ext cx="311150" cy="150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NL" altLang="en-NL" sz="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biases</a:t>
            </a:r>
            <a:endParaRPr kumimoji="0" lang="en-NL" altLang="en-NL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89" name="Rectangle 163">
            <a:extLst>
              <a:ext uri="{FF2B5EF4-FFF2-40B4-BE49-F238E27FC236}">
                <a16:creationId xmlns:a16="http://schemas.microsoft.com/office/drawing/2014/main" id="{ECFEBA9E-E569-FAB9-59F0-209A9FA18C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71663" y="4354513"/>
            <a:ext cx="112210" cy="1692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NL" altLang="en-NL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egoe UI Symbol" panose="020B0502040204020203" pitchFamily="34" charset="0"/>
              </a:rPr>
              <a:t>✔</a:t>
            </a:r>
            <a:endParaRPr kumimoji="0" lang="en-NL" altLang="en-NL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90" name="Rectangle 164">
            <a:extLst>
              <a:ext uri="{FF2B5EF4-FFF2-40B4-BE49-F238E27FC236}">
                <a16:creationId xmlns:a16="http://schemas.microsoft.com/office/drawing/2014/main" id="{2DAB58D4-E164-0AD7-D5E2-0881D2D8D9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89188" y="4354513"/>
            <a:ext cx="112210" cy="1692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NL" altLang="en-NL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egoe UI Symbol" panose="020B0502040204020203" pitchFamily="34" charset="0"/>
              </a:rPr>
              <a:t>✔</a:t>
            </a:r>
            <a:endParaRPr kumimoji="0" lang="en-NL" altLang="en-NL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91" name="Rectangle 165">
            <a:extLst>
              <a:ext uri="{FF2B5EF4-FFF2-40B4-BE49-F238E27FC236}">
                <a16:creationId xmlns:a16="http://schemas.microsoft.com/office/drawing/2014/main" id="{BF7A4F82-AD63-4D57-4BA2-CBB217182D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55913" y="4354513"/>
            <a:ext cx="112210" cy="1692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NL" altLang="en-NL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egoe UI Symbol" panose="020B0502040204020203" pitchFamily="34" charset="0"/>
              </a:rPr>
              <a:t>✔</a:t>
            </a:r>
            <a:endParaRPr kumimoji="0" lang="en-NL" altLang="en-NL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92" name="Rectangle 166">
            <a:extLst>
              <a:ext uri="{FF2B5EF4-FFF2-40B4-BE49-F238E27FC236}">
                <a16:creationId xmlns:a16="http://schemas.microsoft.com/office/drawing/2014/main" id="{21AC6506-A03B-6C12-D6F6-D46C0AD91E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19450" y="4354513"/>
            <a:ext cx="112210" cy="1692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NL" altLang="en-NL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egoe UI Symbol" panose="020B0502040204020203" pitchFamily="34" charset="0"/>
              </a:rPr>
              <a:t>✔</a:t>
            </a:r>
            <a:endParaRPr kumimoji="0" lang="en-NL" altLang="en-NL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93" name="Rectangle 167">
            <a:extLst>
              <a:ext uri="{FF2B5EF4-FFF2-40B4-BE49-F238E27FC236}">
                <a16:creationId xmlns:a16="http://schemas.microsoft.com/office/drawing/2014/main" id="{5816D5ED-58EF-2D84-2E58-C414B476AD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6950" y="4354513"/>
            <a:ext cx="112210" cy="1692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NL" altLang="en-NL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egoe UI Symbol" panose="020B0502040204020203" pitchFamily="34" charset="0"/>
              </a:rPr>
              <a:t>✔</a:t>
            </a:r>
            <a:endParaRPr kumimoji="0" lang="en-NL" altLang="en-NL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94" name="Rectangle 168">
            <a:extLst>
              <a:ext uri="{FF2B5EF4-FFF2-40B4-BE49-F238E27FC236}">
                <a16:creationId xmlns:a16="http://schemas.microsoft.com/office/drawing/2014/main" id="{403E81AC-F02D-9278-7E1A-87F266742C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67175" y="4354513"/>
            <a:ext cx="112210" cy="1692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NL" altLang="en-NL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egoe UI Symbol" panose="020B0502040204020203" pitchFamily="34" charset="0"/>
              </a:rPr>
              <a:t>✔</a:t>
            </a:r>
            <a:endParaRPr kumimoji="0" lang="en-NL" altLang="en-NL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95" name="Rectangle 169">
            <a:extLst>
              <a:ext uri="{FF2B5EF4-FFF2-40B4-BE49-F238E27FC236}">
                <a16:creationId xmlns:a16="http://schemas.microsoft.com/office/drawing/2014/main" id="{3BBEDA03-4926-334F-2D57-59BB63DA94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03975" y="4211638"/>
            <a:ext cx="112210" cy="1692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NL" altLang="en-NL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egoe UI Symbol" panose="020B0502040204020203" pitchFamily="34" charset="0"/>
              </a:rPr>
              <a:t>✔</a:t>
            </a:r>
            <a:endParaRPr kumimoji="0" lang="en-NL" altLang="en-NL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96" name="Rectangle 170">
            <a:extLst>
              <a:ext uri="{FF2B5EF4-FFF2-40B4-BE49-F238E27FC236}">
                <a16:creationId xmlns:a16="http://schemas.microsoft.com/office/drawing/2014/main" id="{32587C8A-6D6A-B2EA-3958-BA050CE448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18450" y="4354513"/>
            <a:ext cx="112210" cy="1692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NL" altLang="en-NL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egoe UI Symbol" panose="020B0502040204020203" pitchFamily="34" charset="0"/>
              </a:rPr>
              <a:t>✔</a:t>
            </a:r>
            <a:endParaRPr kumimoji="0" lang="en-NL" altLang="en-NL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97" name="Rectangle 171">
            <a:extLst>
              <a:ext uri="{FF2B5EF4-FFF2-40B4-BE49-F238E27FC236}">
                <a16:creationId xmlns:a16="http://schemas.microsoft.com/office/drawing/2014/main" id="{210B11E2-9877-735A-966C-34384E3391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2675" y="4538663"/>
            <a:ext cx="577850" cy="171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NL" altLang="en-NL" sz="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Activations</a:t>
            </a:r>
            <a:endParaRPr kumimoji="0" lang="en-NL" altLang="en-NL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98" name="Rectangle 172">
            <a:extLst>
              <a:ext uri="{FF2B5EF4-FFF2-40B4-BE49-F238E27FC236}">
                <a16:creationId xmlns:a16="http://schemas.microsoft.com/office/drawing/2014/main" id="{5A9DE82F-D1FB-5CBC-287D-98E0E77803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91375" y="4502151"/>
            <a:ext cx="112210" cy="1692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NL" altLang="en-NL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egoe UI Symbol" panose="020B0502040204020203" pitchFamily="34" charset="0"/>
              </a:rPr>
              <a:t>✔</a:t>
            </a:r>
            <a:endParaRPr kumimoji="0" lang="en-NL" altLang="en-NL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70801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7" grpId="0"/>
      <p:bldP spid="434" grpId="0"/>
      <p:bldP spid="435" grpId="0"/>
      <p:bldP spid="436" grpId="0"/>
      <p:bldP spid="437" grpId="0"/>
      <p:bldP spid="438" grpId="0"/>
      <p:bldP spid="439" grpId="0"/>
      <p:bldP spid="440" grpId="0"/>
      <p:bldP spid="442" grpId="0"/>
      <p:bldP spid="443" grpId="0"/>
      <p:bldP spid="444" grpId="0"/>
      <p:bldP spid="445" grpId="0"/>
      <p:bldP spid="446" grpId="0"/>
      <p:bldP spid="447" grpId="0"/>
      <p:bldP spid="448" grpId="0"/>
      <p:bldP spid="449" grpId="0"/>
      <p:bldP spid="450" grpId="0"/>
      <p:bldP spid="451" grpId="0"/>
      <p:bldP spid="452" grpId="0"/>
      <p:bldP spid="453" grpId="0"/>
      <p:bldP spid="454" grpId="0"/>
      <p:bldP spid="455" grpId="0"/>
      <p:bldP spid="456" grpId="0"/>
      <p:bldP spid="457" grpId="0"/>
      <p:bldP spid="458" grpId="0"/>
      <p:bldP spid="459" grpId="0"/>
      <p:bldP spid="460" grpId="0"/>
      <p:bldP spid="461" grpId="0"/>
      <p:bldP spid="466" grpId="0"/>
      <p:bldP spid="467" grpId="0"/>
      <p:bldP spid="468" grpId="0"/>
      <p:bldP spid="469" grpId="0"/>
      <p:bldP spid="470" grpId="0"/>
      <p:bldP spid="471" grpId="0"/>
      <p:bldP spid="473" grpId="0"/>
      <p:bldP spid="476" grpId="0"/>
      <p:bldP spid="477" grpId="0"/>
      <p:bldP spid="478" grpId="0"/>
      <p:bldP spid="479" grpId="0"/>
      <p:bldP spid="480" grpId="0"/>
      <p:bldP spid="481" grpId="0"/>
      <p:bldP spid="482" grpId="0"/>
      <p:bldP spid="484" grpId="0"/>
      <p:bldP spid="485" grpId="0"/>
      <p:bldP spid="489" grpId="0"/>
      <p:bldP spid="490" grpId="0"/>
      <p:bldP spid="491" grpId="0"/>
      <p:bldP spid="492" grpId="0"/>
      <p:bldP spid="493" grpId="0"/>
      <p:bldP spid="494" grpId="0"/>
      <p:bldP spid="495" grpId="0"/>
      <p:bldP spid="496" grpId="0"/>
      <p:bldP spid="498" grpId="0"/>
    </p:bldLst>
  </p:timing>
</p:sld>
</file>

<file path=ppt/theme/theme1.xml><?xml version="1.0" encoding="utf-8"?>
<a:theme xmlns:a="http://schemas.openxmlformats.org/drawingml/2006/main" name="Kantoorthema">
  <a:themeElements>
    <a:clrScheme name="TUe_PPT_V2">
      <a:dk1>
        <a:srgbClr val="000000"/>
      </a:dk1>
      <a:lt1>
        <a:srgbClr val="FFFFFF"/>
      </a:lt1>
      <a:dk2>
        <a:srgbClr val="C81919"/>
      </a:dk2>
      <a:lt2>
        <a:srgbClr val="101073"/>
      </a:lt2>
      <a:accent1>
        <a:srgbClr val="C81919"/>
      </a:accent1>
      <a:accent2>
        <a:srgbClr val="9E9EB1"/>
      </a:accent2>
      <a:accent3>
        <a:srgbClr val="0092B5"/>
      </a:accent3>
      <a:accent4>
        <a:srgbClr val="FF9A00"/>
      </a:accent4>
      <a:accent5>
        <a:srgbClr val="101073"/>
      </a:accent5>
      <a:accent6>
        <a:srgbClr val="CEDF00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Kantoorthema">
  <a:themeElements>
    <a:clrScheme name="Kantoor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4173</Words>
  <Application>Microsoft Office PowerPoint</Application>
  <PresentationFormat>On-screen Show (16:9)</PresentationFormat>
  <Paragraphs>1086</Paragraphs>
  <Slides>42</Slides>
  <Notes>41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9" baseType="lpstr">
      <vt:lpstr>Cambria Math</vt:lpstr>
      <vt:lpstr>Segoe UI Symbol</vt:lpstr>
      <vt:lpstr>Arimo</vt:lpstr>
      <vt:lpstr>Arial</vt:lpstr>
      <vt:lpstr>Times New Roman</vt:lpstr>
      <vt:lpstr>Calibri</vt:lpstr>
      <vt:lpstr>Kantoorthema</vt:lpstr>
      <vt:lpstr>Evaluation of Quantization Methods for Neural Networks</vt:lpstr>
      <vt:lpstr>Overview</vt:lpstr>
      <vt:lpstr>Machine Learning </vt:lpstr>
      <vt:lpstr>What are Neural Networks?</vt:lpstr>
      <vt:lpstr>NN Models Deployment </vt:lpstr>
      <vt:lpstr>Thesis Context</vt:lpstr>
      <vt:lpstr>Thesis Objectives</vt:lpstr>
      <vt:lpstr>Quantization</vt:lpstr>
      <vt:lpstr>Clipping Function</vt:lpstr>
      <vt:lpstr>Rounding Operation</vt:lpstr>
      <vt:lpstr>Quantization in Neural Network</vt:lpstr>
      <vt:lpstr>Types of Quantization (Based on How Quantization is Applied)</vt:lpstr>
      <vt:lpstr>Quantization Support in Frameworks</vt:lpstr>
      <vt:lpstr>Experimental Plan Summary</vt:lpstr>
      <vt:lpstr>Image Classification: Objectives </vt:lpstr>
      <vt:lpstr>Objective 1: 16-bit quantization using TensorFlow Lite</vt:lpstr>
      <vt:lpstr>Objective 2: 8-bit quantization using TensorFlow Lite</vt:lpstr>
      <vt:lpstr>Objective 3: 32,16 and 8-bit quantization using QKeras.</vt:lpstr>
      <vt:lpstr>Objective 4: 8,6 and 4-bit quantization using SQuant.</vt:lpstr>
      <vt:lpstr>Object Detection-Objective  </vt:lpstr>
      <vt:lpstr>Objective 5: 16 and 8-bit quantization using TensorFlow Lite</vt:lpstr>
      <vt:lpstr>Conclusion</vt:lpstr>
      <vt:lpstr>Recommendation for Quantization - 1</vt:lpstr>
      <vt:lpstr>Recommendation for Quantization - 2</vt:lpstr>
      <vt:lpstr>Future Work</vt:lpstr>
      <vt:lpstr>Thank you</vt:lpstr>
      <vt:lpstr>Slides for defense questions</vt:lpstr>
      <vt:lpstr>Quantization simulation</vt:lpstr>
      <vt:lpstr>Suspected Layers</vt:lpstr>
      <vt:lpstr>QAT</vt:lpstr>
      <vt:lpstr>PTQ</vt:lpstr>
      <vt:lpstr>Types of Quantization</vt:lpstr>
      <vt:lpstr>Examples quantization functions</vt:lpstr>
      <vt:lpstr>Clipping operations</vt:lpstr>
      <vt:lpstr>Quantization granularity</vt:lpstr>
      <vt:lpstr>Effect of quantization on NN</vt:lpstr>
      <vt:lpstr>Quantization of different NN layers</vt:lpstr>
      <vt:lpstr>SQuant</vt:lpstr>
      <vt:lpstr>NN models deployment</vt:lpstr>
      <vt:lpstr>Types of Quantization (Based on How Quantization is Applied)</vt:lpstr>
      <vt:lpstr>Recommendation for Quantization - 2</vt:lpstr>
      <vt:lpstr>Quantization Support in Frameworks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Evaluation of Quantization methods for Neural Networks deployment.</dc:title>
  <dc:creator>Ven, I.M.J. van de</dc:creator>
  <cp:lastModifiedBy>Mundichipparakkal, Junaid</cp:lastModifiedBy>
  <cp:revision>93</cp:revision>
  <dcterms:created xsi:type="dcterms:W3CDTF">2019-11-27T15:26:32Z</dcterms:created>
  <dcterms:modified xsi:type="dcterms:W3CDTF">2022-12-23T22:18:14Z</dcterms:modified>
</cp:coreProperties>
</file>